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wdp" ContentType="image/vnd.ms-photo"/>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8"/>
  </p:notesMasterIdLst>
  <p:sldIdLst>
    <p:sldId id="283" r:id="rId2"/>
    <p:sldId id="284" r:id="rId3"/>
    <p:sldId id="256" r:id="rId4"/>
    <p:sldId id="294" r:id="rId5"/>
    <p:sldId id="295" r:id="rId6"/>
    <p:sldId id="296" r:id="rId7"/>
    <p:sldId id="297" r:id="rId8"/>
    <p:sldId id="298" r:id="rId9"/>
    <p:sldId id="299" r:id="rId10"/>
    <p:sldId id="300"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92" r:id="rId31"/>
    <p:sldId id="277" r:id="rId32"/>
    <p:sldId id="278" r:id="rId33"/>
    <p:sldId id="279" r:id="rId34"/>
    <p:sldId id="293" r:id="rId35"/>
    <p:sldId id="281" r:id="rId36"/>
    <p:sldId id="282" r:id="rId3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0F012978-4B0F-1F32-2904-B6435E0EE497}">
          <p14:sldIdLst>
            <p14:sldId id="283"/>
            <p14:sldId id="284"/>
            <p14:sldId id="256"/>
            <p14:sldId id="294"/>
            <p14:sldId id="295"/>
            <p14:sldId id="296"/>
            <p14:sldId id="297"/>
            <p14:sldId id="298"/>
            <p14:sldId id="299"/>
            <p14:sldId id="300"/>
          </p14:sldIdLst>
        </p14:section>
        <p14:section name="Resumen e introducción" id="{2C9DDE80-BB2D-55F3-D116-EFCA4B5F75A0}">
          <p14:sldIdLst>
            <p14:sldId id="257"/>
            <p14:sldId id="258"/>
          </p14:sldIdLst>
        </p14:section>
        <p14:section name="Metodología" id="{0D76A3DC-B458-CADF-F271-2574F1A731CD}">
          <p14:sldIdLst>
            <p14:sldId id="259"/>
            <p14:sldId id="260"/>
          </p14:sldIdLst>
        </p14:section>
        <p14:section name="Resultados" id="{5756319F-F9AC-5B3A-2700-BD89148067A1}">
          <p14:sldIdLst>
            <p14:sldId id="261"/>
            <p14:sldId id="262"/>
            <p14:sldId id="263"/>
            <p14:sldId id="264"/>
            <p14:sldId id="265"/>
            <p14:sldId id="266"/>
            <p14:sldId id="267"/>
            <p14:sldId id="268"/>
            <p14:sldId id="269"/>
            <p14:sldId id="270"/>
            <p14:sldId id="271"/>
            <p14:sldId id="272"/>
            <p14:sldId id="273"/>
          </p14:sldIdLst>
        </p14:section>
        <p14:section name="Resultados inferenciales" id="{5AB08013-4F28-F432-F4DA-97647691B5EB}">
          <p14:sldIdLst>
            <p14:sldId id="274"/>
            <p14:sldId id="275"/>
            <p14:sldId id="292"/>
            <p14:sldId id="277"/>
            <p14:sldId id="278"/>
            <p14:sldId id="279"/>
            <p14:sldId id="293"/>
          </p14:sldIdLst>
        </p14:section>
        <p14:section name="Discusión y conclusiones" id="{DE6EE979-A7F8-B5A8-9090-94AF7C8DEBDF}">
          <p14:sldIdLst>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131" d="100"/>
          <a:sy n="131" d="100"/>
        </p:scale>
        <p:origin x="77"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299534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356084551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80375558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0A0F14"/>
        </a:solidFill>
        <a:effectLst/>
      </p:bgPr>
    </p:bg>
    <p:spTree>
      <p:nvGrpSpPr>
        <p:cNvPr id="1" name=""/>
        <p:cNvGrpSpPr/>
        <p:nvPr/>
      </p:nvGrpSpPr>
      <p:grpSpPr>
        <a:xfrm>
          <a:off x="0" y="0"/>
          <a:ext cx="0" cy="0"/>
          <a:chOff x="0" y="0"/>
          <a:chExt cx="0" cy="0"/>
        </a:xfrm>
      </p:grpSpPr>
      <p:sp>
        <p:nvSpPr>
          <p:cNvPr id="2" name="Shape 0"/>
          <p:cNvSpPr/>
          <p:nvPr/>
        </p:nvSpPr>
        <p:spPr>
          <a:xfrm>
            <a:off x="228600" y="228600"/>
            <a:ext cx="274320" cy="0"/>
          </a:xfrm>
          <a:prstGeom prst="line">
            <a:avLst/>
          </a:prstGeom>
          <a:noFill/>
          <a:ln w="19050">
            <a:solidFill>
              <a:srgbClr val="22D3EE"/>
            </a:solidFill>
            <a:prstDash val="solid"/>
          </a:ln>
        </p:spPr>
      </p:sp>
      <p:sp>
        <p:nvSpPr>
          <p:cNvPr id="3" name="Shape 1"/>
          <p:cNvSpPr/>
          <p:nvPr/>
        </p:nvSpPr>
        <p:spPr>
          <a:xfrm>
            <a:off x="228600" y="228600"/>
            <a:ext cx="0" cy="274320"/>
          </a:xfrm>
          <a:prstGeom prst="line">
            <a:avLst/>
          </a:prstGeom>
          <a:noFill/>
          <a:ln w="19050">
            <a:solidFill>
              <a:srgbClr val="22D3EE"/>
            </a:solidFill>
            <a:prstDash val="solid"/>
          </a:ln>
        </p:spPr>
      </p:sp>
      <p:sp>
        <p:nvSpPr>
          <p:cNvPr id="4" name="Shape 2"/>
          <p:cNvSpPr/>
          <p:nvPr/>
        </p:nvSpPr>
        <p:spPr>
          <a:xfrm>
            <a:off x="8641080" y="228600"/>
            <a:ext cx="274320" cy="0"/>
          </a:xfrm>
          <a:prstGeom prst="line">
            <a:avLst/>
          </a:prstGeom>
          <a:noFill/>
          <a:ln w="19050">
            <a:solidFill>
              <a:srgbClr val="22D3EE"/>
            </a:solidFill>
            <a:prstDash val="solid"/>
          </a:ln>
        </p:spPr>
      </p:sp>
      <p:sp>
        <p:nvSpPr>
          <p:cNvPr id="5" name="Shape 3"/>
          <p:cNvSpPr/>
          <p:nvPr/>
        </p:nvSpPr>
        <p:spPr>
          <a:xfrm>
            <a:off x="8915400" y="228600"/>
            <a:ext cx="0" cy="274320"/>
          </a:xfrm>
          <a:prstGeom prst="line">
            <a:avLst/>
          </a:prstGeom>
          <a:noFill/>
          <a:ln w="19050">
            <a:solidFill>
              <a:srgbClr val="22D3EE"/>
            </a:solidFill>
            <a:prstDash val="solid"/>
          </a:ln>
        </p:spPr>
      </p:sp>
      <p:sp>
        <p:nvSpPr>
          <p:cNvPr id="6" name="Shape 4"/>
          <p:cNvSpPr/>
          <p:nvPr/>
        </p:nvSpPr>
        <p:spPr>
          <a:xfrm>
            <a:off x="228600" y="4914900"/>
            <a:ext cx="274320" cy="0"/>
          </a:xfrm>
          <a:prstGeom prst="line">
            <a:avLst/>
          </a:prstGeom>
          <a:noFill/>
          <a:ln w="19050">
            <a:solidFill>
              <a:srgbClr val="22D3EE"/>
            </a:solidFill>
            <a:prstDash val="solid"/>
          </a:ln>
        </p:spPr>
      </p:sp>
      <p:sp>
        <p:nvSpPr>
          <p:cNvPr id="7" name="Shape 5"/>
          <p:cNvSpPr/>
          <p:nvPr/>
        </p:nvSpPr>
        <p:spPr>
          <a:xfrm>
            <a:off x="228600" y="4640580"/>
            <a:ext cx="0" cy="274320"/>
          </a:xfrm>
          <a:prstGeom prst="line">
            <a:avLst/>
          </a:prstGeom>
          <a:noFill/>
          <a:ln w="19050">
            <a:solidFill>
              <a:srgbClr val="22D3EE"/>
            </a:solidFill>
            <a:prstDash val="solid"/>
          </a:ln>
        </p:spPr>
      </p:sp>
      <p:sp>
        <p:nvSpPr>
          <p:cNvPr id="8" name="Shape 6"/>
          <p:cNvSpPr/>
          <p:nvPr/>
        </p:nvSpPr>
        <p:spPr>
          <a:xfrm>
            <a:off x="8641080" y="4914900"/>
            <a:ext cx="274320" cy="0"/>
          </a:xfrm>
          <a:prstGeom prst="line">
            <a:avLst/>
          </a:prstGeom>
          <a:noFill/>
          <a:ln w="19050">
            <a:solidFill>
              <a:srgbClr val="22D3EE"/>
            </a:solidFill>
            <a:prstDash val="solid"/>
          </a:ln>
        </p:spPr>
      </p:sp>
      <p:sp>
        <p:nvSpPr>
          <p:cNvPr id="9" name="Shape 7"/>
          <p:cNvSpPr/>
          <p:nvPr/>
        </p:nvSpPr>
        <p:spPr>
          <a:xfrm>
            <a:off x="8915400" y="4640580"/>
            <a:ext cx="0" cy="274320"/>
          </a:xfrm>
          <a:prstGeom prst="line">
            <a:avLst/>
          </a:prstGeom>
          <a:noFill/>
          <a:ln w="19050">
            <a:solidFill>
              <a:srgbClr val="22D3EE"/>
            </a:solidFill>
            <a:prstDash val="solid"/>
          </a:ln>
        </p:spPr>
      </p:sp>
      <p:sp>
        <p:nvSpPr>
          <p:cNvPr id="10" name="Text 8"/>
          <p:cNvSpPr>
            <a:spLocks noGrp="1"/>
          </p:cNvSpPr>
          <p:nvPr>
            <p:ph type="title" idx="108" hasCustomPrompt="1"/>
          </p:nvPr>
        </p:nvSpPr>
        <p:spPr>
          <a:xfrm>
            <a:off x="640080" y="1005840"/>
            <a:ext cx="4297680" cy="1920240"/>
          </a:xfrm>
          <a:prstGeom prst="rect">
            <a:avLst/>
          </a:prstGeom>
          <a:noFill/>
          <a:ln/>
        </p:spPr>
        <p:txBody>
          <a:bodyPr wrap="square" rtlCol="0"/>
          <a:lstStyle>
            <a:lvl1pPr marL="0" indent="0" algn="l">
              <a:buNone/>
              <a:defRPr lang="en-US" sz="2800" b="1" dirty="0">
                <a:solidFill>
                  <a:srgbClr val="F8FAFC"/>
                </a:solidFill>
              </a:defRPr>
            </a:lvl1pPr>
          </a:lstStyle>
          <a:p>
            <a:pPr marL="0" indent="0" algn="l">
              <a:buNone/>
            </a:pPr>
            <a:endParaRPr lang="en-US" sz="2800" dirty="0"/>
          </a:p>
        </p:txBody>
      </p:sp>
      <p:sp>
        <p:nvSpPr>
          <p:cNvPr id="11" name="Text 8"/>
          <p:cNvSpPr>
            <a:spLocks noGrp="1"/>
          </p:cNvSpPr>
          <p:nvPr>
            <p:ph type="body" idx="109" hasCustomPrompt="1"/>
          </p:nvPr>
        </p:nvSpPr>
        <p:spPr>
          <a:xfrm>
            <a:off x="640080" y="3063240"/>
            <a:ext cx="4297680" cy="1097280"/>
          </a:xfrm>
          <a:prstGeom prst="rect">
            <a:avLst/>
          </a:prstGeom>
          <a:noFill/>
          <a:ln/>
        </p:spPr>
        <p:txBody>
          <a:bodyPr wrap="square" rtlCol="0"/>
          <a:lstStyle>
            <a:lvl1pPr marL="0" indent="0" algn="l">
              <a:buNone/>
              <a:defRPr lang="en-US" sz="1400" dirty="0">
                <a:solidFill>
                  <a:srgbClr val="CBD5E1"/>
                </a:solidFill>
              </a:defRPr>
            </a:lvl1pPr>
          </a:lstStyle>
          <a:p>
            <a:pPr marL="0" indent="0" algn="l">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rgbClr val="0A0F14"/>
        </a:solidFill>
        <a:effectLst/>
      </p:bgPr>
    </p:bg>
    <p:spTree>
      <p:nvGrpSpPr>
        <p:cNvPr id="1" name=""/>
        <p:cNvGrpSpPr/>
        <p:nvPr/>
      </p:nvGrpSpPr>
      <p:grpSpPr>
        <a:xfrm>
          <a:off x="0" y="0"/>
          <a:ext cx="0" cy="0"/>
          <a:chOff x="0" y="0"/>
          <a:chExt cx="0" cy="0"/>
        </a:xfrm>
      </p:grpSpPr>
      <p:sp>
        <p:nvSpPr>
          <p:cNvPr id="2" name="Shape 0"/>
          <p:cNvSpPr/>
          <p:nvPr/>
        </p:nvSpPr>
        <p:spPr>
          <a:xfrm>
            <a:off x="228600" y="228600"/>
            <a:ext cx="274320" cy="0"/>
          </a:xfrm>
          <a:prstGeom prst="line">
            <a:avLst/>
          </a:prstGeom>
          <a:noFill/>
          <a:ln w="19050">
            <a:solidFill>
              <a:srgbClr val="22D3EE"/>
            </a:solidFill>
            <a:prstDash val="solid"/>
          </a:ln>
        </p:spPr>
      </p:sp>
      <p:sp>
        <p:nvSpPr>
          <p:cNvPr id="3" name="Shape 1"/>
          <p:cNvSpPr/>
          <p:nvPr/>
        </p:nvSpPr>
        <p:spPr>
          <a:xfrm>
            <a:off x="228600" y="228600"/>
            <a:ext cx="0" cy="274320"/>
          </a:xfrm>
          <a:prstGeom prst="line">
            <a:avLst/>
          </a:prstGeom>
          <a:noFill/>
          <a:ln w="19050">
            <a:solidFill>
              <a:srgbClr val="22D3EE"/>
            </a:solidFill>
            <a:prstDash val="solid"/>
          </a:ln>
        </p:spPr>
      </p:sp>
      <p:sp>
        <p:nvSpPr>
          <p:cNvPr id="4" name="Shape 2"/>
          <p:cNvSpPr/>
          <p:nvPr/>
        </p:nvSpPr>
        <p:spPr>
          <a:xfrm>
            <a:off x="8641080" y="228600"/>
            <a:ext cx="274320" cy="0"/>
          </a:xfrm>
          <a:prstGeom prst="line">
            <a:avLst/>
          </a:prstGeom>
          <a:noFill/>
          <a:ln w="19050">
            <a:solidFill>
              <a:srgbClr val="22D3EE"/>
            </a:solidFill>
            <a:prstDash val="solid"/>
          </a:ln>
        </p:spPr>
      </p:sp>
      <p:sp>
        <p:nvSpPr>
          <p:cNvPr id="5" name="Shape 3"/>
          <p:cNvSpPr/>
          <p:nvPr/>
        </p:nvSpPr>
        <p:spPr>
          <a:xfrm>
            <a:off x="8915400" y="228600"/>
            <a:ext cx="0" cy="274320"/>
          </a:xfrm>
          <a:prstGeom prst="line">
            <a:avLst/>
          </a:prstGeom>
          <a:noFill/>
          <a:ln w="19050">
            <a:solidFill>
              <a:srgbClr val="22D3EE"/>
            </a:solidFill>
            <a:prstDash val="solid"/>
          </a:ln>
        </p:spPr>
      </p:sp>
      <p:sp>
        <p:nvSpPr>
          <p:cNvPr id="6" name="Shape 4"/>
          <p:cNvSpPr/>
          <p:nvPr/>
        </p:nvSpPr>
        <p:spPr>
          <a:xfrm>
            <a:off x="228600" y="4914900"/>
            <a:ext cx="274320" cy="0"/>
          </a:xfrm>
          <a:prstGeom prst="line">
            <a:avLst/>
          </a:prstGeom>
          <a:noFill/>
          <a:ln w="19050">
            <a:solidFill>
              <a:srgbClr val="22D3EE"/>
            </a:solidFill>
            <a:prstDash val="solid"/>
          </a:ln>
        </p:spPr>
      </p:sp>
      <p:sp>
        <p:nvSpPr>
          <p:cNvPr id="7" name="Shape 5"/>
          <p:cNvSpPr/>
          <p:nvPr/>
        </p:nvSpPr>
        <p:spPr>
          <a:xfrm>
            <a:off x="228600" y="4640580"/>
            <a:ext cx="0" cy="274320"/>
          </a:xfrm>
          <a:prstGeom prst="line">
            <a:avLst/>
          </a:prstGeom>
          <a:noFill/>
          <a:ln w="19050">
            <a:solidFill>
              <a:srgbClr val="22D3EE"/>
            </a:solidFill>
            <a:prstDash val="solid"/>
          </a:ln>
        </p:spPr>
      </p:sp>
      <p:sp>
        <p:nvSpPr>
          <p:cNvPr id="8" name="Shape 6"/>
          <p:cNvSpPr/>
          <p:nvPr/>
        </p:nvSpPr>
        <p:spPr>
          <a:xfrm>
            <a:off x="8641080" y="4914900"/>
            <a:ext cx="274320" cy="0"/>
          </a:xfrm>
          <a:prstGeom prst="line">
            <a:avLst/>
          </a:prstGeom>
          <a:noFill/>
          <a:ln w="19050">
            <a:solidFill>
              <a:srgbClr val="22D3EE"/>
            </a:solidFill>
            <a:prstDash val="solid"/>
          </a:ln>
        </p:spPr>
      </p:sp>
      <p:sp>
        <p:nvSpPr>
          <p:cNvPr id="9" name="Shape 7"/>
          <p:cNvSpPr/>
          <p:nvPr/>
        </p:nvSpPr>
        <p:spPr>
          <a:xfrm>
            <a:off x="8915400" y="4640580"/>
            <a:ext cx="0" cy="274320"/>
          </a:xfrm>
          <a:prstGeom prst="line">
            <a:avLst/>
          </a:prstGeom>
          <a:noFill/>
          <a:ln w="19050">
            <a:solidFill>
              <a:srgbClr val="22D3EE"/>
            </a:solidFill>
            <a:prstDash val="solid"/>
          </a:ln>
        </p:spPr>
      </p:sp>
      <p:sp>
        <p:nvSpPr>
          <p:cNvPr id="10" name="Text 8"/>
          <p:cNvSpPr/>
          <p:nvPr/>
        </p:nvSpPr>
        <p:spPr>
          <a:xfrm>
            <a:off x="457200" y="4727448"/>
            <a:ext cx="4572000" cy="228600"/>
          </a:xfrm>
          <a:prstGeom prst="rect">
            <a:avLst/>
          </a:prstGeom>
          <a:noFill/>
          <a:ln/>
        </p:spPr>
        <p:txBody>
          <a:bodyPr wrap="square" lIns="0" tIns="0" rIns="0" bIns="0" rtlCol="0" anchor="ctr"/>
          <a:lstStyle/>
          <a:p>
            <a:pPr marL="0" indent="0">
              <a:buNone/>
            </a:pPr>
            <a:r>
              <a:rPr lang="en-US" sz="900" dirty="0">
                <a:solidFill>
                  <a:srgbClr val="7C8BA1"/>
                </a:solidFill>
                <a:latin typeface="Consolas" pitchFamily="34" charset="0"/>
                <a:ea typeface="Consolas" pitchFamily="34" charset="-122"/>
                <a:cs typeface="Consolas" pitchFamily="34" charset="-120"/>
              </a:rPr>
              <a:t>INFORME · LLAMA 3.2 3B + OLLAMA</a:t>
            </a:r>
            <a:endParaRPr lang="en-US" sz="900" dirty="0"/>
          </a:p>
        </p:txBody>
      </p:sp>
      <p:sp>
        <p:nvSpPr>
          <p:cNvPr id="11" name="Text 9"/>
          <p:cNvSpPr>
            <a:spLocks noGrp="1"/>
          </p:cNvSpPr>
          <p:nvPr>
            <p:ph type="title" idx="109" hasCustomPrompt="1"/>
          </p:nvPr>
        </p:nvSpPr>
        <p:spPr>
          <a:xfrm>
            <a:off x="457200" y="320040"/>
            <a:ext cx="7040880" cy="685800"/>
          </a:xfrm>
          <a:prstGeom prst="rect">
            <a:avLst/>
          </a:prstGeom>
          <a:noFill/>
          <a:ln/>
        </p:spPr>
        <p:txBody>
          <a:bodyPr wrap="square" rtlCol="0"/>
          <a:lstStyle>
            <a:lvl1pPr marL="0" indent="0" algn="l">
              <a:buNone/>
              <a:defRPr lang="en-US" sz="2400" b="1" dirty="0">
                <a:solidFill>
                  <a:srgbClr val="F8FAFC"/>
                </a:solidFill>
              </a:defRPr>
            </a:lvl1pPr>
          </a:lstStyle>
          <a:p>
            <a:pPr marL="0" indent="0" algn="l">
              <a:buNone/>
            </a:pPr>
            <a:endParaRPr lang="en-US" sz="2400" dirty="0"/>
          </a:p>
        </p:txBody>
      </p:sp>
      <p:sp>
        <p:nvSpPr>
          <p:cNvPr id="25" name="Slide Number Placeholder 0"/>
          <p:cNvSpPr>
            <a:spLocks noGrp="1"/>
          </p:cNvSpPr>
          <p:nvPr>
            <p:ph type="sldNum" sz="quarter" idx="4294967295"/>
          </p:nvPr>
        </p:nvSpPr>
        <p:spPr>
          <a:xfrm>
            <a:off x="8229600" y="4727448"/>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7C8BA1"/>
                </a:solidFill>
                <a:latin typeface="Consolas"/>
                <a:ea typeface="Consolas"/>
                <a:cs typeface="Consolas"/>
              </a:defRPr>
            </a:lvl1pPr>
          </a:lstStyle>
          <a:p>
            <a:pPr algn="r"/>
            <a:fld id="{F7021451-1387-4CA6-816F-3879F97B5CBC}" type="slidenum">
              <a:rPr lang="en-US" b="0"/>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27448"/>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7C8BA1"/>
                </a:solidFill>
                <a:latin typeface="Consolas"/>
                <a:ea typeface="Consolas"/>
                <a:cs typeface="Consolas"/>
              </a:defRPr>
            </a:lvl1pPr>
          </a:lstStyle>
          <a:p>
            <a:pPr algn="r"/>
            <a:fld id="{F7021451-1387-4CA6-816F-3879F97B5CBC}" type="slidenum">
              <a:rPr lang="en-US" b="0"/>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2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4" name="Imagen 3"/>
          <p:cNvPicPr>
            <a:picLocks noChangeAspect="1"/>
          </p:cNvPicPr>
          <p:nvPr/>
        </p:nvPicPr>
        <p:blipFill rotWithShape="1">
          <a:blip r:embed="rId2">
            <a:extLst>
              <a:ext uri="{BEBA8EAE-BF5A-486C-A8C5-ECC9F3942E4B}">
                <a14:imgProps xmlns:a14="http://schemas.microsoft.com/office/drawing/2010/main">
                  <a14:imgLayer r:embed="rId3">
                    <a14:imgEffect>
                      <a14:sharpenSoften amount="100000"/>
                    </a14:imgEffect>
                  </a14:imgLayer>
                </a14:imgProps>
              </a:ext>
              <a:ext uri="{28A0092B-C50C-407E-A947-70E740481C1C}">
                <a14:useLocalDpi xmlns:a14="http://schemas.microsoft.com/office/drawing/2010/main" val="0"/>
              </a:ext>
            </a:extLst>
          </a:blip>
          <a:srcRect r="15316"/>
          <a:stretch/>
        </p:blipFill>
        <p:spPr>
          <a:xfrm>
            <a:off x="0" y="-71283"/>
            <a:ext cx="9457656" cy="6095544"/>
          </a:xfrm>
          <a:prstGeom prst="rect">
            <a:avLst/>
          </a:prstGeom>
        </p:spPr>
      </p:pic>
      <p:sp>
        <p:nvSpPr>
          <p:cNvPr id="5" name="Rectángulo 4"/>
          <p:cNvSpPr/>
          <p:nvPr/>
        </p:nvSpPr>
        <p:spPr>
          <a:xfrm>
            <a:off x="0" y="-51756"/>
            <a:ext cx="4754880" cy="3660781"/>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 name="Título 1"/>
          <p:cNvSpPr>
            <a:spLocks noGrp="1"/>
          </p:cNvSpPr>
          <p:nvPr>
            <p:ph type="title" idx="108"/>
          </p:nvPr>
        </p:nvSpPr>
        <p:spPr>
          <a:xfrm>
            <a:off x="154039" y="2133905"/>
            <a:ext cx="6382043" cy="752622"/>
          </a:xfrm>
        </p:spPr>
        <p:txBody>
          <a:bodyPr/>
          <a:lstStyle/>
          <a:p>
            <a:r>
              <a:rPr lang="es-ES" i="1" dirty="0">
                <a:solidFill>
                  <a:schemeClr val="tx1"/>
                </a:solidFill>
                <a:latin typeface="Plus Jakarta Sans"/>
              </a:rPr>
              <a:t>“Los datos son el </a:t>
            </a:r>
            <a:r>
              <a:rPr lang="es-ES" i="1" dirty="0" smtClean="0">
                <a:solidFill>
                  <a:schemeClr val="tx1"/>
                </a:solidFill>
                <a:latin typeface="Plus Jakarta Sans"/>
              </a:rPr>
              <a:t>nuevo petróleo.”</a:t>
            </a:r>
            <a:endParaRPr lang="es-ES" dirty="0">
              <a:solidFill>
                <a:schemeClr val="tx1"/>
              </a:solidFill>
            </a:endParaRPr>
          </a:p>
        </p:txBody>
      </p:sp>
    </p:spTree>
    <p:extLst>
      <p:ext uri="{BB962C8B-B14F-4D97-AF65-F5344CB8AC3E}">
        <p14:creationId xmlns:p14="http://schemas.microsoft.com/office/powerpoint/2010/main" val="3959968471"/>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idx="108"/>
          </p:nvPr>
        </p:nvSpPr>
        <p:spPr/>
        <p:txBody>
          <a:bodyPr/>
          <a:lstStyle/>
          <a:p>
            <a:endParaRPr lang="es-ES"/>
          </a:p>
        </p:txBody>
      </p:sp>
      <p:sp>
        <p:nvSpPr>
          <p:cNvPr id="3" name="Marcador de texto 2"/>
          <p:cNvSpPr>
            <a:spLocks noGrp="1"/>
          </p:cNvSpPr>
          <p:nvPr>
            <p:ph type="body" idx="109"/>
          </p:nvPr>
        </p:nvSpPr>
        <p:spPr/>
        <p:txBody>
          <a:bodyPr/>
          <a:lstStyle/>
          <a:p>
            <a:endParaRPr lang="es-ES"/>
          </a:p>
        </p:txBody>
      </p:sp>
    </p:spTree>
    <p:extLst>
      <p:ext uri="{BB962C8B-B14F-4D97-AF65-F5344CB8AC3E}">
        <p14:creationId xmlns:p14="http://schemas.microsoft.com/office/powerpoint/2010/main" val="4040523996"/>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8"/>
          <p:cNvSpPr>
            <a:spLocks noGrp="1"/>
          </p:cNvSpPr>
          <p:nvPr>
            <p:ph type="title" idx="108" hasCustomPrompt="1"/>
          </p:nvPr>
        </p:nvSpPr>
        <p:spPr>
          <a:xfrm>
            <a:off x="640080" y="1005840"/>
            <a:ext cx="4297680" cy="1920240"/>
          </a:xfrm>
          <a:prstGeom prst="rect">
            <a:avLst/>
          </a:prstGeom>
          <a:noFill/>
          <a:ln/>
        </p:spPr>
        <p:txBody>
          <a:bodyPr wrap="square" lIns="0" tIns="0" rIns="0" bIns="0" rtlCol="0" anchor="b"/>
          <a:lstStyle/>
          <a:p>
            <a:pPr>
              <a:lnSpc>
                <a:spcPts val="4140"/>
              </a:lnSpc>
            </a:pPr>
            <a:r>
              <a:rPr lang="es-ES" dirty="0">
                <a:solidFill>
                  <a:srgbClr val="FFFFFF"/>
                </a:solidFill>
                <a:latin typeface="Plus Jakarta Sans"/>
              </a:rPr>
              <a:t>Procesamiento Local de Informes Médicos con Llama 3.2 3B</a:t>
            </a:r>
            <a:endParaRPr lang="es-ES" dirty="0">
              <a:solidFill>
                <a:srgbClr val="FFFFFF"/>
              </a:solidFill>
              <a:latin typeface="Plus Jakarta Sans"/>
            </a:endParaRPr>
          </a:p>
        </p:txBody>
      </p:sp>
      <p:sp>
        <p:nvSpPr>
          <p:cNvPr id="3" name="Text 8"/>
          <p:cNvSpPr>
            <a:spLocks noGrp="1"/>
          </p:cNvSpPr>
          <p:nvPr>
            <p:ph type="body" idx="109" hasCustomPrompt="1"/>
          </p:nvPr>
        </p:nvSpPr>
        <p:spPr>
          <a:xfrm>
            <a:off x="640080" y="3063240"/>
            <a:ext cx="4297680" cy="1097280"/>
          </a:xfrm>
          <a:prstGeom prst="rect">
            <a:avLst/>
          </a:prstGeom>
          <a:noFill/>
          <a:ln/>
        </p:spPr>
        <p:txBody>
          <a:bodyPr wrap="square" lIns="0" tIns="0" rIns="0" bIns="0" rtlCol="0" anchor="t"/>
          <a:lstStyle/>
          <a:p>
            <a:pPr marL="0" indent="0" algn="l">
              <a:buNone/>
            </a:pPr>
            <a:r>
              <a:rPr lang="en-US" sz="1400" dirty="0">
                <a:solidFill>
                  <a:srgbClr val="CBD5E1"/>
                </a:solidFill>
              </a:rPr>
              <a:t>Extracción, estructuración y análisis de informes radiológicos de la plataforma DiconLine</a:t>
            </a:r>
            <a:endParaRPr lang="en-US" sz="1400" dirty="0"/>
          </a:p>
        </p:txBody>
      </p:sp>
      <p:sp>
        <p:nvSpPr>
          <p:cNvPr id="4" name="Campo de visión"/>
          <p:cNvSpPr/>
          <p:nvPr/>
        </p:nvSpPr>
        <p:spPr>
          <a:xfrm>
            <a:off x="5257800" y="731520"/>
            <a:ext cx="3657600" cy="3657600"/>
          </a:xfrm>
          <a:prstGeom prst="ellipse">
            <a:avLst/>
          </a:prstGeom>
          <a:solidFill>
            <a:srgbClr val="151E27"/>
          </a:solidFill>
          <a:ln w="25400">
            <a:solidFill>
              <a:srgbClr val="475569"/>
            </a:solidFill>
            <a:prstDash val="solid"/>
          </a:ln>
        </p:spPr>
      </p:sp>
      <p:sp>
        <p:nvSpPr>
          <p:cNvPr id="5" name="Torso"/>
          <p:cNvSpPr/>
          <p:nvPr/>
        </p:nvSpPr>
        <p:spPr>
          <a:xfrm>
            <a:off x="5623560" y="1417320"/>
            <a:ext cx="2926080" cy="2286000"/>
          </a:xfrm>
          <a:prstGeom prst="ellipse">
            <a:avLst/>
          </a:prstGeom>
          <a:solidFill>
            <a:srgbClr val="3B4654"/>
          </a:solidFill>
          <a:ln w="12700">
            <a:solidFill>
              <a:srgbClr val="3B4654"/>
            </a:solidFill>
            <a:prstDash val="solid"/>
          </a:ln>
        </p:spPr>
      </p:sp>
      <p:sp>
        <p:nvSpPr>
          <p:cNvPr id="6" name="Pulmón izquierdo"/>
          <p:cNvSpPr/>
          <p:nvPr/>
        </p:nvSpPr>
        <p:spPr>
          <a:xfrm>
            <a:off x="5943600" y="1691640"/>
            <a:ext cx="1051560" cy="1463040"/>
          </a:xfrm>
          <a:prstGeom prst="ellipse">
            <a:avLst/>
          </a:prstGeom>
          <a:solidFill>
            <a:srgbClr val="0B1218"/>
          </a:solidFill>
          <a:ln w="12700">
            <a:solidFill>
              <a:srgbClr val="0B1218"/>
            </a:solidFill>
            <a:prstDash val="solid"/>
          </a:ln>
        </p:spPr>
      </p:sp>
      <p:sp>
        <p:nvSpPr>
          <p:cNvPr id="7" name="Pulmón derecho"/>
          <p:cNvSpPr/>
          <p:nvPr/>
        </p:nvSpPr>
        <p:spPr>
          <a:xfrm>
            <a:off x="7178040" y="1691640"/>
            <a:ext cx="1051560" cy="1463040"/>
          </a:xfrm>
          <a:prstGeom prst="ellipse">
            <a:avLst/>
          </a:prstGeom>
          <a:solidFill>
            <a:srgbClr val="0B1218"/>
          </a:solidFill>
          <a:ln w="12700">
            <a:solidFill>
              <a:srgbClr val="0B1218"/>
            </a:solidFill>
            <a:prstDash val="solid"/>
          </a:ln>
        </p:spPr>
      </p:sp>
      <p:sp>
        <p:nvSpPr>
          <p:cNvPr id="8" name="Corazón"/>
          <p:cNvSpPr/>
          <p:nvPr/>
        </p:nvSpPr>
        <p:spPr>
          <a:xfrm>
            <a:off x="6675120" y="2240280"/>
            <a:ext cx="822960" cy="777240"/>
          </a:xfrm>
          <a:prstGeom prst="ellipse">
            <a:avLst/>
          </a:prstGeom>
          <a:solidFill>
            <a:srgbClr val="7B8794"/>
          </a:solidFill>
          <a:ln w="12700">
            <a:solidFill>
              <a:srgbClr val="7B8794"/>
            </a:solidFill>
            <a:prstDash val="solid"/>
          </a:ln>
        </p:spPr>
      </p:sp>
      <p:sp>
        <p:nvSpPr>
          <p:cNvPr id="9" name="Columna"/>
          <p:cNvSpPr/>
          <p:nvPr/>
        </p:nvSpPr>
        <p:spPr>
          <a:xfrm>
            <a:off x="6903720" y="3246120"/>
            <a:ext cx="365760" cy="365760"/>
          </a:xfrm>
          <a:prstGeom prst="ellipse">
            <a:avLst/>
          </a:prstGeom>
          <a:solidFill>
            <a:srgbClr val="D1D5DB"/>
          </a:solidFill>
          <a:ln w="12700">
            <a:solidFill>
              <a:srgbClr val="D1D5DB"/>
            </a:solidFill>
            <a:prstDash val="solid"/>
          </a:ln>
        </p:spPr>
      </p:sp>
      <p:sp>
        <p:nvSpPr>
          <p:cNvPr id="10" name="Cruz horizontal"/>
          <p:cNvSpPr/>
          <p:nvPr/>
        </p:nvSpPr>
        <p:spPr>
          <a:xfrm>
            <a:off x="5257800" y="2560320"/>
            <a:ext cx="3657600" cy="0"/>
          </a:xfrm>
          <a:prstGeom prst="line">
            <a:avLst/>
          </a:prstGeom>
          <a:noFill/>
          <a:ln w="12700">
            <a:solidFill>
              <a:srgbClr val="22D3EE">
                <a:alpha val="55000"/>
              </a:srgbClr>
            </a:solidFill>
            <a:prstDash val="solid"/>
          </a:ln>
        </p:spPr>
      </p:sp>
      <p:sp>
        <p:nvSpPr>
          <p:cNvPr id="11" name="Cruz vertical"/>
          <p:cNvSpPr/>
          <p:nvPr/>
        </p:nvSpPr>
        <p:spPr>
          <a:xfrm>
            <a:off x="7086600" y="731520"/>
            <a:ext cx="0" cy="3657600"/>
          </a:xfrm>
          <a:prstGeom prst="line">
            <a:avLst/>
          </a:prstGeom>
          <a:noFill/>
          <a:ln w="12700">
            <a:solidFill>
              <a:srgbClr val="22D3EE">
                <a:alpha val="55000"/>
              </a:srgbClr>
            </a:solidFill>
            <a:prstDash val="solid"/>
          </a:ln>
        </p:spPr>
      </p:sp>
      <p:sp>
        <p:nvSpPr>
          <p:cNvPr id="12" name="Regla 0"/>
          <p:cNvSpPr/>
          <p:nvPr/>
        </p:nvSpPr>
        <p:spPr>
          <a:xfrm>
            <a:off x="8732520" y="685800"/>
            <a:ext cx="182880" cy="0"/>
          </a:xfrm>
          <a:prstGeom prst="line">
            <a:avLst/>
          </a:prstGeom>
          <a:noFill/>
          <a:ln w="12700">
            <a:solidFill>
              <a:srgbClr val="7C8BA1"/>
            </a:solidFill>
            <a:prstDash val="solid"/>
          </a:ln>
        </p:spPr>
      </p:sp>
      <p:sp>
        <p:nvSpPr>
          <p:cNvPr id="13" name="Regla 1"/>
          <p:cNvSpPr/>
          <p:nvPr/>
        </p:nvSpPr>
        <p:spPr>
          <a:xfrm>
            <a:off x="8732520" y="1143000"/>
            <a:ext cx="91440" cy="0"/>
          </a:xfrm>
          <a:prstGeom prst="line">
            <a:avLst/>
          </a:prstGeom>
          <a:noFill/>
          <a:ln w="12700">
            <a:solidFill>
              <a:srgbClr val="7C8BA1"/>
            </a:solidFill>
            <a:prstDash val="solid"/>
          </a:ln>
        </p:spPr>
      </p:sp>
      <p:sp>
        <p:nvSpPr>
          <p:cNvPr id="14" name="Regla 2"/>
          <p:cNvSpPr/>
          <p:nvPr/>
        </p:nvSpPr>
        <p:spPr>
          <a:xfrm>
            <a:off x="8732520" y="1600200"/>
            <a:ext cx="182880" cy="0"/>
          </a:xfrm>
          <a:prstGeom prst="line">
            <a:avLst/>
          </a:prstGeom>
          <a:noFill/>
          <a:ln w="12700">
            <a:solidFill>
              <a:srgbClr val="7C8BA1"/>
            </a:solidFill>
            <a:prstDash val="solid"/>
          </a:ln>
        </p:spPr>
      </p:sp>
      <p:sp>
        <p:nvSpPr>
          <p:cNvPr id="15" name="Regla 3"/>
          <p:cNvSpPr/>
          <p:nvPr/>
        </p:nvSpPr>
        <p:spPr>
          <a:xfrm>
            <a:off x="8732520" y="2057400"/>
            <a:ext cx="91440" cy="0"/>
          </a:xfrm>
          <a:prstGeom prst="line">
            <a:avLst/>
          </a:prstGeom>
          <a:noFill/>
          <a:ln w="12700">
            <a:solidFill>
              <a:srgbClr val="7C8BA1"/>
            </a:solidFill>
            <a:prstDash val="solid"/>
          </a:ln>
        </p:spPr>
      </p:sp>
      <p:sp>
        <p:nvSpPr>
          <p:cNvPr id="16" name="Regla 4"/>
          <p:cNvSpPr/>
          <p:nvPr/>
        </p:nvSpPr>
        <p:spPr>
          <a:xfrm>
            <a:off x="8732520" y="2514600"/>
            <a:ext cx="182880" cy="0"/>
          </a:xfrm>
          <a:prstGeom prst="line">
            <a:avLst/>
          </a:prstGeom>
          <a:noFill/>
          <a:ln w="12700">
            <a:solidFill>
              <a:srgbClr val="7C8BA1"/>
            </a:solidFill>
            <a:prstDash val="solid"/>
          </a:ln>
        </p:spPr>
      </p:sp>
      <p:sp>
        <p:nvSpPr>
          <p:cNvPr id="17" name="Regla 5"/>
          <p:cNvSpPr/>
          <p:nvPr/>
        </p:nvSpPr>
        <p:spPr>
          <a:xfrm>
            <a:off x="8732520" y="2971800"/>
            <a:ext cx="91440" cy="0"/>
          </a:xfrm>
          <a:prstGeom prst="line">
            <a:avLst/>
          </a:prstGeom>
          <a:noFill/>
          <a:ln w="12700">
            <a:solidFill>
              <a:srgbClr val="7C8BA1"/>
            </a:solidFill>
            <a:prstDash val="solid"/>
          </a:ln>
        </p:spPr>
      </p:sp>
      <p:sp>
        <p:nvSpPr>
          <p:cNvPr id="18" name="Regla 6"/>
          <p:cNvSpPr/>
          <p:nvPr/>
        </p:nvSpPr>
        <p:spPr>
          <a:xfrm>
            <a:off x="8732520" y="3429000"/>
            <a:ext cx="182880" cy="0"/>
          </a:xfrm>
          <a:prstGeom prst="line">
            <a:avLst/>
          </a:prstGeom>
          <a:noFill/>
          <a:ln w="12700">
            <a:solidFill>
              <a:srgbClr val="7C8BA1"/>
            </a:solidFill>
            <a:prstDash val="solid"/>
          </a:ln>
        </p:spPr>
      </p:sp>
      <p:sp>
        <p:nvSpPr>
          <p:cNvPr id="19" name="Regla 7"/>
          <p:cNvSpPr/>
          <p:nvPr/>
        </p:nvSpPr>
        <p:spPr>
          <a:xfrm>
            <a:off x="8732520" y="3886200"/>
            <a:ext cx="91440" cy="0"/>
          </a:xfrm>
          <a:prstGeom prst="line">
            <a:avLst/>
          </a:prstGeom>
          <a:noFill/>
          <a:ln w="12700">
            <a:solidFill>
              <a:srgbClr val="7C8BA1"/>
            </a:solidFill>
            <a:prstDash val="solid"/>
          </a:ln>
        </p:spPr>
      </p:sp>
      <p:sp>
        <p:nvSpPr>
          <p:cNvPr id="20" name="Regla 8"/>
          <p:cNvSpPr/>
          <p:nvPr/>
        </p:nvSpPr>
        <p:spPr>
          <a:xfrm>
            <a:off x="8732520" y="4343400"/>
            <a:ext cx="182880" cy="0"/>
          </a:xfrm>
          <a:prstGeom prst="line">
            <a:avLst/>
          </a:prstGeom>
          <a:noFill/>
          <a:ln w="12700">
            <a:solidFill>
              <a:srgbClr val="7C8BA1"/>
            </a:solidFill>
            <a:prstDash val="solid"/>
          </a:ln>
        </p:spPr>
      </p:sp>
      <p:sp>
        <p:nvSpPr>
          <p:cNvPr id="21" name="Text 19"/>
          <p:cNvSpPr txBox="1"/>
          <p:nvPr/>
        </p:nvSpPr>
        <p:spPr>
          <a:xfrm>
            <a:off x="5486400" y="365760"/>
            <a:ext cx="3108960" cy="228600"/>
          </a:xfrm>
          <a:prstGeom prst="rect">
            <a:avLst/>
          </a:prstGeom>
          <a:noFill/>
          <a:ln/>
        </p:spPr>
        <p:txBody>
          <a:bodyPr wrap="square" lIns="0" tIns="0" rIns="0" bIns="0" rtlCol="0" anchor="ctr"/>
          <a:lstStyle/>
          <a:p>
            <a:pPr marL="0" indent="0" algn="l">
              <a:buNone/>
            </a:pPr>
            <a:r>
              <a:rPr lang="en-US" sz="1000" dirty="0">
                <a:solidFill>
                  <a:srgbClr val="22D3EE"/>
                </a:solidFill>
                <a:latin typeface="Consolas" pitchFamily="34" charset="0"/>
                <a:ea typeface="Consolas" pitchFamily="34" charset="-122"/>
                <a:cs typeface="Consolas" pitchFamily="34" charset="-120"/>
              </a:rPr>
              <a:t>MR · CT · US · RX</a:t>
            </a:r>
            <a:endParaRPr lang="en-US" sz="1000" dirty="0"/>
          </a:p>
        </p:txBody>
      </p:sp>
      <p:sp>
        <p:nvSpPr>
          <p:cNvPr id="22" name="Text 20"/>
          <p:cNvSpPr txBox="1"/>
          <p:nvPr/>
        </p:nvSpPr>
        <p:spPr>
          <a:xfrm>
            <a:off x="6675120" y="4526280"/>
            <a:ext cx="2011680" cy="228600"/>
          </a:xfrm>
          <a:prstGeom prst="rect">
            <a:avLst/>
          </a:prstGeom>
          <a:noFill/>
          <a:ln/>
        </p:spPr>
        <p:txBody>
          <a:bodyPr wrap="square" lIns="0" tIns="0" rIns="0" bIns="0" rtlCol="0" anchor="ctr"/>
          <a:lstStyle/>
          <a:p>
            <a:pPr marL="0" indent="0" algn="r">
              <a:buNone/>
            </a:pPr>
            <a:r>
              <a:rPr lang="en-US" sz="1000" dirty="0">
                <a:solidFill>
                  <a:srgbClr val="F59E0B"/>
                </a:solidFill>
                <a:latin typeface="Consolas" pitchFamily="34" charset="0"/>
                <a:ea typeface="Consolas" pitchFamily="34" charset="-122"/>
                <a:cs typeface="Consolas" pitchFamily="34" charset="-120"/>
              </a:rPr>
              <a:t>W: 400   L: 40</a:t>
            </a:r>
            <a:endParaRPr lang="en-US" sz="1000" dirty="0"/>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idx="109"/>
          </p:nvPr>
        </p:nvSpPr>
        <p:spPr>
          <a:xfrm>
            <a:off x="1216324" y="2002190"/>
            <a:ext cx="7040880" cy="685800"/>
          </a:xfrm>
        </p:spPr>
        <p:txBody>
          <a:bodyPr/>
          <a:lstStyle/>
          <a:p>
            <a:r>
              <a:rPr lang="es-ES" dirty="0" smtClean="0"/>
              <a:t>Explicación con un ejemplo del procedimiento</a:t>
            </a:r>
            <a:endParaRPr lang="es-ES" dirty="0"/>
          </a:p>
        </p:txBody>
      </p:sp>
    </p:spTree>
    <p:extLst>
      <p:ext uri="{BB962C8B-B14F-4D97-AF65-F5344CB8AC3E}">
        <p14:creationId xmlns:p14="http://schemas.microsoft.com/office/powerpoint/2010/main" val="2689274589"/>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p:cNvPicPr>
            <a:picLocks noChangeAspect="1"/>
          </p:cNvPicPr>
          <p:nvPr/>
        </p:nvPicPr>
        <p:blipFill>
          <a:blip r:embed="rId2"/>
          <a:stretch>
            <a:fillRect/>
          </a:stretch>
        </p:blipFill>
        <p:spPr>
          <a:xfrm>
            <a:off x="331071" y="298111"/>
            <a:ext cx="3775103" cy="4462447"/>
          </a:xfrm>
          <a:prstGeom prst="rect">
            <a:avLst/>
          </a:prstGeom>
        </p:spPr>
      </p:pic>
      <p:pic>
        <p:nvPicPr>
          <p:cNvPr id="4" name="Imagen 3"/>
          <p:cNvPicPr>
            <a:picLocks noChangeAspect="1"/>
          </p:cNvPicPr>
          <p:nvPr/>
        </p:nvPicPr>
        <p:blipFill>
          <a:blip r:embed="rId3"/>
          <a:stretch>
            <a:fillRect/>
          </a:stretch>
        </p:blipFill>
        <p:spPr>
          <a:xfrm>
            <a:off x="4235570" y="2858405"/>
            <a:ext cx="4610293" cy="1902153"/>
          </a:xfrm>
          <a:prstGeom prst="rect">
            <a:avLst/>
          </a:prstGeom>
        </p:spPr>
      </p:pic>
    </p:spTree>
    <p:extLst>
      <p:ext uri="{BB962C8B-B14F-4D97-AF65-F5344CB8AC3E}">
        <p14:creationId xmlns:p14="http://schemas.microsoft.com/office/powerpoint/2010/main" val="1860190447"/>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idx="109"/>
          </p:nvPr>
        </p:nvSpPr>
        <p:spPr>
          <a:xfrm>
            <a:off x="457200" y="320039"/>
            <a:ext cx="8264106" cy="4407235"/>
          </a:xfrm>
        </p:spPr>
        <p:txBody>
          <a:bodyPr/>
          <a:lstStyle/>
          <a:p>
            <a:r>
              <a:rPr lang="es-ES" sz="1200" b="0" dirty="0"/>
              <a:t>&lt;figure class="table" style="width:100%;"&gt;&lt;table&gt;&lt;tbody&gt;&lt;tr&gt;&lt;td&gt;&lt;strong&gt;Nombre:&lt;/strong&gt; CRISOSTOMO PENA NELFI&lt;/td&gt;&lt;td&gt;&lt;strong&gt;Sexo:&lt;/strong&gt; M&lt;/td&gt;&lt;/tr&gt;&lt;tr&gt;&lt;td&gt;&lt;strong&gt;Médico Referidor:&lt;/strong&gt; Test Ref&lt;/td&gt;&lt;td&gt;&lt;strong&gt;Edad:&lt;/strong&gt; -&lt;/td&gt;&lt;/tr&gt;&lt;tr&gt;&lt;td&gt;&lt;strong&gt;Fecha Estudio:&lt;/strong&gt; 2025-06-18&lt;/td&gt;&lt;td&gt;&lt;strong&gt;Modalidad:&lt;/strong&gt; DX&lt;/td&gt;&lt;/tr&gt;&lt;tr&gt;&lt;td&gt;&lt;strong&gt;ID Estudio:&lt;/strong&gt; -&lt;/td&gt;&lt;td&gt;&lt;strong&gt;Autorización:&lt;/strong&gt;&lt;/td&gt;&lt;/tr&gt;&lt;tr&gt;&lt;td&gt;&lt;strong&gt;ID Paciente:&lt;/strong&gt; NELFI CRISOSTOMO </a:t>
            </a:r>
            <a:r>
              <a:rPr lang="es-ES" sz="1000" b="0" dirty="0"/>
              <a:t>PENA&lt;/td&gt;&lt;td&gt;&lt;strong&gt;Póliza:&lt;/strong&gt;&lt;/td&gt;&lt;/tr&gt;&lt;tr&gt;&lt;td&gt;&lt;strong&gt;Seguro:&lt;/strong&gt;&lt;/td&gt;&lt;td&gt;&amp;nbsp;&lt;/td&gt;&lt;/tr&gt;&lt;/tbody&gt;&lt;/table&gt;&lt;/figure&gt;&lt;p&gt;&lt;br&gt;&amp;nbsp;&lt;/p&gt;&lt;p&gt;&lt;strong&gt;Descripción:&lt;/strong&gt; PRE&lt;/p&gt;&lt;p&gt;&amp;nbsp;&lt;/p&gt;&lt;p&gt;&lt;strong&gt;ESTUDIO: COLUMNA CERVICAL EN AP Y LATERAL&amp;nbsp;&amp;nbsp;&amp;nbsp;&amp;nbsp;&amp;nbsp;&amp;nbsp;&amp;nbsp;&amp;nbsp;&amp;nbsp;&amp;nbsp;&amp;nbsp;&amp;nbsp;&amp;nbsp;&amp;nbsp;&amp;nbsp;&amp;nbsp;&amp;nbsp;&amp;nbsp;&amp;nbsp;&amp;nbsp;&amp;nbsp;&amp;nbsp;&amp;nbsp;&amp;nbsp;&amp;nbsp;&amp;nbsp;&amp;nbsp;&amp;nbsp;&amp;nbsp;&amp;nbsp;&amp;nbsp;&amp;nbsp;&amp;nbsp;&amp;nbsp;&amp;nbsp;&amp;nbsp;&amp;nbsp;&amp;nbsp;&amp;nbsp;&amp;nbsp;&amp;nbsp;&amp;nbsp;&amp;nbsp;&amp;nbsp;&amp;nbsp;&amp;nbsp;&amp;nbsp;&amp;nbsp;&amp;nbsp;&amp;nbsp;&amp;nbsp;&amp;nbsp;&amp;nbsp;&amp;nbsp;&lt;/strong&gt;&lt;/p&gt;&lt;p&gt;&lt;strong&gt;RESULTADOS:&lt;/strong&gt;&lt;/p&gt;&lt;p&gt;·&amp;nbsp;&amp;nbsp;&amp;nbsp;&amp;nbsp;&amp;nbsp;&amp;nbsp;&amp;nbsp;&amp;nbsp; Lordosis de la columna cervical luce rectificada.&lt;/p&gt;&lt;p&gt;·&amp;nbsp;&amp;nbsp;&amp;nbsp;&amp;nbsp;&amp;nbsp;&amp;nbsp;&amp;nbsp;&amp;nbsp; Las vertebras cervicales son normales en forma, numero y tamaño.&lt;/p&gt;&lt;p&gt;·&amp;nbsp;&amp;nbsp;&amp;nbsp;&amp;nbsp;&amp;nbsp;&amp;nbsp;&amp;nbsp;&amp;nbsp; La línea grasa prevertebral y los espacios retrofaringeo y retrotraqueal están dentro de la normalidad.&lt;/p&gt;&lt;p&gt;·&amp;nbsp;&amp;nbsp;&amp;nbsp;&amp;nbsp;&amp;nbsp;&amp;nbsp;&amp;nbsp;&amp;nbsp; Imagen de la traquea y de las partes blandas sin alteraciones.&lt;/p&gt;&lt;p&gt;&lt;strong&gt;IMPRESIÓN DIAGNÓSTICA:&lt;/strong&gt;&lt;/p&gt;&lt;p&gt;&lt;strong&gt;DATOS DE ESPASMO DE LA MUSCULATURA PARAVERTEBRAL CERVICAL.&lt;/strong&gt;&lt;/p&gt;&lt;p&gt;&amp;nbsp;&lt;/p&gt;&lt;p&gt;&amp;nbsp;&lt;/p&gt;&lt;p style="text-align:justify;"&gt;&lt;strong&gt;&lt;u&gt;RX COLUMNA DORSAL AP Y LATERAL&lt;/u&gt;&lt;/strong&gt;&lt;/p&gt;&lt;p style="text-align:justify;"&gt;&lt;strong&gt;&lt;u&gt;RESULTADOS:&lt;/u&gt;&lt;/strong&gt;&lt;/p&gt;&lt;p style="text-align:justify;"&gt;Se observa desviación del eje longitudinal de la columna dorsal, manteniendo la alineación de las apófisis espinosas.&lt;/p&gt;&lt;p style="text-align:justify;"&gt;Los cuerpos y espacios intervertebrales lucen conservados.&amp;nbsp;&lt;/p&gt;&lt;p style="text-align:justify;"&gt;No hay evidencias de líneas de discontinuidad ósea.&amp;nbsp;&lt;/p&gt;&lt;p style="text-align:justify;"&gt;No hay lesiones líticas o blásticas. &amp;nbsp;&lt;/p&gt;&lt;p style="text-align:justify;"&gt;No hay alteraciones de los tejidos blandos paravertebrales.&lt;/p&gt;&lt;p style="text-align:justify;"&gt;&lt;strong&gt;&lt;u&gt;CONCLUSION:&lt;/u&gt;&lt;/strong&gt;&lt;/p&gt;&lt;p style="text-align:justify;"&gt;&lt;strong&gt;ACTITUD ESCOLIÓTICA DORSAL COMO FUE DESCRITA.&lt;/strong&gt;&lt;/p&gt;&lt;p style="text-align:justify;"&gt;&amp;nbsp;&lt;/p&gt;&lt;p style="text-align:justify;"&gt;&amp;nbsp;&lt;/p&gt;&lt;p style="text-align:justify;"&gt;&lt;strong&gt;&lt;u&gt;RX COLUMNA LUMBAR AP Y LATERAL&lt;/u&gt;&lt;/strong&gt;&lt;/p&gt;&lt;p style="text-align:justify;"&gt;&lt;strong&gt;&lt;u&gt;RESULTADOS:&lt;/u&gt;&lt;/strong&gt;&lt;/p&gt;&lt;p style="text-align:justify;"&gt;Existe actitud escoliotica lumbar consistente con desviación sutil de la lordosis a la izquierda, manteniendo la alineación de las apófisis espinosas.&lt;/p&gt;&lt;p style="text-align:justify;"&gt;Se distingue rectificación de la lordosis lumbar.&lt;/p&gt;&lt;p style="text-align:justify;"&gt;No hay alteraciones de los cuerpos vertebrales.&lt;/p&gt;&lt;p style="text-align:justify;"&gt;Espacios intervertebrales conservados.&amp;nbsp;&lt;/p&gt;&lt;p style="text-align:justify;"&gt;No se observan fracturas, ni lesiones líticas o blásticas.&lt;/p&gt;&lt;p style="text-align:justify;"&gt;&lt;strong&gt;&lt;u&gt;CONCLUSION:&lt;/u&gt;&lt;/strong&gt;&lt;/p&gt;&lt;p style="text-align:justify;"&gt;¯&amp;nbsp; &lt;strong&gt;ACTITUD ESCOLIOTICA LUMBAR.&lt;/strong&gt;&lt;/p&gt;&lt;p style="text-align:justify;"&gt;¯&amp;nbsp; &lt;strong&gt;DATOS DE ESPASMO DE LA MUSCULATURA PARAVERTEBRAL LUMBAR.&lt;/strong&gt;&lt;/p&gt;</a:t>
            </a:r>
          </a:p>
        </p:txBody>
      </p:sp>
    </p:spTree>
    <p:extLst>
      <p:ext uri="{BB962C8B-B14F-4D97-AF65-F5344CB8AC3E}">
        <p14:creationId xmlns:p14="http://schemas.microsoft.com/office/powerpoint/2010/main" val="4274993071"/>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p:cNvPicPr>
            <a:picLocks noChangeAspect="1"/>
          </p:cNvPicPr>
          <p:nvPr/>
        </p:nvPicPr>
        <p:blipFill>
          <a:blip r:embed="rId2"/>
          <a:stretch>
            <a:fillRect/>
          </a:stretch>
        </p:blipFill>
        <p:spPr>
          <a:xfrm>
            <a:off x="2311879" y="199799"/>
            <a:ext cx="4330461" cy="4544729"/>
          </a:xfrm>
          <a:prstGeom prst="rect">
            <a:avLst/>
          </a:prstGeom>
        </p:spPr>
      </p:pic>
    </p:spTree>
    <p:extLst>
      <p:ext uri="{BB962C8B-B14F-4D97-AF65-F5344CB8AC3E}">
        <p14:creationId xmlns:p14="http://schemas.microsoft.com/office/powerpoint/2010/main" val="274973385"/>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12"/>
          <p:cNvSpPr>
            <a:spLocks noGrp="1" noChangeArrowheads="1"/>
          </p:cNvSpPr>
          <p:nvPr>
            <p:ph type="title" idx="109"/>
          </p:nvPr>
        </p:nvSpPr>
        <p:spPr bwMode="auto">
          <a:xfrm>
            <a:off x="457200" y="753180"/>
            <a:ext cx="8045600" cy="378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tabLst>
                <a:tab pos="457200" algn="l"/>
              </a:tabLst>
              <a:defRPr>
                <a:solidFill>
                  <a:schemeClr val="tx1"/>
                </a:solidFill>
                <a:latin typeface="Arial" panose="020B0604020202020204" pitchFamily="34" charset="0"/>
              </a:defRPr>
            </a:lvl1pPr>
            <a:lvl2pPr eaLnBrk="0" fontAlgn="base" hangingPunct="0">
              <a:spcBef>
                <a:spcPct val="0"/>
              </a:spcBef>
              <a:spcAft>
                <a:spcPct val="0"/>
              </a:spcAft>
              <a:tabLst>
                <a:tab pos="457200" algn="l"/>
              </a:tabLst>
              <a:defRPr>
                <a:solidFill>
                  <a:schemeClr val="tx1"/>
                </a:solidFill>
                <a:latin typeface="Arial" panose="020B0604020202020204" pitchFamily="34" charset="0"/>
              </a:defRPr>
            </a:lvl2pPr>
            <a:lvl3pPr eaLnBrk="0" fontAlgn="base" hangingPunct="0">
              <a:spcBef>
                <a:spcPct val="0"/>
              </a:spcBef>
              <a:spcAft>
                <a:spcPct val="0"/>
              </a:spcAft>
              <a:tabLst>
                <a:tab pos="457200" algn="l"/>
              </a:tabLst>
              <a:defRPr>
                <a:solidFill>
                  <a:schemeClr val="tx1"/>
                </a:solidFill>
                <a:latin typeface="Arial" panose="020B0604020202020204" pitchFamily="34" charset="0"/>
              </a:defRPr>
            </a:lvl3pPr>
            <a:lvl4pPr eaLnBrk="0" fontAlgn="base" hangingPunct="0">
              <a:spcBef>
                <a:spcPct val="0"/>
              </a:spcBef>
              <a:spcAft>
                <a:spcPct val="0"/>
              </a:spcAft>
              <a:tabLst>
                <a:tab pos="457200" algn="l"/>
              </a:tabLst>
              <a:defRPr>
                <a:solidFill>
                  <a:schemeClr val="tx1"/>
                </a:solidFill>
                <a:latin typeface="Arial" panose="020B0604020202020204" pitchFamily="34" charset="0"/>
              </a:defRPr>
            </a:lvl4pPr>
            <a:lvl5pPr eaLnBrk="0" fontAlgn="base" hangingPunct="0">
              <a:spcBef>
                <a:spcPct val="0"/>
              </a:spcBef>
              <a:spcAft>
                <a:spcPct val="0"/>
              </a:spcAft>
              <a:tabLst>
                <a:tab pos="457200" algn="l"/>
              </a:tabLst>
              <a:defRPr>
                <a:solidFill>
                  <a:schemeClr val="tx1"/>
                </a:solidFill>
                <a:latin typeface="Arial" panose="020B0604020202020204" pitchFamily="34" charset="0"/>
              </a:defRPr>
            </a:lvl5pPr>
            <a:lvl6pPr eaLnBrk="0" fontAlgn="base" hangingPunct="0">
              <a:spcBef>
                <a:spcPct val="0"/>
              </a:spcBef>
              <a:spcAft>
                <a:spcPct val="0"/>
              </a:spcAft>
              <a:tabLst>
                <a:tab pos="457200" algn="l"/>
              </a:tabLst>
              <a:defRPr>
                <a:solidFill>
                  <a:schemeClr val="tx1"/>
                </a:solidFill>
                <a:latin typeface="Arial" panose="020B0604020202020204" pitchFamily="34" charset="0"/>
              </a:defRPr>
            </a:lvl6pPr>
            <a:lvl7pPr eaLnBrk="0" fontAlgn="base" hangingPunct="0">
              <a:spcBef>
                <a:spcPct val="0"/>
              </a:spcBef>
              <a:spcAft>
                <a:spcPct val="0"/>
              </a:spcAft>
              <a:tabLst>
                <a:tab pos="457200" algn="l"/>
              </a:tabLst>
              <a:defRPr>
                <a:solidFill>
                  <a:schemeClr val="tx1"/>
                </a:solidFill>
                <a:latin typeface="Arial" panose="020B0604020202020204" pitchFamily="34" charset="0"/>
              </a:defRPr>
            </a:lvl7pPr>
            <a:lvl8pPr eaLnBrk="0" fontAlgn="base" hangingPunct="0">
              <a:spcBef>
                <a:spcPct val="0"/>
              </a:spcBef>
              <a:spcAft>
                <a:spcPct val="0"/>
              </a:spcAft>
              <a:tabLst>
                <a:tab pos="457200" algn="l"/>
              </a:tabLst>
              <a:defRPr>
                <a:solidFill>
                  <a:schemeClr val="tx1"/>
                </a:solidFill>
                <a:latin typeface="Arial" panose="020B0604020202020204" pitchFamily="34" charset="0"/>
              </a:defRPr>
            </a:lvl8pPr>
            <a:lvl9pPr eaLnBrk="0" fontAlgn="base" hangingPunct="0">
              <a:spcBef>
                <a:spcPct val="0"/>
              </a:spcBef>
              <a:spcAft>
                <a:spcPct val="0"/>
              </a:spcAft>
              <a:tabLst>
                <a:tab pos="457200" algn="l"/>
              </a:tabLs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tab pos="457200" algn="l"/>
              </a:tabLst>
            </a:pPr>
            <a:r>
              <a:rPr kumimoji="0" lang="es-ES" altLang="es-ES" sz="1200" b="0" i="0" u="none" strike="noStrike" cap="none" normalizeH="0" baseline="0" dirty="0" smtClean="0">
                <a:ln>
                  <a:noFill/>
                </a:ln>
                <a:solidFill>
                  <a:schemeClr val="bg1"/>
                </a:solidFill>
                <a:effectLst/>
                <a:ea typeface="Calibri" panose="020F0502020204030204" pitchFamily="34" charset="0"/>
                <a:cs typeface="Arial" panose="020B0604020202020204" pitchFamily="34" charset="0"/>
              </a:rPr>
              <a:t>Cuando este texto entra a </a:t>
            </a:r>
            <a:r>
              <a:rPr kumimoji="0" lang="es-ES" altLang="es-ES" sz="1200" b="0" i="0" u="none" strike="noStrike" cap="none" normalizeH="0" baseline="0" dirty="0" err="1" smtClean="0">
                <a:ln>
                  <a:noFill/>
                </a:ln>
                <a:solidFill>
                  <a:schemeClr val="bg1"/>
                </a:solidFill>
                <a:effectLst/>
                <a:ea typeface="Calibri" panose="020F0502020204030204" pitchFamily="34" charset="0"/>
                <a:cs typeface="Arial" panose="020B0604020202020204" pitchFamily="34" charset="0"/>
              </a:rPr>
              <a:t>Ollama</a:t>
            </a:r>
            <a:r>
              <a:rPr kumimoji="0" lang="es-ES" altLang="es-ES" sz="1200" b="0" i="0" u="none" strike="noStrike" cap="none" normalizeH="0" baseline="0" dirty="0" smtClean="0">
                <a:ln>
                  <a:noFill/>
                </a:ln>
                <a:solidFill>
                  <a:schemeClr val="bg1"/>
                </a:solidFill>
                <a:effectLst/>
                <a:ea typeface="Calibri" panose="020F0502020204030204" pitchFamily="34" charset="0"/>
                <a:cs typeface="Arial" panose="020B0604020202020204" pitchFamily="34" charset="0"/>
              </a:rPr>
              <a:t>, los par</a:t>
            </a:r>
            <a:r>
              <a:rPr kumimoji="0" lang="es-ES" altLang="es-ES" sz="1200" b="0" i="0" u="none" strike="noStrike" cap="none" normalizeH="0" baseline="0" dirty="0" smtClean="0">
                <a:ln>
                  <a:noFill/>
                </a:ln>
                <a:solidFill>
                  <a:schemeClr val="bg1"/>
                </a:solidFill>
                <a:effectLst/>
                <a:latin typeface="Calibri" panose="020F0502020204030204" pitchFamily="34" charset="0"/>
                <a:ea typeface="Calibri" panose="020F0502020204030204" pitchFamily="34" charset="0"/>
                <a:cs typeface="Arial" panose="020B0604020202020204" pitchFamily="34" charset="0"/>
              </a:rPr>
              <a:t>á</a:t>
            </a:r>
            <a:r>
              <a:rPr kumimoji="0" lang="es-ES" altLang="es-ES" sz="1200" b="0" i="0" u="none" strike="noStrike" cap="none" normalizeH="0" baseline="0" dirty="0" smtClean="0">
                <a:ln>
                  <a:noFill/>
                </a:ln>
                <a:solidFill>
                  <a:schemeClr val="bg1"/>
                </a:solidFill>
                <a:effectLst/>
                <a:ea typeface="Calibri" panose="020F0502020204030204" pitchFamily="34" charset="0"/>
                <a:cs typeface="Arial" panose="020B0604020202020204" pitchFamily="34" charset="0"/>
              </a:rPr>
              <a:t>metros configurados act</a:t>
            </a:r>
            <a:r>
              <a:rPr kumimoji="0" lang="es-ES" altLang="es-ES" sz="1200" b="0" i="0" u="none" strike="noStrike" cap="none" normalizeH="0" baseline="0" dirty="0" smtClean="0">
                <a:ln>
                  <a:noFill/>
                </a:ln>
                <a:solidFill>
                  <a:schemeClr val="bg1"/>
                </a:solidFill>
                <a:effectLst/>
                <a:latin typeface="Calibri" panose="020F0502020204030204" pitchFamily="34" charset="0"/>
                <a:ea typeface="Calibri" panose="020F0502020204030204" pitchFamily="34" charset="0"/>
                <a:cs typeface="Arial" panose="020B0604020202020204" pitchFamily="34" charset="0"/>
              </a:rPr>
              <a:t>ú</a:t>
            </a:r>
            <a:r>
              <a:rPr kumimoji="0" lang="es-ES" altLang="es-ES" sz="1200" b="0" i="0" u="none" strike="noStrike" cap="none" normalizeH="0" baseline="0" dirty="0" smtClean="0">
                <a:ln>
                  <a:noFill/>
                </a:ln>
                <a:solidFill>
                  <a:schemeClr val="bg1"/>
                </a:solidFill>
                <a:effectLst/>
                <a:ea typeface="Calibri" panose="020F0502020204030204" pitchFamily="34" charset="0"/>
                <a:cs typeface="Arial" panose="020B0604020202020204" pitchFamily="34" charset="0"/>
              </a:rPr>
              <a:t>an de la siguiente manera: </a:t>
            </a:r>
            <a:br>
              <a:rPr kumimoji="0" lang="es-ES" altLang="es-ES" sz="1200" b="0" i="0" u="none" strike="noStrike" cap="none" normalizeH="0" baseline="0" dirty="0" smtClean="0">
                <a:ln>
                  <a:noFill/>
                </a:ln>
                <a:solidFill>
                  <a:schemeClr val="bg1"/>
                </a:solidFill>
                <a:effectLst/>
                <a:ea typeface="Calibri" panose="020F0502020204030204" pitchFamily="34" charset="0"/>
                <a:cs typeface="Arial" panose="020B0604020202020204" pitchFamily="34" charset="0"/>
              </a:rPr>
            </a:br>
            <a:endParaRPr kumimoji="0" lang="es-ES" altLang="es-ES" sz="1200" b="0" i="0" u="none" strike="noStrike" cap="none" normalizeH="0" baseline="0" dirty="0" smtClean="0">
              <a:ln>
                <a:noFill/>
              </a:ln>
              <a:solidFill>
                <a:schemeClr val="bg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tab pos="457200" algn="l"/>
              </a:tabLst>
            </a:pPr>
            <a:r>
              <a:rPr kumimoji="0" lang="es-ES" altLang="es-ES" sz="1200" b="1" i="0" u="none" strike="noStrike" cap="none" normalizeH="0" baseline="0" dirty="0" err="1" smtClean="0">
                <a:ln>
                  <a:noFill/>
                </a:ln>
                <a:solidFill>
                  <a:schemeClr val="bg1"/>
                </a:solidFill>
                <a:effectLst/>
                <a:latin typeface="Arial Unicode MS"/>
                <a:ea typeface="Calibri" panose="020F0502020204030204" pitchFamily="34" charset="0"/>
                <a:cs typeface="Courier New" panose="02070309020205020404" pitchFamily="49" charset="0"/>
              </a:rPr>
              <a:t>num_ctx</a:t>
            </a:r>
            <a:r>
              <a:rPr kumimoji="0" lang="es-ES" altLang="es-ES" sz="1200" b="1" i="0" u="none" strike="noStrike" cap="none" normalizeH="0" baseline="0" dirty="0" smtClean="0">
                <a:ln>
                  <a:noFill/>
                </a:ln>
                <a:solidFill>
                  <a:schemeClr val="bg1"/>
                </a:solidFill>
                <a:effectLst/>
                <a:latin typeface="Arial Unicode MS"/>
                <a:ea typeface="Calibri" panose="020F0502020204030204" pitchFamily="34" charset="0"/>
                <a:cs typeface="Courier New" panose="02070309020205020404" pitchFamily="49" charset="0"/>
              </a:rPr>
              <a:t>: 1024</a:t>
            </a:r>
            <a:r>
              <a:rPr kumimoji="0" lang="es-ES" altLang="es-ES" sz="1200" b="1" i="0" u="none" strike="noStrike" cap="none" normalizeH="0" baseline="0" dirty="0" smtClean="0">
                <a:ln>
                  <a:noFill/>
                </a:ln>
                <a:solidFill>
                  <a:schemeClr val="bg1"/>
                </a:solidFill>
                <a:effectLst/>
                <a:ea typeface="Calibri" panose="020F0502020204030204" pitchFamily="34" charset="0"/>
                <a:cs typeface="Arial" panose="020B0604020202020204" pitchFamily="34" charset="0"/>
              </a:rPr>
              <a:t> (Ventana de Contexto):</a:t>
            </a:r>
            <a:endParaRPr kumimoji="0" lang="es-ES" altLang="es-ES" sz="1200" b="1" i="0" u="none" strike="noStrike" cap="none" normalizeH="0" baseline="0" dirty="0" smtClean="0">
              <a:ln>
                <a:noFill/>
              </a:ln>
              <a:solidFill>
                <a:schemeClr val="bg1"/>
              </a:solidFill>
              <a:effectLst/>
              <a:latin typeface="Arial Unicode MS"/>
              <a:ea typeface="Calibri" panose="020F0502020204030204" pitchFamily="34" charset="0"/>
              <a:cs typeface="Courier New" panose="02070309020205020404" pitchFamily="49" charset="0"/>
            </a:endParaRPr>
          </a:p>
          <a:p>
            <a:pPr marL="457200" marR="0" lvl="1" indent="0" algn="l" defTabSz="914400" rtl="0" eaLnBrk="0" fontAlgn="base" latinLnBrk="0" hangingPunct="0">
              <a:lnSpc>
                <a:spcPct val="100000"/>
              </a:lnSpc>
              <a:spcBef>
                <a:spcPct val="0"/>
              </a:spcBef>
              <a:spcAft>
                <a:spcPct val="0"/>
              </a:spcAft>
              <a:buClrTx/>
              <a:buSzTx/>
              <a:buFont typeface="Symbol" panose="05050102010706020507" pitchFamily="18" charset="2"/>
              <a:buChar char=""/>
              <a:tabLst>
                <a:tab pos="457200" algn="l"/>
              </a:tabLst>
            </a:pPr>
            <a:r>
              <a:rPr kumimoji="0" lang="es-ES" altLang="es-ES" sz="1200" b="1" i="1" u="none" strike="noStrike" cap="none" normalizeH="0" baseline="0" dirty="0" smtClean="0">
                <a:ln>
                  <a:noFill/>
                </a:ln>
                <a:solidFill>
                  <a:schemeClr val="bg1"/>
                </a:solidFill>
                <a:effectLst/>
                <a:ea typeface="Calibri" panose="020F0502020204030204" pitchFamily="34" charset="0"/>
                <a:cs typeface="Arial" panose="020B0604020202020204" pitchFamily="34" charset="0"/>
              </a:rPr>
              <a:t>M</a:t>
            </a:r>
            <a:r>
              <a:rPr kumimoji="0" lang="es-ES" altLang="es-ES" sz="1200" b="1" i="1" u="none" strike="noStrike" cap="none" normalizeH="0" baseline="0" dirty="0" smtClean="0">
                <a:ln>
                  <a:noFill/>
                </a:ln>
                <a:solidFill>
                  <a:schemeClr val="bg1"/>
                </a:solidFill>
                <a:effectLst/>
                <a:latin typeface="Calibri" panose="020F0502020204030204" pitchFamily="34" charset="0"/>
                <a:ea typeface="Calibri" panose="020F0502020204030204" pitchFamily="34" charset="0"/>
                <a:cs typeface="Arial" panose="020B0604020202020204" pitchFamily="34" charset="0"/>
              </a:rPr>
              <a:t>é</a:t>
            </a:r>
            <a:r>
              <a:rPr kumimoji="0" lang="es-ES" altLang="es-ES" sz="1200" b="1" i="1" u="none" strike="noStrike" cap="none" normalizeH="0" baseline="0" dirty="0" smtClean="0">
                <a:ln>
                  <a:noFill/>
                </a:ln>
                <a:solidFill>
                  <a:schemeClr val="bg1"/>
                </a:solidFill>
                <a:effectLst/>
                <a:ea typeface="Calibri" panose="020F0502020204030204" pitchFamily="34" charset="0"/>
                <a:cs typeface="Arial" panose="020B0604020202020204" pitchFamily="34" charset="0"/>
              </a:rPr>
              <a:t>tricas: El </a:t>
            </a:r>
            <a:r>
              <a:rPr kumimoji="0" lang="es-ES" altLang="es-ES" sz="1200" b="1" i="1" u="none" strike="noStrike" cap="none" normalizeH="0" baseline="0" dirty="0" err="1" smtClean="0">
                <a:ln>
                  <a:noFill/>
                </a:ln>
                <a:solidFill>
                  <a:schemeClr val="bg1"/>
                </a:solidFill>
                <a:effectLst/>
                <a:ea typeface="Calibri" panose="020F0502020204030204" pitchFamily="34" charset="0"/>
                <a:cs typeface="Arial" panose="020B0604020202020204" pitchFamily="34" charset="0"/>
              </a:rPr>
              <a:t>Prompt</a:t>
            </a:r>
            <a:r>
              <a:rPr kumimoji="0" lang="es-ES" altLang="es-ES" sz="1200" b="1" i="1" u="none" strike="noStrike" cap="none" normalizeH="0" baseline="0" dirty="0" smtClean="0">
                <a:ln>
                  <a:noFill/>
                </a:ln>
                <a:solidFill>
                  <a:schemeClr val="bg1"/>
                </a:solidFill>
                <a:effectLst/>
                <a:ea typeface="Calibri" panose="020F0502020204030204" pitchFamily="34" charset="0"/>
                <a:cs typeface="Arial" panose="020B0604020202020204" pitchFamily="34" charset="0"/>
              </a:rPr>
              <a:t> del Sistema (~180 </a:t>
            </a:r>
            <a:r>
              <a:rPr kumimoji="0" lang="es-ES" altLang="es-ES" sz="1200" b="1" i="1" u="none" strike="noStrike" cap="none" normalizeH="0" baseline="0" dirty="0" err="1" smtClean="0">
                <a:ln>
                  <a:noFill/>
                </a:ln>
                <a:solidFill>
                  <a:schemeClr val="bg1"/>
                </a:solidFill>
                <a:effectLst/>
                <a:ea typeface="Calibri" panose="020F0502020204030204" pitchFamily="34" charset="0"/>
                <a:cs typeface="Arial" panose="020B0604020202020204" pitchFamily="34" charset="0"/>
              </a:rPr>
              <a:t>tokens</a:t>
            </a:r>
            <a:r>
              <a:rPr kumimoji="0" lang="es-ES" altLang="es-ES" sz="1200" b="1" i="1" u="none" strike="noStrike" cap="none" normalizeH="0" baseline="0" dirty="0" smtClean="0">
                <a:ln>
                  <a:noFill/>
                </a:ln>
                <a:solidFill>
                  <a:schemeClr val="bg1"/>
                </a:solidFill>
                <a:effectLst/>
                <a:ea typeface="Calibri" panose="020F0502020204030204" pitchFamily="34" charset="0"/>
                <a:cs typeface="Arial" panose="020B0604020202020204" pitchFamily="34" charset="0"/>
              </a:rPr>
              <a:t>) + el Texto M</a:t>
            </a:r>
            <a:r>
              <a:rPr kumimoji="0" lang="es-ES" altLang="es-ES" sz="1200" b="1" i="1" u="none" strike="noStrike" cap="none" normalizeH="0" baseline="0" dirty="0" smtClean="0">
                <a:ln>
                  <a:noFill/>
                </a:ln>
                <a:solidFill>
                  <a:schemeClr val="bg1"/>
                </a:solidFill>
                <a:effectLst/>
                <a:latin typeface="Calibri" panose="020F0502020204030204" pitchFamily="34" charset="0"/>
                <a:ea typeface="Calibri" panose="020F0502020204030204" pitchFamily="34" charset="0"/>
                <a:cs typeface="Arial" panose="020B0604020202020204" pitchFamily="34" charset="0"/>
              </a:rPr>
              <a:t>é</a:t>
            </a:r>
            <a:r>
              <a:rPr kumimoji="0" lang="es-ES" altLang="es-ES" sz="1200" b="1" i="1" u="none" strike="noStrike" cap="none" normalizeH="0" baseline="0" dirty="0" smtClean="0">
                <a:ln>
                  <a:noFill/>
                </a:ln>
                <a:solidFill>
                  <a:schemeClr val="bg1"/>
                </a:solidFill>
                <a:effectLst/>
                <a:ea typeface="Calibri" panose="020F0502020204030204" pitchFamily="34" charset="0"/>
                <a:cs typeface="Arial" panose="020B0604020202020204" pitchFamily="34" charset="0"/>
              </a:rPr>
              <a:t>dico de arriba (~320 </a:t>
            </a:r>
            <a:r>
              <a:rPr kumimoji="0" lang="es-ES" altLang="es-ES" sz="1200" b="1" i="1" u="none" strike="noStrike" cap="none" normalizeH="0" baseline="0" dirty="0" err="1" smtClean="0">
                <a:ln>
                  <a:noFill/>
                </a:ln>
                <a:solidFill>
                  <a:schemeClr val="bg1"/>
                </a:solidFill>
                <a:effectLst/>
                <a:ea typeface="Calibri" panose="020F0502020204030204" pitchFamily="34" charset="0"/>
                <a:cs typeface="Arial" panose="020B0604020202020204" pitchFamily="34" charset="0"/>
              </a:rPr>
              <a:t>tokens</a:t>
            </a:r>
            <a:r>
              <a:rPr kumimoji="0" lang="es-ES" altLang="es-ES" sz="1200" b="1" i="1" u="none" strike="noStrike" cap="none" normalizeH="0" baseline="0" dirty="0" smtClean="0">
                <a:ln>
                  <a:noFill/>
                </a:ln>
                <a:solidFill>
                  <a:schemeClr val="bg1"/>
                </a:solidFill>
                <a:effectLst/>
                <a:ea typeface="Calibri" panose="020F0502020204030204" pitchFamily="34" charset="0"/>
                <a:cs typeface="Arial" panose="020B0604020202020204" pitchFamily="34" charset="0"/>
              </a:rPr>
              <a:t>) suman un Total de Entrada de ~500 </a:t>
            </a:r>
            <a:r>
              <a:rPr kumimoji="0" lang="es-ES" altLang="es-ES" sz="1200" b="1" i="1" u="none" strike="noStrike" cap="none" normalizeH="0" baseline="0" dirty="0" err="1" smtClean="0">
                <a:ln>
                  <a:noFill/>
                </a:ln>
                <a:solidFill>
                  <a:schemeClr val="bg1"/>
                </a:solidFill>
                <a:effectLst/>
                <a:ea typeface="Calibri" panose="020F0502020204030204" pitchFamily="34" charset="0"/>
                <a:cs typeface="Arial" panose="020B0604020202020204" pitchFamily="34" charset="0"/>
              </a:rPr>
              <a:t>tokens</a:t>
            </a:r>
            <a:r>
              <a:rPr kumimoji="0" lang="es-ES" altLang="es-ES" sz="1200" b="1" i="1" u="none" strike="noStrike" cap="none" normalizeH="0" baseline="0" dirty="0" smtClean="0">
                <a:ln>
                  <a:noFill/>
                </a:ln>
                <a:solidFill>
                  <a:schemeClr val="bg1"/>
                </a:solidFill>
                <a:effectLst/>
                <a:ea typeface="Calibri" panose="020F0502020204030204" pitchFamily="34" charset="0"/>
                <a:cs typeface="Arial" panose="020B0604020202020204" pitchFamily="34" charset="0"/>
              </a:rPr>
              <a:t>.</a:t>
            </a:r>
            <a:endParaRPr kumimoji="0" lang="es-ES" altLang="es-ES" sz="1200" b="1" i="1" u="none" strike="noStrike" cap="none" normalizeH="0" baseline="0" dirty="0" smtClean="0">
              <a:ln>
                <a:noFill/>
              </a:ln>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457200" marR="0" lvl="1" indent="0" algn="l" defTabSz="914400" rtl="0" eaLnBrk="0" fontAlgn="base" latinLnBrk="0" hangingPunct="0">
              <a:lnSpc>
                <a:spcPct val="100000"/>
              </a:lnSpc>
              <a:spcBef>
                <a:spcPct val="0"/>
              </a:spcBef>
              <a:spcAft>
                <a:spcPct val="0"/>
              </a:spcAft>
              <a:buClrTx/>
              <a:buSzTx/>
              <a:buFont typeface="Symbol" panose="05050102010706020507" pitchFamily="18" charset="2"/>
              <a:buChar char=""/>
              <a:tabLst>
                <a:tab pos="457200" algn="l"/>
              </a:tabLst>
            </a:pPr>
            <a:r>
              <a:rPr kumimoji="0" lang="es-ES" altLang="es-ES" sz="1200" b="1" i="1" u="none" strike="noStrike" cap="none" normalizeH="0" baseline="0" dirty="0" smtClean="0">
                <a:ln>
                  <a:noFill/>
                </a:ln>
                <a:solidFill>
                  <a:schemeClr val="bg1"/>
                </a:solidFill>
                <a:effectLst/>
                <a:ea typeface="Calibri" panose="020F0502020204030204" pitchFamily="34" charset="0"/>
                <a:cs typeface="Arial" panose="020B0604020202020204" pitchFamily="34" charset="0"/>
              </a:rPr>
              <a:t>Impacto: Al haber bajado el l</a:t>
            </a:r>
            <a:r>
              <a:rPr kumimoji="0" lang="es-ES" altLang="es-ES" sz="1200" b="1" i="1" u="none" strike="noStrike" cap="none" normalizeH="0" baseline="0" dirty="0" smtClean="0">
                <a:ln>
                  <a:noFill/>
                </a:ln>
                <a:solidFill>
                  <a:schemeClr val="bg1"/>
                </a:solidFill>
                <a:effectLst/>
                <a:latin typeface="Calibri" panose="020F0502020204030204" pitchFamily="34" charset="0"/>
                <a:ea typeface="Calibri" panose="020F0502020204030204" pitchFamily="34" charset="0"/>
                <a:cs typeface="Arial" panose="020B0604020202020204" pitchFamily="34" charset="0"/>
              </a:rPr>
              <a:t>í</a:t>
            </a:r>
            <a:r>
              <a:rPr kumimoji="0" lang="es-ES" altLang="es-ES" sz="1200" b="1" i="1" u="none" strike="noStrike" cap="none" normalizeH="0" baseline="0" dirty="0" smtClean="0">
                <a:ln>
                  <a:noFill/>
                </a:ln>
                <a:solidFill>
                  <a:schemeClr val="bg1"/>
                </a:solidFill>
                <a:effectLst/>
                <a:ea typeface="Calibri" panose="020F0502020204030204" pitchFamily="34" charset="0"/>
                <a:cs typeface="Arial" panose="020B0604020202020204" pitchFamily="34" charset="0"/>
              </a:rPr>
              <a:t>mite de 2048 a 1024, el documento ocupa exactamente el 48% de la memoria asignada. Esto es perfecto: el modelo tiene una visi</a:t>
            </a:r>
            <a:r>
              <a:rPr kumimoji="0" lang="es-ES" altLang="es-ES" sz="1200" b="1" i="1" u="none" strike="noStrike" cap="none" normalizeH="0" baseline="0" dirty="0" smtClean="0">
                <a:ln>
                  <a:noFill/>
                </a:ln>
                <a:solidFill>
                  <a:schemeClr val="bg1"/>
                </a:solidFill>
                <a:effectLst/>
                <a:latin typeface="Calibri" panose="020F0502020204030204" pitchFamily="34" charset="0"/>
                <a:ea typeface="Calibri" panose="020F0502020204030204" pitchFamily="34" charset="0"/>
                <a:cs typeface="Arial" panose="020B0604020202020204" pitchFamily="34" charset="0"/>
              </a:rPr>
              <a:t>ó</a:t>
            </a:r>
            <a:r>
              <a:rPr kumimoji="0" lang="es-ES" altLang="es-ES" sz="1200" b="1" i="1" u="none" strike="noStrike" cap="none" normalizeH="0" baseline="0" dirty="0" smtClean="0">
                <a:ln>
                  <a:noFill/>
                </a:ln>
                <a:solidFill>
                  <a:schemeClr val="bg1"/>
                </a:solidFill>
                <a:effectLst/>
                <a:ea typeface="Calibri" panose="020F0502020204030204" pitchFamily="34" charset="0"/>
                <a:cs typeface="Arial" panose="020B0604020202020204" pitchFamily="34" charset="0"/>
              </a:rPr>
              <a:t>n completa de los 3 estudios (Cervical, Dorsal y Lumbar) a la vez, y le quedan libres m</a:t>
            </a:r>
            <a:r>
              <a:rPr kumimoji="0" lang="es-ES" altLang="es-ES" sz="1200" b="1" i="1" u="none" strike="noStrike" cap="none" normalizeH="0" baseline="0" dirty="0" smtClean="0">
                <a:ln>
                  <a:noFill/>
                </a:ln>
                <a:solidFill>
                  <a:schemeClr val="bg1"/>
                </a:solidFill>
                <a:effectLst/>
                <a:latin typeface="Calibri" panose="020F0502020204030204" pitchFamily="34" charset="0"/>
                <a:ea typeface="Calibri" panose="020F0502020204030204" pitchFamily="34" charset="0"/>
                <a:cs typeface="Arial" panose="020B0604020202020204" pitchFamily="34" charset="0"/>
              </a:rPr>
              <a:t>á</a:t>
            </a:r>
            <a:r>
              <a:rPr kumimoji="0" lang="es-ES" altLang="es-ES" sz="1200" b="1" i="1" u="none" strike="noStrike" cap="none" normalizeH="0" baseline="0" dirty="0" smtClean="0">
                <a:ln>
                  <a:noFill/>
                </a:ln>
                <a:solidFill>
                  <a:schemeClr val="bg1"/>
                </a:solidFill>
                <a:effectLst/>
                <a:ea typeface="Calibri" panose="020F0502020204030204" pitchFamily="34" charset="0"/>
                <a:cs typeface="Arial" panose="020B0604020202020204" pitchFamily="34" charset="0"/>
              </a:rPr>
              <a:t>s de 500 </a:t>
            </a:r>
            <a:r>
              <a:rPr kumimoji="0" lang="es-ES" altLang="es-ES" sz="1200" b="1" i="1" u="none" strike="noStrike" cap="none" normalizeH="0" baseline="0" dirty="0" err="1" smtClean="0">
                <a:ln>
                  <a:noFill/>
                </a:ln>
                <a:solidFill>
                  <a:schemeClr val="bg1"/>
                </a:solidFill>
                <a:effectLst/>
                <a:ea typeface="Calibri" panose="020F0502020204030204" pitchFamily="34" charset="0"/>
                <a:cs typeface="Arial" panose="020B0604020202020204" pitchFamily="34" charset="0"/>
              </a:rPr>
              <a:t>tokens</a:t>
            </a:r>
            <a:r>
              <a:rPr kumimoji="0" lang="es-ES" altLang="es-ES" sz="1200" b="1" i="1" u="none" strike="noStrike" cap="none" normalizeH="0" baseline="0" dirty="0" smtClean="0">
                <a:ln>
                  <a:noFill/>
                </a:ln>
                <a:solidFill>
                  <a:schemeClr val="bg1"/>
                </a:solidFill>
                <a:effectLst/>
                <a:ea typeface="Calibri" panose="020F0502020204030204" pitchFamily="34" charset="0"/>
                <a:cs typeface="Arial" panose="020B0604020202020204" pitchFamily="34" charset="0"/>
              </a:rPr>
              <a:t> de memoria para redactar la salida sin sufrir "amnesia".</a:t>
            </a:r>
            <a:endParaRPr kumimoji="0" lang="es-ES" altLang="es-ES" sz="1200" b="1" i="1" u="none" strike="noStrike" cap="none" normalizeH="0" baseline="0" dirty="0" smtClean="0">
              <a:ln>
                <a:noFill/>
              </a:ln>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Char char="•"/>
              <a:tabLst>
                <a:tab pos="457200" algn="l"/>
              </a:tabLst>
            </a:pPr>
            <a:r>
              <a:rPr kumimoji="0" lang="es-ES" altLang="es-ES" sz="1200" b="1" i="1" u="none" strike="noStrike" cap="none" normalizeH="0" baseline="0" dirty="0" err="1" smtClean="0">
                <a:ln>
                  <a:noFill/>
                </a:ln>
                <a:solidFill>
                  <a:schemeClr val="bg1"/>
                </a:solidFill>
                <a:effectLst/>
                <a:latin typeface="Arial Unicode MS"/>
                <a:ea typeface="Calibri" panose="020F0502020204030204" pitchFamily="34" charset="0"/>
                <a:cs typeface="Courier New" panose="02070309020205020404" pitchFamily="49" charset="0"/>
              </a:rPr>
              <a:t>temperature</a:t>
            </a:r>
            <a:r>
              <a:rPr kumimoji="0" lang="es-ES" altLang="es-ES" sz="1200" b="1" i="1" u="none" strike="noStrike" cap="none" normalizeH="0" baseline="0" dirty="0" smtClean="0">
                <a:ln>
                  <a:noFill/>
                </a:ln>
                <a:solidFill>
                  <a:schemeClr val="bg1"/>
                </a:solidFill>
                <a:effectLst/>
                <a:latin typeface="Arial Unicode MS"/>
                <a:ea typeface="Calibri" panose="020F0502020204030204" pitchFamily="34" charset="0"/>
                <a:cs typeface="Courier New" panose="02070309020205020404" pitchFamily="49" charset="0"/>
              </a:rPr>
              <a:t>: 0.0</a:t>
            </a:r>
            <a:r>
              <a:rPr kumimoji="0" lang="es-ES" altLang="es-ES" sz="1200" b="1" i="1" u="none" strike="noStrike" cap="none" normalizeH="0" baseline="0" dirty="0" smtClean="0">
                <a:ln>
                  <a:noFill/>
                </a:ln>
                <a:solidFill>
                  <a:schemeClr val="bg1"/>
                </a:solidFill>
                <a:effectLst/>
                <a:ea typeface="Calibri" panose="020F0502020204030204" pitchFamily="34" charset="0"/>
                <a:cs typeface="Arial" panose="020B0604020202020204" pitchFamily="34" charset="0"/>
              </a:rPr>
              <a:t> (Creatividad Cero):</a:t>
            </a:r>
            <a:endParaRPr kumimoji="0" lang="es-ES" altLang="es-ES" sz="1200" b="1" i="1" u="none" strike="noStrike" cap="none" normalizeH="0" baseline="0" dirty="0" smtClean="0">
              <a:ln>
                <a:noFill/>
              </a:ln>
              <a:solidFill>
                <a:schemeClr val="bg1"/>
              </a:solidFill>
              <a:effectLst/>
              <a:latin typeface="Arial Unicode MS"/>
              <a:ea typeface="Calibri" panose="020F0502020204030204" pitchFamily="34" charset="0"/>
              <a:cs typeface="Courier New" panose="02070309020205020404" pitchFamily="49" charset="0"/>
            </a:endParaRPr>
          </a:p>
          <a:p>
            <a:pPr marL="457200" marR="0" lvl="1" indent="0" algn="l" defTabSz="914400" rtl="0" eaLnBrk="0" fontAlgn="base" latinLnBrk="0" hangingPunct="0">
              <a:lnSpc>
                <a:spcPct val="100000"/>
              </a:lnSpc>
              <a:spcBef>
                <a:spcPct val="0"/>
              </a:spcBef>
              <a:spcAft>
                <a:spcPct val="0"/>
              </a:spcAft>
              <a:buClrTx/>
              <a:buSzTx/>
              <a:buFont typeface="Symbol" panose="05050102010706020507" pitchFamily="18" charset="2"/>
              <a:buChar char=""/>
              <a:tabLst>
                <a:tab pos="457200" algn="l"/>
              </a:tabLst>
            </a:pPr>
            <a:r>
              <a:rPr kumimoji="0" lang="es-ES" altLang="es-ES" sz="1200" b="1" i="1" u="none" strike="noStrike" cap="none" normalizeH="0" baseline="0" dirty="0" smtClean="0">
                <a:ln>
                  <a:noFill/>
                </a:ln>
                <a:solidFill>
                  <a:schemeClr val="bg1"/>
                </a:solidFill>
                <a:effectLst/>
                <a:ea typeface="Calibri" panose="020F0502020204030204" pitchFamily="34" charset="0"/>
                <a:cs typeface="Arial" panose="020B0604020202020204" pitchFamily="34" charset="0"/>
              </a:rPr>
              <a:t>Impacto: Obliga al modelo a ser estrictamente literal y matem</a:t>
            </a:r>
            <a:r>
              <a:rPr kumimoji="0" lang="es-ES" altLang="es-ES" sz="1200" b="1" i="1" u="none" strike="noStrike" cap="none" normalizeH="0" baseline="0" dirty="0" smtClean="0">
                <a:ln>
                  <a:noFill/>
                </a:ln>
                <a:solidFill>
                  <a:schemeClr val="bg1"/>
                </a:solidFill>
                <a:effectLst/>
                <a:latin typeface="Calibri" panose="020F0502020204030204" pitchFamily="34" charset="0"/>
                <a:ea typeface="Calibri" panose="020F0502020204030204" pitchFamily="34" charset="0"/>
                <a:cs typeface="Arial" panose="020B0604020202020204" pitchFamily="34" charset="0"/>
              </a:rPr>
              <a:t>á</a:t>
            </a:r>
            <a:r>
              <a:rPr kumimoji="0" lang="es-ES" altLang="es-ES" sz="1200" b="1" i="1" u="none" strike="noStrike" cap="none" normalizeH="0" baseline="0" dirty="0" smtClean="0">
                <a:ln>
                  <a:noFill/>
                </a:ln>
                <a:solidFill>
                  <a:schemeClr val="bg1"/>
                </a:solidFill>
                <a:effectLst/>
                <a:ea typeface="Calibri" panose="020F0502020204030204" pitchFamily="34" charset="0"/>
                <a:cs typeface="Arial" panose="020B0604020202020204" pitchFamily="34" charset="0"/>
              </a:rPr>
              <a:t>tico. En medicina esto es vital: evita que invente diagn</a:t>
            </a:r>
            <a:r>
              <a:rPr kumimoji="0" lang="es-ES" altLang="es-ES" sz="1200" b="1" i="1" u="none" strike="noStrike" cap="none" normalizeH="0" baseline="0" dirty="0" smtClean="0">
                <a:ln>
                  <a:noFill/>
                </a:ln>
                <a:solidFill>
                  <a:schemeClr val="bg1"/>
                </a:solidFill>
                <a:effectLst/>
                <a:latin typeface="Calibri" panose="020F0502020204030204" pitchFamily="34" charset="0"/>
                <a:ea typeface="Calibri" panose="020F0502020204030204" pitchFamily="34" charset="0"/>
                <a:cs typeface="Arial" panose="020B0604020202020204" pitchFamily="34" charset="0"/>
              </a:rPr>
              <a:t>ó</a:t>
            </a:r>
            <a:r>
              <a:rPr kumimoji="0" lang="es-ES" altLang="es-ES" sz="1200" b="1" i="1" u="none" strike="noStrike" cap="none" normalizeH="0" baseline="0" dirty="0" smtClean="0">
                <a:ln>
                  <a:noFill/>
                </a:ln>
                <a:solidFill>
                  <a:schemeClr val="bg1"/>
                </a:solidFill>
                <a:effectLst/>
                <a:ea typeface="Calibri" panose="020F0502020204030204" pitchFamily="34" charset="0"/>
                <a:cs typeface="Arial" panose="020B0604020202020204" pitchFamily="34" charset="0"/>
              </a:rPr>
              <a:t>sticos (alucinaciones) o que redacte de forma po</a:t>
            </a:r>
            <a:r>
              <a:rPr kumimoji="0" lang="es-ES" altLang="es-ES" sz="1200" b="1" i="1" u="none" strike="noStrike" cap="none" normalizeH="0" baseline="0" dirty="0" smtClean="0">
                <a:ln>
                  <a:noFill/>
                </a:ln>
                <a:solidFill>
                  <a:schemeClr val="bg1"/>
                </a:solidFill>
                <a:effectLst/>
                <a:latin typeface="Calibri" panose="020F0502020204030204" pitchFamily="34" charset="0"/>
                <a:ea typeface="Calibri" panose="020F0502020204030204" pitchFamily="34" charset="0"/>
                <a:cs typeface="Arial" panose="020B0604020202020204" pitchFamily="34" charset="0"/>
              </a:rPr>
              <a:t>é</a:t>
            </a:r>
            <a:r>
              <a:rPr kumimoji="0" lang="es-ES" altLang="es-ES" sz="1200" b="1" i="1" u="none" strike="noStrike" cap="none" normalizeH="0" baseline="0" dirty="0" smtClean="0">
                <a:ln>
                  <a:noFill/>
                </a:ln>
                <a:solidFill>
                  <a:schemeClr val="bg1"/>
                </a:solidFill>
                <a:effectLst/>
                <a:ea typeface="Calibri" panose="020F0502020204030204" pitchFamily="34" charset="0"/>
                <a:cs typeface="Arial" panose="020B0604020202020204" pitchFamily="34" charset="0"/>
              </a:rPr>
              <a:t>tica. Si procesas el mismo informe 100 veces, las 100 veces obtendr</a:t>
            </a:r>
            <a:r>
              <a:rPr kumimoji="0" lang="es-ES" altLang="es-ES" sz="1200" b="1" i="1" u="none" strike="noStrike" cap="none" normalizeH="0" baseline="0" dirty="0" smtClean="0">
                <a:ln>
                  <a:noFill/>
                </a:ln>
                <a:solidFill>
                  <a:schemeClr val="bg1"/>
                </a:solidFill>
                <a:effectLst/>
                <a:latin typeface="Calibri" panose="020F0502020204030204" pitchFamily="34" charset="0"/>
                <a:ea typeface="Calibri" panose="020F0502020204030204" pitchFamily="34" charset="0"/>
                <a:cs typeface="Arial" panose="020B0604020202020204" pitchFamily="34" charset="0"/>
              </a:rPr>
              <a:t>á</a:t>
            </a:r>
            <a:r>
              <a:rPr kumimoji="0" lang="es-ES" altLang="es-ES" sz="1200" b="1" i="1" u="none" strike="noStrike" cap="none" normalizeH="0" baseline="0" dirty="0" smtClean="0">
                <a:ln>
                  <a:noFill/>
                </a:ln>
                <a:solidFill>
                  <a:schemeClr val="bg1"/>
                </a:solidFill>
                <a:effectLst/>
                <a:ea typeface="Calibri" panose="020F0502020204030204" pitchFamily="34" charset="0"/>
                <a:cs typeface="Arial" panose="020B0604020202020204" pitchFamily="34" charset="0"/>
              </a:rPr>
              <a:t>s exactamente el mismo JSON.</a:t>
            </a:r>
            <a:endParaRPr kumimoji="0" lang="es-ES" altLang="es-ES" sz="1200" b="1" i="1" u="none" strike="noStrike" cap="none" normalizeH="0" baseline="0" dirty="0" smtClean="0">
              <a:ln>
                <a:noFill/>
              </a:ln>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Char char="•"/>
              <a:tabLst>
                <a:tab pos="457200" algn="l"/>
              </a:tabLst>
            </a:pPr>
            <a:r>
              <a:rPr kumimoji="0" lang="es-ES" altLang="es-ES" sz="1200" b="1" i="1" u="none" strike="noStrike" cap="none" normalizeH="0" baseline="0" dirty="0" err="1" smtClean="0">
                <a:ln>
                  <a:noFill/>
                </a:ln>
                <a:solidFill>
                  <a:schemeClr val="bg1"/>
                </a:solidFill>
                <a:effectLst/>
                <a:latin typeface="Arial Unicode MS"/>
                <a:ea typeface="Calibri" panose="020F0502020204030204" pitchFamily="34" charset="0"/>
                <a:cs typeface="Courier New" panose="02070309020205020404" pitchFamily="49" charset="0"/>
              </a:rPr>
              <a:t>num_predict</a:t>
            </a:r>
            <a:r>
              <a:rPr kumimoji="0" lang="es-ES" altLang="es-ES" sz="1200" b="1" i="1" u="none" strike="noStrike" cap="none" normalizeH="0" baseline="0" dirty="0" smtClean="0">
                <a:ln>
                  <a:noFill/>
                </a:ln>
                <a:solidFill>
                  <a:schemeClr val="bg1"/>
                </a:solidFill>
                <a:effectLst/>
                <a:latin typeface="Arial Unicode MS"/>
                <a:ea typeface="Calibri" panose="020F0502020204030204" pitchFamily="34" charset="0"/>
                <a:cs typeface="Courier New" panose="02070309020205020404" pitchFamily="49" charset="0"/>
              </a:rPr>
              <a:t>: 512</a:t>
            </a:r>
            <a:r>
              <a:rPr kumimoji="0" lang="es-ES" altLang="es-ES" sz="1200" b="1" i="1" u="none" strike="noStrike" cap="none" normalizeH="0" baseline="0" dirty="0" smtClean="0">
                <a:ln>
                  <a:noFill/>
                </a:ln>
                <a:solidFill>
                  <a:schemeClr val="bg1"/>
                </a:solidFill>
                <a:effectLst/>
                <a:ea typeface="Calibri" panose="020F0502020204030204" pitchFamily="34" charset="0"/>
                <a:cs typeface="Arial" panose="020B0604020202020204" pitchFamily="34" charset="0"/>
              </a:rPr>
              <a:t> (L</a:t>
            </a:r>
            <a:r>
              <a:rPr kumimoji="0" lang="es-ES" altLang="es-ES" sz="1200" b="1" i="1" u="none" strike="noStrike" cap="none" normalizeH="0" baseline="0" dirty="0" smtClean="0">
                <a:ln>
                  <a:noFill/>
                </a:ln>
                <a:solidFill>
                  <a:schemeClr val="bg1"/>
                </a:solidFill>
                <a:effectLst/>
                <a:latin typeface="Courier New" panose="02070309020205020404" pitchFamily="49" charset="0"/>
                <a:ea typeface="Calibri" panose="020F0502020204030204" pitchFamily="34" charset="0"/>
                <a:cs typeface="Arial" panose="020B0604020202020204" pitchFamily="34" charset="0"/>
              </a:rPr>
              <a:t>í</a:t>
            </a:r>
            <a:r>
              <a:rPr kumimoji="0" lang="es-ES" altLang="es-ES" sz="1200" b="1" i="1" u="none" strike="noStrike" cap="none" normalizeH="0" baseline="0" dirty="0" smtClean="0">
                <a:ln>
                  <a:noFill/>
                </a:ln>
                <a:solidFill>
                  <a:schemeClr val="bg1"/>
                </a:solidFill>
                <a:effectLst/>
                <a:ea typeface="Calibri" panose="020F0502020204030204" pitchFamily="34" charset="0"/>
                <a:cs typeface="Arial" panose="020B0604020202020204" pitchFamily="34" charset="0"/>
              </a:rPr>
              <a:t>mite de Salida):</a:t>
            </a:r>
            <a:endParaRPr kumimoji="0" lang="es-ES" altLang="es-ES" sz="1200" b="1" i="1" u="none" strike="noStrike" cap="none" normalizeH="0" baseline="0" dirty="0" smtClean="0">
              <a:ln>
                <a:noFill/>
              </a:ln>
              <a:solidFill>
                <a:schemeClr val="bg1"/>
              </a:solidFill>
              <a:effectLst/>
              <a:latin typeface="Arial Unicode MS"/>
              <a:ea typeface="Calibri" panose="020F0502020204030204" pitchFamily="34" charset="0"/>
              <a:cs typeface="Courier New" panose="02070309020205020404" pitchFamily="49" charset="0"/>
            </a:endParaRPr>
          </a:p>
          <a:p>
            <a:pPr marL="457200" marR="0" lvl="1" indent="0" algn="l" defTabSz="914400" rtl="0" eaLnBrk="0" fontAlgn="base" latinLnBrk="0" hangingPunct="0">
              <a:lnSpc>
                <a:spcPct val="100000"/>
              </a:lnSpc>
              <a:spcBef>
                <a:spcPct val="0"/>
              </a:spcBef>
              <a:spcAft>
                <a:spcPct val="0"/>
              </a:spcAft>
              <a:buClrTx/>
              <a:buSzTx/>
              <a:buFont typeface="Symbol" panose="05050102010706020507" pitchFamily="18" charset="2"/>
              <a:buChar char=""/>
              <a:tabLst>
                <a:tab pos="457200" algn="l"/>
              </a:tabLst>
            </a:pPr>
            <a:r>
              <a:rPr kumimoji="0" lang="es-ES" altLang="es-ES" sz="1200" b="1" i="1" u="none" strike="noStrike" cap="none" normalizeH="0" baseline="0" dirty="0" smtClean="0">
                <a:ln>
                  <a:noFill/>
                </a:ln>
                <a:solidFill>
                  <a:schemeClr val="bg1"/>
                </a:solidFill>
                <a:effectLst/>
                <a:ea typeface="Calibri" panose="020F0502020204030204" pitchFamily="34" charset="0"/>
                <a:cs typeface="Arial" panose="020B0604020202020204" pitchFamily="34" charset="0"/>
              </a:rPr>
              <a:t>Impacto: Le permite al modelo generar una respuesta de hasta 512 </a:t>
            </a:r>
            <a:r>
              <a:rPr kumimoji="0" lang="es-ES" altLang="es-ES" sz="1200" b="1" i="1" u="none" strike="noStrike" cap="none" normalizeH="0" baseline="0" dirty="0" err="1" smtClean="0">
                <a:ln>
                  <a:noFill/>
                </a:ln>
                <a:solidFill>
                  <a:schemeClr val="bg1"/>
                </a:solidFill>
                <a:effectLst/>
                <a:ea typeface="Calibri" panose="020F0502020204030204" pitchFamily="34" charset="0"/>
                <a:cs typeface="Arial" panose="020B0604020202020204" pitchFamily="34" charset="0"/>
              </a:rPr>
              <a:t>tokens</a:t>
            </a:r>
            <a:r>
              <a:rPr kumimoji="0" lang="es-ES" altLang="es-ES" sz="1200" b="1" i="1" u="none" strike="noStrike" cap="none" normalizeH="0" baseline="0" dirty="0" smtClean="0">
                <a:ln>
                  <a:noFill/>
                </a:ln>
                <a:solidFill>
                  <a:schemeClr val="bg1"/>
                </a:solidFill>
                <a:effectLst/>
                <a:ea typeface="Calibri" panose="020F0502020204030204" pitchFamily="34" charset="0"/>
                <a:cs typeface="Arial" panose="020B0604020202020204" pitchFamily="34" charset="0"/>
              </a:rPr>
              <a:t>. Como el JSON resultante de este informe consume aproximadamente 340 </a:t>
            </a:r>
            <a:r>
              <a:rPr kumimoji="0" lang="es-ES" altLang="es-ES" sz="1200" b="1" i="1" u="none" strike="noStrike" cap="none" normalizeH="0" baseline="0" dirty="0" err="1" smtClean="0">
                <a:ln>
                  <a:noFill/>
                </a:ln>
                <a:solidFill>
                  <a:schemeClr val="bg1"/>
                </a:solidFill>
                <a:effectLst/>
                <a:ea typeface="Calibri" panose="020F0502020204030204" pitchFamily="34" charset="0"/>
                <a:cs typeface="Arial" panose="020B0604020202020204" pitchFamily="34" charset="0"/>
              </a:rPr>
              <a:t>tokens</a:t>
            </a:r>
            <a:r>
              <a:rPr kumimoji="0" lang="es-ES" altLang="es-ES" sz="1200" b="1" i="1" u="none" strike="noStrike" cap="none" normalizeH="0" baseline="0" dirty="0" smtClean="0">
                <a:ln>
                  <a:noFill/>
                </a:ln>
                <a:solidFill>
                  <a:schemeClr val="bg1"/>
                </a:solidFill>
                <a:effectLst/>
                <a:ea typeface="Calibri" panose="020F0502020204030204" pitchFamily="34" charset="0"/>
                <a:cs typeface="Arial" panose="020B0604020202020204" pitchFamily="34" charset="0"/>
              </a:rPr>
              <a:t>, el l</a:t>
            </a:r>
            <a:r>
              <a:rPr kumimoji="0" lang="es-ES" altLang="es-ES" sz="1200" b="1" i="1" u="none" strike="noStrike" cap="none" normalizeH="0" baseline="0" dirty="0" smtClean="0">
                <a:ln>
                  <a:noFill/>
                </a:ln>
                <a:solidFill>
                  <a:schemeClr val="bg1"/>
                </a:solidFill>
                <a:effectLst/>
                <a:latin typeface="Calibri" panose="020F0502020204030204" pitchFamily="34" charset="0"/>
                <a:ea typeface="Calibri" panose="020F0502020204030204" pitchFamily="34" charset="0"/>
                <a:cs typeface="Arial" panose="020B0604020202020204" pitchFamily="34" charset="0"/>
              </a:rPr>
              <a:t>í</a:t>
            </a:r>
            <a:r>
              <a:rPr kumimoji="0" lang="es-ES" altLang="es-ES" sz="1200" b="1" i="1" u="none" strike="noStrike" cap="none" normalizeH="0" baseline="0" dirty="0" smtClean="0">
                <a:ln>
                  <a:noFill/>
                </a:ln>
                <a:solidFill>
                  <a:schemeClr val="bg1"/>
                </a:solidFill>
                <a:effectLst/>
                <a:ea typeface="Calibri" panose="020F0502020204030204" pitchFamily="34" charset="0"/>
                <a:cs typeface="Arial" panose="020B0604020202020204" pitchFamily="34" charset="0"/>
              </a:rPr>
              <a:t>mite de 512 es m</a:t>
            </a:r>
            <a:r>
              <a:rPr kumimoji="0" lang="es-ES" altLang="es-ES" sz="1200" b="1" i="1" u="none" strike="noStrike" cap="none" normalizeH="0" baseline="0" dirty="0" smtClean="0">
                <a:ln>
                  <a:noFill/>
                </a:ln>
                <a:solidFill>
                  <a:schemeClr val="bg1"/>
                </a:solidFill>
                <a:effectLst/>
                <a:latin typeface="Calibri" panose="020F0502020204030204" pitchFamily="34" charset="0"/>
                <a:ea typeface="Calibri" panose="020F0502020204030204" pitchFamily="34" charset="0"/>
                <a:cs typeface="Arial" panose="020B0604020202020204" pitchFamily="34" charset="0"/>
              </a:rPr>
              <a:t>á</a:t>
            </a:r>
            <a:r>
              <a:rPr kumimoji="0" lang="es-ES" altLang="es-ES" sz="1200" b="1" i="1" u="none" strike="noStrike" cap="none" normalizeH="0" baseline="0" dirty="0" smtClean="0">
                <a:ln>
                  <a:noFill/>
                </a:ln>
                <a:solidFill>
                  <a:schemeClr val="bg1"/>
                </a:solidFill>
                <a:effectLst/>
                <a:ea typeface="Calibri" panose="020F0502020204030204" pitchFamily="34" charset="0"/>
                <a:cs typeface="Arial" panose="020B0604020202020204" pitchFamily="34" charset="0"/>
              </a:rPr>
              <a:t>s que suficiente para garantizar que la respuesta no se corte por la mitad.</a:t>
            </a:r>
            <a:endParaRPr kumimoji="0" lang="es-ES" altLang="es-ES" sz="1200" b="1" i="1" u="none" strike="noStrike" cap="none" normalizeH="0" baseline="0" dirty="0" smtClean="0">
              <a:ln>
                <a:noFill/>
              </a:ln>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Char char="•"/>
              <a:tabLst>
                <a:tab pos="457200" algn="l"/>
              </a:tabLst>
            </a:pPr>
            <a:r>
              <a:rPr kumimoji="0" lang="es-ES" altLang="es-ES" sz="1200" b="1" i="1" u="none" strike="noStrike" cap="none" normalizeH="0" baseline="0" dirty="0" err="1" smtClean="0">
                <a:ln>
                  <a:noFill/>
                </a:ln>
                <a:solidFill>
                  <a:schemeClr val="bg1"/>
                </a:solidFill>
                <a:effectLst/>
                <a:latin typeface="Arial Unicode MS"/>
                <a:ea typeface="Calibri" panose="020F0502020204030204" pitchFamily="34" charset="0"/>
                <a:cs typeface="Courier New" panose="02070309020205020404" pitchFamily="49" charset="0"/>
              </a:rPr>
              <a:t>format</a:t>
            </a:r>
            <a:r>
              <a:rPr kumimoji="0" lang="es-ES" altLang="es-ES" sz="1200" b="1" i="1" u="none" strike="noStrike" cap="none" normalizeH="0" baseline="0" dirty="0" smtClean="0">
                <a:ln>
                  <a:noFill/>
                </a:ln>
                <a:solidFill>
                  <a:schemeClr val="bg1"/>
                </a:solidFill>
                <a:effectLst/>
                <a:latin typeface="Arial Unicode MS"/>
                <a:ea typeface="Calibri" panose="020F0502020204030204" pitchFamily="34" charset="0"/>
                <a:cs typeface="Courier New" panose="02070309020205020404" pitchFamily="49" charset="0"/>
              </a:rPr>
              <a:t>: </a:t>
            </a:r>
            <a:r>
              <a:rPr kumimoji="0" lang="es-ES" altLang="es-ES" sz="1200" b="1" i="1" u="none" strike="noStrike" cap="none" normalizeH="0" baseline="0" dirty="0" err="1" smtClean="0">
                <a:ln>
                  <a:noFill/>
                </a:ln>
                <a:solidFill>
                  <a:schemeClr val="bg1"/>
                </a:solidFill>
                <a:effectLst/>
                <a:latin typeface="Arial Unicode MS"/>
                <a:ea typeface="Calibri" panose="020F0502020204030204" pitchFamily="34" charset="0"/>
                <a:cs typeface="Courier New" panose="02070309020205020404" pitchFamily="49" charset="0"/>
              </a:rPr>
              <a:t>json</a:t>
            </a:r>
            <a:r>
              <a:rPr kumimoji="0" lang="es-ES" altLang="es-ES" sz="1200" b="1" i="1" u="none" strike="noStrike" cap="none" normalizeH="0" baseline="0" dirty="0" smtClean="0">
                <a:ln>
                  <a:noFill/>
                </a:ln>
                <a:solidFill>
                  <a:schemeClr val="bg1"/>
                </a:solidFill>
                <a:effectLst/>
                <a:ea typeface="Calibri" panose="020F0502020204030204" pitchFamily="34" charset="0"/>
                <a:cs typeface="Arial" panose="020B0604020202020204" pitchFamily="34" charset="0"/>
              </a:rPr>
              <a:t> + </a:t>
            </a:r>
            <a:r>
              <a:rPr kumimoji="0" lang="es-ES" altLang="es-ES" sz="1200" b="1" i="1" u="none" strike="noStrike" cap="none" normalizeH="0" baseline="0" dirty="0" err="1" smtClean="0">
                <a:ln>
                  <a:noFill/>
                </a:ln>
                <a:solidFill>
                  <a:schemeClr val="bg1"/>
                </a:solidFill>
                <a:effectLst/>
                <a:latin typeface="Arial Unicode MS"/>
                <a:ea typeface="Calibri" panose="020F0502020204030204" pitchFamily="34" charset="0"/>
                <a:cs typeface="Courier New" panose="02070309020205020404" pitchFamily="49" charset="0"/>
              </a:rPr>
              <a:t>model</a:t>
            </a:r>
            <a:r>
              <a:rPr kumimoji="0" lang="es-ES" altLang="es-ES" sz="1200" b="1" i="1" u="none" strike="noStrike" cap="none" normalizeH="0" baseline="0" dirty="0" smtClean="0">
                <a:ln>
                  <a:noFill/>
                </a:ln>
                <a:solidFill>
                  <a:schemeClr val="bg1"/>
                </a:solidFill>
                <a:effectLst/>
                <a:latin typeface="Arial Unicode MS"/>
                <a:ea typeface="Calibri" panose="020F0502020204030204" pitchFamily="34" charset="0"/>
                <a:cs typeface="Courier New" panose="02070309020205020404" pitchFamily="49" charset="0"/>
              </a:rPr>
              <a:t>: llama3.2:3b</a:t>
            </a:r>
            <a:r>
              <a:rPr kumimoji="0" lang="es-ES" altLang="es-ES" sz="1200" b="1" i="1" u="none" strike="noStrike" cap="none" normalizeH="0" baseline="0" dirty="0" smtClean="0">
                <a:ln>
                  <a:noFill/>
                </a:ln>
                <a:solidFill>
                  <a:schemeClr val="bg1"/>
                </a:solidFill>
                <a:effectLst/>
                <a:ea typeface="Calibri" panose="020F0502020204030204" pitchFamily="34" charset="0"/>
                <a:cs typeface="Arial" panose="020B0604020202020204" pitchFamily="34" charset="0"/>
              </a:rPr>
              <a:t>:</a:t>
            </a:r>
            <a:endParaRPr kumimoji="0" lang="es-ES" altLang="es-ES" sz="1200" b="1" i="1" u="none" strike="noStrike" cap="none" normalizeH="0" baseline="0" dirty="0" smtClean="0">
              <a:ln>
                <a:noFill/>
              </a:ln>
              <a:solidFill>
                <a:schemeClr val="bg1"/>
              </a:solidFill>
              <a:effectLst/>
              <a:latin typeface="Arial Unicode MS"/>
              <a:ea typeface="Calibri" panose="020F0502020204030204" pitchFamily="34" charset="0"/>
              <a:cs typeface="Courier New" panose="02070309020205020404" pitchFamily="49" charset="0"/>
            </a:endParaRPr>
          </a:p>
          <a:p>
            <a:pPr marL="457200" marR="0" lvl="1" indent="0" algn="l" defTabSz="914400" rtl="0" eaLnBrk="0" fontAlgn="base" latinLnBrk="0" hangingPunct="0">
              <a:lnSpc>
                <a:spcPct val="100000"/>
              </a:lnSpc>
              <a:spcBef>
                <a:spcPct val="0"/>
              </a:spcBef>
              <a:spcAft>
                <a:spcPct val="0"/>
              </a:spcAft>
              <a:buClrTx/>
              <a:buSzTx/>
              <a:buFont typeface="Symbol" panose="05050102010706020507" pitchFamily="18" charset="2"/>
              <a:buChar char=""/>
              <a:tabLst>
                <a:tab pos="457200" algn="l"/>
              </a:tabLst>
            </a:pPr>
            <a:r>
              <a:rPr kumimoji="0" lang="es-ES" altLang="es-ES" sz="1200" b="1" i="1" u="none" strike="noStrike" cap="none" normalizeH="0" baseline="0" dirty="0" smtClean="0">
                <a:ln>
                  <a:noFill/>
                </a:ln>
                <a:solidFill>
                  <a:schemeClr val="bg1"/>
                </a:solidFill>
                <a:effectLst/>
                <a:ea typeface="Calibri" panose="020F0502020204030204" pitchFamily="34" charset="0"/>
                <a:cs typeface="Arial" panose="020B0604020202020204" pitchFamily="34" charset="0"/>
              </a:rPr>
              <a:t>Impacto: El par</a:t>
            </a:r>
            <a:r>
              <a:rPr kumimoji="0" lang="es-ES" altLang="es-ES" sz="1200" b="1" i="1" u="none" strike="noStrike" cap="none" normalizeH="0" baseline="0" dirty="0" smtClean="0">
                <a:ln>
                  <a:noFill/>
                </a:ln>
                <a:solidFill>
                  <a:schemeClr val="bg1"/>
                </a:solidFill>
                <a:effectLst/>
                <a:latin typeface="Calibri" panose="020F0502020204030204" pitchFamily="34" charset="0"/>
                <a:ea typeface="Calibri" panose="020F0502020204030204" pitchFamily="34" charset="0"/>
                <a:cs typeface="Arial" panose="020B0604020202020204" pitchFamily="34" charset="0"/>
              </a:rPr>
              <a:t>á</a:t>
            </a:r>
            <a:r>
              <a:rPr kumimoji="0" lang="es-ES" altLang="es-ES" sz="1200" b="1" i="1" u="none" strike="noStrike" cap="none" normalizeH="0" baseline="0" dirty="0" smtClean="0">
                <a:ln>
                  <a:noFill/>
                </a:ln>
                <a:solidFill>
                  <a:schemeClr val="bg1"/>
                </a:solidFill>
                <a:effectLst/>
                <a:ea typeface="Calibri" panose="020F0502020204030204" pitchFamily="34" charset="0"/>
                <a:cs typeface="Arial" panose="020B0604020202020204" pitchFamily="34" charset="0"/>
              </a:rPr>
              <a:t>metro fuerza a los circuitos de Llama 3.2 a estructurar los caracteres exclusivamente bajo la sintaxis de llaves </a:t>
            </a:r>
            <a:r>
              <a:rPr kumimoji="0" lang="es-ES" altLang="es-ES" sz="1200" b="1" i="1" u="none" strike="noStrike" cap="none" normalizeH="0" baseline="0" dirty="0" smtClean="0">
                <a:ln>
                  <a:noFill/>
                </a:ln>
                <a:solidFill>
                  <a:schemeClr val="bg1"/>
                </a:solidFill>
                <a:effectLst/>
                <a:latin typeface="Arial Unicode MS"/>
                <a:ea typeface="Calibri" panose="020F0502020204030204" pitchFamily="34" charset="0"/>
                <a:cs typeface="Courier New" panose="02070309020205020404" pitchFamily="49" charset="0"/>
              </a:rPr>
              <a:t>{}</a:t>
            </a:r>
            <a:r>
              <a:rPr kumimoji="0" lang="es-ES" altLang="es-ES" sz="1200" b="1" i="1" u="none" strike="noStrike" cap="none" normalizeH="0" baseline="0" dirty="0" smtClean="0">
                <a:ln>
                  <a:noFill/>
                </a:ln>
                <a:solidFill>
                  <a:schemeClr val="bg1"/>
                </a:solidFill>
                <a:effectLst/>
                <a:ea typeface="Calibri" panose="020F0502020204030204" pitchFamily="34" charset="0"/>
                <a:cs typeface="Arial" panose="020B0604020202020204" pitchFamily="34" charset="0"/>
              </a:rPr>
              <a:t>, descalificando cualquier palabra que intente salirse del formato.</a:t>
            </a:r>
            <a:endParaRPr kumimoji="0" lang="es-ES" altLang="es-ES" sz="1200" b="0" i="0" u="none" strike="noStrike" cap="none" normalizeH="0" baseline="0" dirty="0" smtClean="0">
              <a:ln>
                <a:noFill/>
              </a:ln>
              <a:solidFill>
                <a:schemeClr val="bg1"/>
              </a:solidFill>
              <a:effectLst/>
            </a:endParaRPr>
          </a:p>
        </p:txBody>
      </p:sp>
      <p:sp>
        <p:nvSpPr>
          <p:cNvPr id="15" name="CuadroTexto 14"/>
          <p:cNvSpPr txBox="1"/>
          <p:nvPr/>
        </p:nvSpPr>
        <p:spPr>
          <a:xfrm flipH="1">
            <a:off x="457200" y="153015"/>
            <a:ext cx="3551496" cy="461665"/>
          </a:xfrm>
          <a:prstGeom prst="rect">
            <a:avLst/>
          </a:prstGeom>
          <a:noFill/>
        </p:spPr>
        <p:txBody>
          <a:bodyPr wrap="square" rtlCol="0">
            <a:spAutoFit/>
          </a:bodyPr>
          <a:lstStyle/>
          <a:p>
            <a:r>
              <a:rPr lang="es-ES" altLang="es-ES" sz="2400" b="1" dirty="0">
                <a:solidFill>
                  <a:schemeClr val="bg1"/>
                </a:solidFill>
                <a:ea typeface="Calibri" panose="020F0502020204030204" pitchFamily="34" charset="0"/>
                <a:cs typeface="Arial" panose="020B0604020202020204" pitchFamily="34" charset="0"/>
              </a:rPr>
              <a:t>An</a:t>
            </a:r>
            <a:r>
              <a:rPr lang="es-ES" altLang="es-ES" sz="2400" b="1" dirty="0">
                <a:solidFill>
                  <a:schemeClr val="bg1"/>
                </a:solidFill>
                <a:latin typeface="Calibri" panose="020F0502020204030204" pitchFamily="34" charset="0"/>
                <a:ea typeface="Calibri" panose="020F0502020204030204" pitchFamily="34" charset="0"/>
                <a:cs typeface="Arial" panose="020B0604020202020204" pitchFamily="34" charset="0"/>
              </a:rPr>
              <a:t>á</a:t>
            </a:r>
            <a:r>
              <a:rPr lang="es-ES" altLang="es-ES" sz="2400" b="1" dirty="0">
                <a:solidFill>
                  <a:schemeClr val="bg1"/>
                </a:solidFill>
                <a:ea typeface="Calibri" panose="020F0502020204030204" pitchFamily="34" charset="0"/>
                <a:cs typeface="Arial" panose="020B0604020202020204" pitchFamily="34" charset="0"/>
              </a:rPr>
              <a:t>lisis de Par</a:t>
            </a:r>
            <a:r>
              <a:rPr lang="es-ES" altLang="es-ES" sz="2400" b="1" dirty="0">
                <a:solidFill>
                  <a:schemeClr val="bg1"/>
                </a:solidFill>
                <a:latin typeface="Calibri" panose="020F0502020204030204" pitchFamily="34" charset="0"/>
                <a:ea typeface="Calibri" panose="020F0502020204030204" pitchFamily="34" charset="0"/>
                <a:cs typeface="Arial" panose="020B0604020202020204" pitchFamily="34" charset="0"/>
              </a:rPr>
              <a:t>á</a:t>
            </a:r>
            <a:r>
              <a:rPr lang="es-ES" altLang="es-ES" sz="2400" b="1" dirty="0">
                <a:solidFill>
                  <a:schemeClr val="bg1"/>
                </a:solidFill>
                <a:ea typeface="Calibri" panose="020F0502020204030204" pitchFamily="34" charset="0"/>
                <a:cs typeface="Arial" panose="020B0604020202020204" pitchFamily="34" charset="0"/>
              </a:rPr>
              <a:t>metros </a:t>
            </a:r>
            <a:endParaRPr lang="es-ES" sz="2400" dirty="0"/>
          </a:p>
        </p:txBody>
      </p:sp>
    </p:spTree>
    <p:extLst>
      <p:ext uri="{BB962C8B-B14F-4D97-AF65-F5344CB8AC3E}">
        <p14:creationId xmlns:p14="http://schemas.microsoft.com/office/powerpoint/2010/main" val="2401623441"/>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p:cNvPicPr>
            <a:picLocks noChangeAspect="1"/>
          </p:cNvPicPr>
          <p:nvPr/>
        </p:nvPicPr>
        <p:blipFill>
          <a:blip r:embed="rId2"/>
          <a:stretch>
            <a:fillRect/>
          </a:stretch>
        </p:blipFill>
        <p:spPr>
          <a:xfrm>
            <a:off x="2756824" y="158335"/>
            <a:ext cx="3643976" cy="4736667"/>
          </a:xfrm>
          <a:prstGeom prst="rect">
            <a:avLst/>
          </a:prstGeom>
        </p:spPr>
      </p:pic>
    </p:spTree>
    <p:extLst>
      <p:ext uri="{BB962C8B-B14F-4D97-AF65-F5344CB8AC3E}">
        <p14:creationId xmlns:p14="http://schemas.microsoft.com/office/powerpoint/2010/main" val="3902366295"/>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idx="109"/>
          </p:nvPr>
        </p:nvSpPr>
        <p:spPr>
          <a:xfrm>
            <a:off x="457200" y="845845"/>
            <a:ext cx="8186468" cy="3720573"/>
          </a:xfrm>
        </p:spPr>
        <p:txBody>
          <a:bodyPr/>
          <a:lstStyle/>
          <a:p>
            <a:r>
              <a:rPr lang="es-ES" b="0" dirty="0" smtClean="0"/>
              <a:t>Con </a:t>
            </a:r>
            <a:r>
              <a:rPr lang="es-ES" b="0" dirty="0"/>
              <a:t>la configuración de 1024, el mapa de memoria de tu tarjeta gráfica para esta petición específica se distribuye así</a:t>
            </a:r>
            <a:r>
              <a:rPr lang="es-ES" b="0" dirty="0" smtClean="0"/>
              <a:t>:</a:t>
            </a:r>
            <a:br>
              <a:rPr lang="es-ES" b="0" dirty="0" smtClean="0"/>
            </a:br>
            <a:r>
              <a:rPr lang="es-ES" b="0" dirty="0"/>
              <a:t/>
            </a:r>
            <a:br>
              <a:rPr lang="es-ES" b="0" dirty="0"/>
            </a:br>
            <a:r>
              <a:rPr lang="es-ES" b="0" dirty="0"/>
              <a:t>Tokens de Entrada (Prompt + Informe): ~500 </a:t>
            </a:r>
            <a:r>
              <a:rPr lang="es-ES" b="0" dirty="0" err="1"/>
              <a:t>tokens</a:t>
            </a:r>
            <a:r>
              <a:rPr lang="es-ES" b="0" dirty="0" smtClean="0"/>
              <a:t>.</a:t>
            </a:r>
            <a:br>
              <a:rPr lang="es-ES" b="0" dirty="0" smtClean="0"/>
            </a:br>
            <a:r>
              <a:rPr lang="es-ES" b="0" dirty="0"/>
              <a:t/>
            </a:r>
            <a:br>
              <a:rPr lang="es-ES" b="0" dirty="0"/>
            </a:br>
            <a:r>
              <a:rPr lang="es-ES" b="0" dirty="0"/>
              <a:t>Tokens de Salida (JSON Generado): ~340 </a:t>
            </a:r>
            <a:r>
              <a:rPr lang="es-ES" b="0" dirty="0" err="1"/>
              <a:t>tokens</a:t>
            </a:r>
            <a:r>
              <a:rPr lang="es-ES" b="0" dirty="0" smtClean="0"/>
              <a:t>.</a:t>
            </a:r>
            <a:br>
              <a:rPr lang="es-ES" b="0" dirty="0" smtClean="0"/>
            </a:br>
            <a:r>
              <a:rPr lang="es-ES" b="0" dirty="0"/>
              <a:t/>
            </a:r>
            <a:br>
              <a:rPr lang="es-ES" b="0" dirty="0"/>
            </a:br>
            <a:r>
              <a:rPr lang="es-ES" b="0" dirty="0"/>
              <a:t>Contexto Total Utilizado: ~840 tokens de los 1024 permitidos.</a:t>
            </a:r>
            <a:br>
              <a:rPr lang="es-ES" b="0" dirty="0"/>
            </a:br>
            <a:r>
              <a:rPr lang="es-ES" b="0" dirty="0"/>
              <a:t>Memoria VRAM Libre de Seguridad: ~184 tokens (Margen ideal para evitar desbordamientos).</a:t>
            </a:r>
          </a:p>
        </p:txBody>
      </p:sp>
      <p:sp>
        <p:nvSpPr>
          <p:cNvPr id="3" name="CuadroTexto 2"/>
          <p:cNvSpPr txBox="1"/>
          <p:nvPr/>
        </p:nvSpPr>
        <p:spPr>
          <a:xfrm>
            <a:off x="465827" y="299335"/>
            <a:ext cx="5684808" cy="523220"/>
          </a:xfrm>
          <a:prstGeom prst="rect">
            <a:avLst/>
          </a:prstGeom>
          <a:noFill/>
        </p:spPr>
        <p:txBody>
          <a:bodyPr wrap="square" rtlCol="0">
            <a:spAutoFit/>
          </a:bodyPr>
          <a:lstStyle/>
          <a:p>
            <a:r>
              <a:rPr lang="es-ES" sz="2800" b="1" dirty="0">
                <a:solidFill>
                  <a:schemeClr val="bg1"/>
                </a:solidFill>
              </a:rPr>
              <a:t>Balance Final del Manejo de </a:t>
            </a:r>
            <a:r>
              <a:rPr lang="es-ES" sz="2800" b="1" dirty="0" err="1">
                <a:solidFill>
                  <a:schemeClr val="bg1"/>
                </a:solidFill>
              </a:rPr>
              <a:t>Tokens</a:t>
            </a:r>
            <a:endParaRPr lang="es-ES" sz="2800" b="1" dirty="0">
              <a:solidFill>
                <a:schemeClr val="bg1"/>
              </a:solidFill>
            </a:endParaRPr>
          </a:p>
        </p:txBody>
      </p:sp>
    </p:spTree>
    <p:extLst>
      <p:ext uri="{BB962C8B-B14F-4D97-AF65-F5344CB8AC3E}">
        <p14:creationId xmlns:p14="http://schemas.microsoft.com/office/powerpoint/2010/main" val="2945554517"/>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9"/>
          <p:cNvSpPr>
            <a:spLocks noGrp="1"/>
          </p:cNvSpPr>
          <p:nvPr>
            <p:ph type="title" idx="109" hasCustomPrompt="1"/>
          </p:nvPr>
        </p:nvSpPr>
        <p:spPr>
          <a:xfrm>
            <a:off x="457200" y="320040"/>
            <a:ext cx="7040880" cy="685800"/>
          </a:xfrm>
          <a:prstGeom prst="rect">
            <a:avLst/>
          </a:prstGeom>
          <a:noFill/>
          <a:ln/>
        </p:spPr>
        <p:txBody>
          <a:bodyPr wrap="square" lIns="0" tIns="0" rIns="0" bIns="0" rtlCol="0" anchor="ctr"/>
          <a:lstStyle/>
          <a:p>
            <a:pPr marL="0" indent="0" algn="l">
              <a:buNone/>
            </a:pPr>
            <a:r>
              <a:rPr lang="en-US" sz="2400" b="1" dirty="0">
                <a:solidFill>
                  <a:srgbClr val="F8FAFC"/>
                </a:solidFill>
              </a:rPr>
              <a:t>Resumen</a:t>
            </a:r>
            <a:endParaRPr lang="en-US" sz="2400" dirty="0"/>
          </a:p>
        </p:txBody>
      </p:sp>
      <p:sp>
        <p:nvSpPr>
          <p:cNvPr id="3" name="Tarjeta 1"/>
          <p:cNvSpPr/>
          <p:nvPr/>
        </p:nvSpPr>
        <p:spPr>
          <a:xfrm>
            <a:off x="457200" y="1143000"/>
            <a:ext cx="4023360" cy="1691640"/>
          </a:xfrm>
          <a:prstGeom prst="rect">
            <a:avLst/>
          </a:prstGeom>
          <a:solidFill>
            <a:srgbClr val="111A22"/>
          </a:solidFill>
          <a:ln w="12700">
            <a:solidFill>
              <a:srgbClr val="1F2D3A"/>
            </a:solidFill>
            <a:prstDash val="solid"/>
          </a:ln>
        </p:spPr>
      </p:sp>
      <p:sp>
        <p:nvSpPr>
          <p:cNvPr id="4" name="Etiqueta 1"/>
          <p:cNvSpPr/>
          <p:nvPr/>
        </p:nvSpPr>
        <p:spPr>
          <a:xfrm>
            <a:off x="621792" y="1280160"/>
            <a:ext cx="457200" cy="256032"/>
          </a:xfrm>
          <a:prstGeom prst="rect">
            <a:avLst/>
          </a:prstGeom>
          <a:solidFill>
            <a:srgbClr val="0A0F14"/>
          </a:solidFill>
          <a:ln w="12700">
            <a:solidFill>
              <a:srgbClr val="22D3EE"/>
            </a:solidFill>
            <a:prstDash val="solid"/>
          </a:ln>
        </p:spPr>
      </p:sp>
      <p:sp>
        <p:nvSpPr>
          <p:cNvPr id="5" name="Text 3"/>
          <p:cNvSpPr txBox="1"/>
          <p:nvPr/>
        </p:nvSpPr>
        <p:spPr>
          <a:xfrm>
            <a:off x="621792" y="1280160"/>
            <a:ext cx="457200" cy="256032"/>
          </a:xfrm>
          <a:prstGeom prst="rect">
            <a:avLst/>
          </a:prstGeom>
          <a:noFill/>
          <a:ln/>
        </p:spPr>
        <p:txBody>
          <a:bodyPr wrap="square" lIns="0" tIns="0" rIns="0" bIns="0" rtlCol="0" anchor="ctr"/>
          <a:lstStyle/>
          <a:p>
            <a:pPr marL="0" indent="0" algn="ctr">
              <a:buNone/>
            </a:pPr>
            <a:r>
              <a:rPr lang="en-US" sz="1100" b="1" dirty="0">
                <a:solidFill>
                  <a:srgbClr val="22D3EE"/>
                </a:solidFill>
                <a:latin typeface="Consolas" pitchFamily="34" charset="0"/>
                <a:ea typeface="Consolas" pitchFamily="34" charset="-122"/>
                <a:cs typeface="Consolas" pitchFamily="34" charset="-120"/>
              </a:rPr>
              <a:t>01</a:t>
            </a:r>
            <a:endParaRPr lang="en-US" sz="1100" dirty="0"/>
          </a:p>
        </p:txBody>
      </p:sp>
      <p:sp>
        <p:nvSpPr>
          <p:cNvPr id="6" name="Text 4"/>
          <p:cNvSpPr txBox="1"/>
          <p:nvPr/>
        </p:nvSpPr>
        <p:spPr>
          <a:xfrm>
            <a:off x="1188720" y="1234440"/>
            <a:ext cx="3154680" cy="347472"/>
          </a:xfrm>
          <a:prstGeom prst="rect">
            <a:avLst/>
          </a:prstGeom>
          <a:noFill/>
          <a:ln/>
        </p:spPr>
        <p:txBody>
          <a:bodyPr wrap="square" lIns="0" tIns="0" rIns="0" bIns="0" rtlCol="0" anchor="ctr"/>
          <a:lstStyle/>
          <a:p>
            <a:pPr marL="0" indent="0">
              <a:buNone/>
            </a:pPr>
            <a:r>
              <a:rPr lang="en-US" sz="1400" b="1" dirty="0">
                <a:solidFill>
                  <a:srgbClr val="F8FAFC"/>
                </a:solidFill>
              </a:rPr>
              <a:t>Propósito</a:t>
            </a:r>
            <a:endParaRPr lang="en-US" sz="1400" dirty="0"/>
          </a:p>
        </p:txBody>
      </p:sp>
      <p:sp>
        <p:nvSpPr>
          <p:cNvPr id="7" name="Text 5"/>
          <p:cNvSpPr txBox="1"/>
          <p:nvPr/>
        </p:nvSpPr>
        <p:spPr>
          <a:xfrm>
            <a:off x="640080" y="1691640"/>
            <a:ext cx="3657600" cy="1051560"/>
          </a:xfrm>
          <a:prstGeom prst="rect">
            <a:avLst/>
          </a:prstGeom>
          <a:noFill/>
          <a:ln/>
        </p:spPr>
        <p:txBody>
          <a:bodyPr wrap="square" lIns="0" tIns="0" rIns="0" bIns="0" rtlCol="0" anchor="t"/>
          <a:lstStyle/>
          <a:p>
            <a:pPr marL="0" indent="0">
              <a:buNone/>
            </a:pPr>
            <a:r>
              <a:rPr lang="en-US" sz="1150" dirty="0">
                <a:solidFill>
                  <a:srgbClr val="CBD5E1"/>
                </a:solidFill>
              </a:rPr>
              <a:t>Estructurar con un modelo local (Llama 3.2 3B + Ollama) los informes radiológicos en HTML de DiconLine y analizarlos para obtener conclusiones útiles para la plataforma y sus usuarios.</a:t>
            </a:r>
            <a:endParaRPr lang="en-US" sz="1150" dirty="0"/>
          </a:p>
        </p:txBody>
      </p:sp>
      <p:sp>
        <p:nvSpPr>
          <p:cNvPr id="8" name="Tarjeta 2"/>
          <p:cNvSpPr/>
          <p:nvPr/>
        </p:nvSpPr>
        <p:spPr>
          <a:xfrm>
            <a:off x="4663440" y="1143000"/>
            <a:ext cx="4023360" cy="1691640"/>
          </a:xfrm>
          <a:prstGeom prst="rect">
            <a:avLst/>
          </a:prstGeom>
          <a:solidFill>
            <a:srgbClr val="111A22"/>
          </a:solidFill>
          <a:ln w="12700">
            <a:solidFill>
              <a:srgbClr val="1F2D3A"/>
            </a:solidFill>
            <a:prstDash val="solid"/>
          </a:ln>
        </p:spPr>
      </p:sp>
      <p:sp>
        <p:nvSpPr>
          <p:cNvPr id="9" name="Etiqueta 2"/>
          <p:cNvSpPr/>
          <p:nvPr/>
        </p:nvSpPr>
        <p:spPr>
          <a:xfrm>
            <a:off x="4828032" y="1280160"/>
            <a:ext cx="457200" cy="256032"/>
          </a:xfrm>
          <a:prstGeom prst="rect">
            <a:avLst/>
          </a:prstGeom>
          <a:solidFill>
            <a:srgbClr val="0A0F14"/>
          </a:solidFill>
          <a:ln w="12700">
            <a:solidFill>
              <a:srgbClr val="818CF8"/>
            </a:solidFill>
            <a:prstDash val="solid"/>
          </a:ln>
        </p:spPr>
      </p:sp>
      <p:sp>
        <p:nvSpPr>
          <p:cNvPr id="10" name="Text 8"/>
          <p:cNvSpPr txBox="1"/>
          <p:nvPr/>
        </p:nvSpPr>
        <p:spPr>
          <a:xfrm>
            <a:off x="4828032" y="1280160"/>
            <a:ext cx="457200" cy="256032"/>
          </a:xfrm>
          <a:prstGeom prst="rect">
            <a:avLst/>
          </a:prstGeom>
          <a:noFill/>
          <a:ln/>
        </p:spPr>
        <p:txBody>
          <a:bodyPr wrap="square" lIns="0" tIns="0" rIns="0" bIns="0" rtlCol="0" anchor="ctr"/>
          <a:lstStyle/>
          <a:p>
            <a:pPr marL="0" indent="0" algn="ctr">
              <a:buNone/>
            </a:pPr>
            <a:r>
              <a:rPr lang="en-US" sz="1100" b="1" dirty="0">
                <a:solidFill>
                  <a:srgbClr val="818CF8"/>
                </a:solidFill>
                <a:latin typeface="Consolas" pitchFamily="34" charset="0"/>
                <a:ea typeface="Consolas" pitchFamily="34" charset="-122"/>
                <a:cs typeface="Consolas" pitchFamily="34" charset="-120"/>
              </a:rPr>
              <a:t>02</a:t>
            </a:r>
            <a:endParaRPr lang="en-US" sz="1100" dirty="0"/>
          </a:p>
        </p:txBody>
      </p:sp>
      <p:sp>
        <p:nvSpPr>
          <p:cNvPr id="11" name="Text 9"/>
          <p:cNvSpPr txBox="1"/>
          <p:nvPr/>
        </p:nvSpPr>
        <p:spPr>
          <a:xfrm>
            <a:off x="5394960" y="1234440"/>
            <a:ext cx="3154680" cy="347472"/>
          </a:xfrm>
          <a:prstGeom prst="rect">
            <a:avLst/>
          </a:prstGeom>
          <a:noFill/>
          <a:ln/>
        </p:spPr>
        <p:txBody>
          <a:bodyPr wrap="square" lIns="0" tIns="0" rIns="0" bIns="0" rtlCol="0" anchor="ctr"/>
          <a:lstStyle/>
          <a:p>
            <a:pPr marL="0" indent="0">
              <a:buNone/>
            </a:pPr>
            <a:r>
              <a:rPr lang="en-US" sz="1400" b="1" dirty="0">
                <a:solidFill>
                  <a:srgbClr val="F8FAFC"/>
                </a:solidFill>
              </a:rPr>
              <a:t>Metodología</a:t>
            </a:r>
            <a:endParaRPr lang="en-US" sz="1400" dirty="0"/>
          </a:p>
        </p:txBody>
      </p:sp>
      <p:sp>
        <p:nvSpPr>
          <p:cNvPr id="12" name="Text 10"/>
          <p:cNvSpPr txBox="1"/>
          <p:nvPr/>
        </p:nvSpPr>
        <p:spPr>
          <a:xfrm>
            <a:off x="4846320" y="1691640"/>
            <a:ext cx="3657600" cy="1051560"/>
          </a:xfrm>
          <a:prstGeom prst="rect">
            <a:avLst/>
          </a:prstGeom>
          <a:noFill/>
          <a:ln/>
        </p:spPr>
        <p:txBody>
          <a:bodyPr wrap="square" lIns="0" tIns="0" rIns="0" bIns="0" rtlCol="0" anchor="t"/>
          <a:lstStyle/>
          <a:p>
            <a:pPr marL="0" indent="0">
              <a:buNone/>
            </a:pPr>
            <a:r>
              <a:rPr lang="en-US" sz="1150" dirty="0">
                <a:solidFill>
                  <a:srgbClr val="CBD5E1"/>
                </a:solidFill>
              </a:rPr>
              <a:t>Base descargada y procesada en local por seguridad. Python extrae los datos demográficos; el resto del HTML se convierte con el modelo en JSON (estudios, hallazgos, conclusiones) y se guarda en MongoDB.</a:t>
            </a:r>
            <a:endParaRPr lang="en-US" sz="1150" dirty="0"/>
          </a:p>
        </p:txBody>
      </p:sp>
      <p:sp>
        <p:nvSpPr>
          <p:cNvPr id="13" name="Tarjeta 3"/>
          <p:cNvSpPr/>
          <p:nvPr/>
        </p:nvSpPr>
        <p:spPr>
          <a:xfrm>
            <a:off x="457200" y="3017520"/>
            <a:ext cx="4023360" cy="1691640"/>
          </a:xfrm>
          <a:prstGeom prst="rect">
            <a:avLst/>
          </a:prstGeom>
          <a:solidFill>
            <a:srgbClr val="111A22"/>
          </a:solidFill>
          <a:ln w="12700">
            <a:solidFill>
              <a:srgbClr val="1F2D3A"/>
            </a:solidFill>
            <a:prstDash val="solid"/>
          </a:ln>
        </p:spPr>
      </p:sp>
      <p:sp>
        <p:nvSpPr>
          <p:cNvPr id="14" name="Etiqueta 3"/>
          <p:cNvSpPr/>
          <p:nvPr/>
        </p:nvSpPr>
        <p:spPr>
          <a:xfrm>
            <a:off x="621792" y="3154680"/>
            <a:ext cx="457200" cy="256032"/>
          </a:xfrm>
          <a:prstGeom prst="rect">
            <a:avLst/>
          </a:prstGeom>
          <a:solidFill>
            <a:srgbClr val="0A0F14"/>
          </a:solidFill>
          <a:ln w="12700">
            <a:solidFill>
              <a:srgbClr val="F59E0B"/>
            </a:solidFill>
            <a:prstDash val="solid"/>
          </a:ln>
        </p:spPr>
      </p:sp>
      <p:sp>
        <p:nvSpPr>
          <p:cNvPr id="15" name="Text 13"/>
          <p:cNvSpPr txBox="1"/>
          <p:nvPr/>
        </p:nvSpPr>
        <p:spPr>
          <a:xfrm>
            <a:off x="621792" y="3154680"/>
            <a:ext cx="457200" cy="256032"/>
          </a:xfrm>
          <a:prstGeom prst="rect">
            <a:avLst/>
          </a:prstGeom>
          <a:noFill/>
          <a:ln/>
        </p:spPr>
        <p:txBody>
          <a:bodyPr wrap="square" lIns="0" tIns="0" rIns="0" bIns="0" rtlCol="0" anchor="ctr"/>
          <a:lstStyle/>
          <a:p>
            <a:pPr marL="0" indent="0" algn="ctr">
              <a:buNone/>
            </a:pPr>
            <a:r>
              <a:rPr lang="en-US" sz="1100" b="1" dirty="0">
                <a:solidFill>
                  <a:srgbClr val="F59E0B"/>
                </a:solidFill>
                <a:latin typeface="Consolas" pitchFamily="34" charset="0"/>
                <a:ea typeface="Consolas" pitchFamily="34" charset="-122"/>
                <a:cs typeface="Consolas" pitchFamily="34" charset="-120"/>
              </a:rPr>
              <a:t>03</a:t>
            </a:r>
            <a:endParaRPr lang="en-US" sz="1100" dirty="0"/>
          </a:p>
        </p:txBody>
      </p:sp>
      <p:sp>
        <p:nvSpPr>
          <p:cNvPr id="16" name="Text 14"/>
          <p:cNvSpPr txBox="1"/>
          <p:nvPr/>
        </p:nvSpPr>
        <p:spPr>
          <a:xfrm>
            <a:off x="1188720" y="3108960"/>
            <a:ext cx="3154680" cy="347472"/>
          </a:xfrm>
          <a:prstGeom prst="rect">
            <a:avLst/>
          </a:prstGeom>
          <a:noFill/>
          <a:ln/>
        </p:spPr>
        <p:txBody>
          <a:bodyPr wrap="square" lIns="0" tIns="0" rIns="0" bIns="0" rtlCol="0" anchor="ctr"/>
          <a:lstStyle/>
          <a:p>
            <a:pPr marL="0" indent="0">
              <a:buNone/>
            </a:pPr>
            <a:r>
              <a:rPr lang="en-US" sz="1400" b="1" dirty="0">
                <a:solidFill>
                  <a:srgbClr val="F8FAFC"/>
                </a:solidFill>
              </a:rPr>
              <a:t>Resultados</a:t>
            </a:r>
            <a:endParaRPr lang="en-US" sz="1400" dirty="0"/>
          </a:p>
        </p:txBody>
      </p:sp>
      <p:sp>
        <p:nvSpPr>
          <p:cNvPr id="17" name="Text 15"/>
          <p:cNvSpPr txBox="1"/>
          <p:nvPr/>
        </p:nvSpPr>
        <p:spPr>
          <a:xfrm>
            <a:off x="640080" y="3566160"/>
            <a:ext cx="3657600" cy="1051560"/>
          </a:xfrm>
          <a:prstGeom prst="rect">
            <a:avLst/>
          </a:prstGeom>
          <a:noFill/>
          <a:ln/>
        </p:spPr>
        <p:txBody>
          <a:bodyPr wrap="square" lIns="0" tIns="0" rIns="0" bIns="0" rtlCol="0" anchor="t"/>
          <a:lstStyle/>
          <a:p>
            <a:pPr marL="0" indent="0">
              <a:buNone/>
            </a:pPr>
            <a:r>
              <a:rPr lang="en-US" sz="1150" dirty="0">
                <a:solidFill>
                  <a:srgbClr val="CBD5E1"/>
                </a:solidFill>
              </a:rPr>
              <a:t>De 410.483 informes, 102.212 (24,9 %) están procesados: 95,6 % correctos y 4,4 % con problema estructural. Radiografía, TC y RM suman el 91 % de los estudios; 66 % de los pacientes son hombres.</a:t>
            </a:r>
            <a:endParaRPr lang="en-US" sz="1150" dirty="0"/>
          </a:p>
        </p:txBody>
      </p:sp>
      <p:sp>
        <p:nvSpPr>
          <p:cNvPr id="18" name="Tarjeta 4"/>
          <p:cNvSpPr/>
          <p:nvPr/>
        </p:nvSpPr>
        <p:spPr>
          <a:xfrm>
            <a:off x="4663440" y="3017520"/>
            <a:ext cx="4023360" cy="1691640"/>
          </a:xfrm>
          <a:prstGeom prst="rect">
            <a:avLst/>
          </a:prstGeom>
          <a:solidFill>
            <a:srgbClr val="111A22"/>
          </a:solidFill>
          <a:ln w="12700">
            <a:solidFill>
              <a:srgbClr val="1F2D3A"/>
            </a:solidFill>
            <a:prstDash val="solid"/>
          </a:ln>
        </p:spPr>
      </p:sp>
      <p:sp>
        <p:nvSpPr>
          <p:cNvPr id="19" name="Etiqueta 4"/>
          <p:cNvSpPr/>
          <p:nvPr/>
        </p:nvSpPr>
        <p:spPr>
          <a:xfrm>
            <a:off x="4828032" y="3154680"/>
            <a:ext cx="457200" cy="256032"/>
          </a:xfrm>
          <a:prstGeom prst="rect">
            <a:avLst/>
          </a:prstGeom>
          <a:solidFill>
            <a:srgbClr val="0A0F14"/>
          </a:solidFill>
          <a:ln w="12700">
            <a:solidFill>
              <a:srgbClr val="34D399"/>
            </a:solidFill>
            <a:prstDash val="solid"/>
          </a:ln>
        </p:spPr>
      </p:sp>
      <p:sp>
        <p:nvSpPr>
          <p:cNvPr id="20" name="Text 18"/>
          <p:cNvSpPr txBox="1"/>
          <p:nvPr/>
        </p:nvSpPr>
        <p:spPr>
          <a:xfrm>
            <a:off x="4828032" y="3154680"/>
            <a:ext cx="457200" cy="256032"/>
          </a:xfrm>
          <a:prstGeom prst="rect">
            <a:avLst/>
          </a:prstGeom>
          <a:noFill/>
          <a:ln/>
        </p:spPr>
        <p:txBody>
          <a:bodyPr wrap="square" lIns="0" tIns="0" rIns="0" bIns="0" rtlCol="0" anchor="ctr"/>
          <a:lstStyle/>
          <a:p>
            <a:pPr marL="0" indent="0" algn="ctr">
              <a:buNone/>
            </a:pPr>
            <a:r>
              <a:rPr lang="en-US" sz="1100" b="1" dirty="0">
                <a:solidFill>
                  <a:srgbClr val="34D399"/>
                </a:solidFill>
                <a:latin typeface="Consolas" pitchFamily="34" charset="0"/>
                <a:ea typeface="Consolas" pitchFamily="34" charset="-122"/>
                <a:cs typeface="Consolas" pitchFamily="34" charset="-120"/>
              </a:rPr>
              <a:t>04</a:t>
            </a:r>
            <a:endParaRPr lang="en-US" sz="1100" dirty="0"/>
          </a:p>
        </p:txBody>
      </p:sp>
      <p:sp>
        <p:nvSpPr>
          <p:cNvPr id="21" name="Text 19"/>
          <p:cNvSpPr txBox="1"/>
          <p:nvPr/>
        </p:nvSpPr>
        <p:spPr>
          <a:xfrm>
            <a:off x="5394960" y="3108960"/>
            <a:ext cx="3154680" cy="347472"/>
          </a:xfrm>
          <a:prstGeom prst="rect">
            <a:avLst/>
          </a:prstGeom>
          <a:noFill/>
          <a:ln/>
        </p:spPr>
        <p:txBody>
          <a:bodyPr wrap="square" lIns="0" tIns="0" rIns="0" bIns="0" rtlCol="0" anchor="ctr"/>
          <a:lstStyle/>
          <a:p>
            <a:pPr marL="0" indent="0">
              <a:buNone/>
            </a:pPr>
            <a:r>
              <a:rPr lang="en-US" sz="1400" b="1" dirty="0">
                <a:solidFill>
                  <a:srgbClr val="F8FAFC"/>
                </a:solidFill>
              </a:rPr>
              <a:t>Conclusión</a:t>
            </a:r>
            <a:endParaRPr lang="en-US" sz="1400" dirty="0"/>
          </a:p>
        </p:txBody>
      </p:sp>
      <p:sp>
        <p:nvSpPr>
          <p:cNvPr id="22" name="Text 20"/>
          <p:cNvSpPr txBox="1"/>
          <p:nvPr/>
        </p:nvSpPr>
        <p:spPr>
          <a:xfrm>
            <a:off x="4846320" y="3566160"/>
            <a:ext cx="3657600" cy="1051560"/>
          </a:xfrm>
          <a:prstGeom prst="rect">
            <a:avLst/>
          </a:prstGeom>
          <a:noFill/>
          <a:ln/>
        </p:spPr>
        <p:txBody>
          <a:bodyPr wrap="square" lIns="0" tIns="0" rIns="0" bIns="0" rtlCol="0" anchor="t"/>
          <a:lstStyle/>
          <a:p>
            <a:pPr marL="0" indent="0">
              <a:buNone/>
            </a:pPr>
            <a:r>
              <a:rPr lang="en-US" sz="1150" dirty="0">
                <a:solidFill>
                  <a:srgbClr val="CBD5E1"/>
                </a:solidFill>
              </a:rPr>
              <a:t>El enfoque local es viable. Los fallos se deben a HTML vacío e informes largos, y la configuración de contexto limita el modelo. La clasificación por palabras clave es sensible a la redacción.</a:t>
            </a:r>
            <a:endParaRPr lang="en-US" sz="1150" dirty="0"/>
          </a:p>
        </p:txBody>
      </p:sp>
      <p:sp>
        <p:nvSpPr>
          <p:cNvPr id="25" name="Slide Number Placeholder 0"/>
          <p:cNvSpPr>
            <a:spLocks noGrp="1"/>
          </p:cNvSpPr>
          <p:nvPr>
            <p:ph type="sldNum" sz="quarter" idx="4294967295"/>
          </p:nvPr>
        </p:nvSpPr>
        <p:spPr>
          <a:xfrm>
            <a:off x="8229600" y="4727448"/>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7C8BA1"/>
                </a:solidFill>
                <a:latin typeface="Consolas"/>
                <a:ea typeface="Consolas"/>
                <a:cs typeface="Consolas"/>
              </a:defRPr>
            </a:lvl1pPr>
          </a:lstStyle>
          <a:p>
            <a:pPr algn="r"/>
            <a:fld id="{F7021451-1387-4CA6-816F-3879F97B5CBC}" type="slidenum">
              <a:rPr lang="en-US" b="0"/>
              <a:t>11</a:t>
            </a:fld>
            <a:endParaRPr lang="en-US"/>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9"/>
          <p:cNvSpPr>
            <a:spLocks noGrp="1"/>
          </p:cNvSpPr>
          <p:nvPr>
            <p:ph type="title" idx="109" hasCustomPrompt="1"/>
          </p:nvPr>
        </p:nvSpPr>
        <p:spPr>
          <a:xfrm>
            <a:off x="457200" y="320040"/>
            <a:ext cx="7040880" cy="685800"/>
          </a:xfrm>
          <a:prstGeom prst="rect">
            <a:avLst/>
          </a:prstGeom>
          <a:noFill/>
          <a:ln/>
        </p:spPr>
        <p:txBody>
          <a:bodyPr wrap="square" lIns="0" tIns="0" rIns="0" bIns="0" rtlCol="0" anchor="ctr"/>
          <a:lstStyle/>
          <a:p>
            <a:pPr marL="0" indent="0" algn="l">
              <a:buNone/>
            </a:pPr>
            <a:r>
              <a:rPr lang="en-US" sz="2400" b="1" dirty="0">
                <a:solidFill>
                  <a:srgbClr val="F8FAFC"/>
                </a:solidFill>
              </a:rPr>
              <a:t>Introducción: el problema y el objetivo</a:t>
            </a:r>
            <a:endParaRPr lang="en-US" sz="2400" dirty="0"/>
          </a:p>
        </p:txBody>
      </p:sp>
      <p:sp>
        <p:nvSpPr>
          <p:cNvPr id="3" name="Text 1"/>
          <p:cNvSpPr txBox="1"/>
          <p:nvPr/>
        </p:nvSpPr>
        <p:spPr>
          <a:xfrm>
            <a:off x="457200" y="1143000"/>
            <a:ext cx="8229600" cy="685800"/>
          </a:xfrm>
          <a:prstGeom prst="rect">
            <a:avLst/>
          </a:prstGeom>
          <a:noFill/>
          <a:ln/>
        </p:spPr>
        <p:txBody>
          <a:bodyPr wrap="square" lIns="0" tIns="0" rIns="0" bIns="0" rtlCol="0" anchor="t"/>
          <a:lstStyle/>
          <a:p>
            <a:pPr marL="0" indent="0">
              <a:buNone/>
            </a:pPr>
            <a:r>
              <a:rPr lang="en-US" sz="1300" dirty="0">
                <a:solidFill>
                  <a:srgbClr val="CBD5E1"/>
                </a:solidFill>
              </a:rPr>
              <a:t>La plataforma de imágenes médicas DiconLine guarda en HTML los reportes de los especialistas: datos demográficos, modalidad, estudios, hallazgos y conclusiones. Esa forma de almacenarlos dificulta el análisis de datos.</a:t>
            </a:r>
            <a:endParaRPr lang="en-US" sz="1300" dirty="0"/>
          </a:p>
        </p:txBody>
      </p:sp>
      <p:sp>
        <p:nvSpPr>
          <p:cNvPr id="4" name="Tarjeta 1"/>
          <p:cNvSpPr/>
          <p:nvPr/>
        </p:nvSpPr>
        <p:spPr>
          <a:xfrm>
            <a:off x="457200" y="1920240"/>
            <a:ext cx="4023360" cy="2103120"/>
          </a:xfrm>
          <a:prstGeom prst="rect">
            <a:avLst/>
          </a:prstGeom>
          <a:solidFill>
            <a:srgbClr val="111A22"/>
          </a:solidFill>
          <a:ln w="12700">
            <a:solidFill>
              <a:srgbClr val="1F2D3A"/>
            </a:solidFill>
            <a:prstDash val="solid"/>
          </a:ln>
        </p:spPr>
      </p:sp>
      <p:sp>
        <p:nvSpPr>
          <p:cNvPr id="5" name="Etiqueta 1"/>
          <p:cNvSpPr/>
          <p:nvPr/>
        </p:nvSpPr>
        <p:spPr>
          <a:xfrm>
            <a:off x="621792" y="2057400"/>
            <a:ext cx="457200" cy="256032"/>
          </a:xfrm>
          <a:prstGeom prst="rect">
            <a:avLst/>
          </a:prstGeom>
          <a:solidFill>
            <a:srgbClr val="0A0F14"/>
          </a:solidFill>
          <a:ln w="12700">
            <a:solidFill>
              <a:srgbClr val="EF4444"/>
            </a:solidFill>
            <a:prstDash val="solid"/>
          </a:ln>
        </p:spPr>
      </p:sp>
      <p:sp>
        <p:nvSpPr>
          <p:cNvPr id="6" name="Text 4"/>
          <p:cNvSpPr txBox="1"/>
          <p:nvPr/>
        </p:nvSpPr>
        <p:spPr>
          <a:xfrm>
            <a:off x="621792" y="2057400"/>
            <a:ext cx="457200" cy="256032"/>
          </a:xfrm>
          <a:prstGeom prst="rect">
            <a:avLst/>
          </a:prstGeom>
          <a:noFill/>
          <a:ln/>
        </p:spPr>
        <p:txBody>
          <a:bodyPr wrap="square" lIns="0" tIns="0" rIns="0" bIns="0" rtlCol="0" anchor="ctr"/>
          <a:lstStyle/>
          <a:p>
            <a:pPr marL="0" indent="0" algn="ctr">
              <a:buNone/>
            </a:pPr>
            <a:r>
              <a:rPr lang="en-US" sz="1100" b="1" dirty="0">
                <a:solidFill>
                  <a:srgbClr val="EF4444"/>
                </a:solidFill>
                <a:latin typeface="Consolas" pitchFamily="34" charset="0"/>
                <a:ea typeface="Consolas" pitchFamily="34" charset="-122"/>
                <a:cs typeface="Consolas" pitchFamily="34" charset="-120"/>
              </a:rPr>
              <a:t>01</a:t>
            </a:r>
            <a:endParaRPr lang="en-US" sz="1100" dirty="0"/>
          </a:p>
        </p:txBody>
      </p:sp>
      <p:sp>
        <p:nvSpPr>
          <p:cNvPr id="7" name="Text 5"/>
          <p:cNvSpPr txBox="1"/>
          <p:nvPr/>
        </p:nvSpPr>
        <p:spPr>
          <a:xfrm>
            <a:off x="1188720" y="2011680"/>
            <a:ext cx="3154680" cy="347472"/>
          </a:xfrm>
          <a:prstGeom prst="rect">
            <a:avLst/>
          </a:prstGeom>
          <a:noFill/>
          <a:ln/>
        </p:spPr>
        <p:txBody>
          <a:bodyPr wrap="square" lIns="0" tIns="0" rIns="0" bIns="0" rtlCol="0" anchor="ctr"/>
          <a:lstStyle/>
          <a:p>
            <a:pPr marL="0" indent="0">
              <a:buNone/>
            </a:pPr>
            <a:r>
              <a:rPr lang="en-US" sz="1400" b="1" dirty="0">
                <a:solidFill>
                  <a:srgbClr val="F8FAFC"/>
                </a:solidFill>
              </a:rPr>
              <a:t>Desafíos del reporte</a:t>
            </a:r>
            <a:endParaRPr lang="en-US" sz="1400" dirty="0"/>
          </a:p>
        </p:txBody>
      </p:sp>
      <p:sp>
        <p:nvSpPr>
          <p:cNvPr id="8" name="Text 6"/>
          <p:cNvSpPr txBox="1"/>
          <p:nvPr/>
        </p:nvSpPr>
        <p:spPr>
          <a:xfrm>
            <a:off x="640080" y="2468880"/>
            <a:ext cx="3657600" cy="1463040"/>
          </a:xfrm>
          <a:prstGeom prst="rect">
            <a:avLst/>
          </a:prstGeom>
          <a:noFill/>
          <a:ln/>
        </p:spPr>
        <p:txBody>
          <a:bodyPr wrap="square" lIns="0" tIns="0" rIns="0" bIns="0" rtlCol="0" anchor="t"/>
          <a:lstStyle/>
          <a:p>
            <a:pPr marL="0" indent="0">
              <a:buNone/>
            </a:pPr>
            <a:r>
              <a:rPr lang="en-US" sz="1250" dirty="0">
                <a:solidFill>
                  <a:srgbClr val="CBD5E1"/>
                </a:solidFill>
              </a:rPr>
              <a:t>Formato HTML; omisión de términos; sinónimos distintos para lo mismo; cantidad variable de estudios, resultados y conclusiones; palabras incompletas o mal escritas.</a:t>
            </a:r>
            <a:endParaRPr lang="en-US" sz="1250" dirty="0"/>
          </a:p>
        </p:txBody>
      </p:sp>
      <p:sp>
        <p:nvSpPr>
          <p:cNvPr id="9" name="Tarjeta 2"/>
          <p:cNvSpPr/>
          <p:nvPr/>
        </p:nvSpPr>
        <p:spPr>
          <a:xfrm>
            <a:off x="4663440" y="1920240"/>
            <a:ext cx="4023360" cy="2103120"/>
          </a:xfrm>
          <a:prstGeom prst="rect">
            <a:avLst/>
          </a:prstGeom>
          <a:solidFill>
            <a:srgbClr val="111A22"/>
          </a:solidFill>
          <a:ln w="12700">
            <a:solidFill>
              <a:srgbClr val="1F2D3A"/>
            </a:solidFill>
            <a:prstDash val="solid"/>
          </a:ln>
        </p:spPr>
      </p:sp>
      <p:sp>
        <p:nvSpPr>
          <p:cNvPr id="10" name="Etiqueta 2"/>
          <p:cNvSpPr/>
          <p:nvPr/>
        </p:nvSpPr>
        <p:spPr>
          <a:xfrm>
            <a:off x="4828032" y="2057400"/>
            <a:ext cx="457200" cy="256032"/>
          </a:xfrm>
          <a:prstGeom prst="rect">
            <a:avLst/>
          </a:prstGeom>
          <a:solidFill>
            <a:srgbClr val="0A0F14"/>
          </a:solidFill>
          <a:ln w="12700">
            <a:solidFill>
              <a:srgbClr val="22D3EE"/>
            </a:solidFill>
            <a:prstDash val="solid"/>
          </a:ln>
        </p:spPr>
      </p:sp>
      <p:sp>
        <p:nvSpPr>
          <p:cNvPr id="11" name="Text 9"/>
          <p:cNvSpPr txBox="1"/>
          <p:nvPr/>
        </p:nvSpPr>
        <p:spPr>
          <a:xfrm>
            <a:off x="4828032" y="2057400"/>
            <a:ext cx="457200" cy="256032"/>
          </a:xfrm>
          <a:prstGeom prst="rect">
            <a:avLst/>
          </a:prstGeom>
          <a:noFill/>
          <a:ln/>
        </p:spPr>
        <p:txBody>
          <a:bodyPr wrap="square" lIns="0" tIns="0" rIns="0" bIns="0" rtlCol="0" anchor="ctr"/>
          <a:lstStyle/>
          <a:p>
            <a:pPr marL="0" indent="0" algn="ctr">
              <a:buNone/>
            </a:pPr>
            <a:r>
              <a:rPr lang="en-US" sz="1100" b="1" dirty="0">
                <a:solidFill>
                  <a:srgbClr val="22D3EE"/>
                </a:solidFill>
                <a:latin typeface="Consolas" pitchFamily="34" charset="0"/>
                <a:ea typeface="Consolas" pitchFamily="34" charset="-122"/>
                <a:cs typeface="Consolas" pitchFamily="34" charset="-120"/>
              </a:rPr>
              <a:t>02</a:t>
            </a:r>
            <a:endParaRPr lang="en-US" sz="1100" dirty="0"/>
          </a:p>
        </p:txBody>
      </p:sp>
      <p:sp>
        <p:nvSpPr>
          <p:cNvPr id="12" name="Text 10"/>
          <p:cNvSpPr txBox="1"/>
          <p:nvPr/>
        </p:nvSpPr>
        <p:spPr>
          <a:xfrm>
            <a:off x="5394960" y="2011680"/>
            <a:ext cx="3154680" cy="347472"/>
          </a:xfrm>
          <a:prstGeom prst="rect">
            <a:avLst/>
          </a:prstGeom>
          <a:noFill/>
          <a:ln/>
        </p:spPr>
        <p:txBody>
          <a:bodyPr wrap="square" lIns="0" tIns="0" rIns="0" bIns="0" rtlCol="0" anchor="ctr"/>
          <a:lstStyle/>
          <a:p>
            <a:pPr marL="0" indent="0">
              <a:buNone/>
            </a:pPr>
            <a:r>
              <a:rPr lang="en-US" sz="1400" b="1" dirty="0">
                <a:solidFill>
                  <a:srgbClr val="F8FAFC"/>
                </a:solidFill>
              </a:rPr>
              <a:t>Objetivo</a:t>
            </a:r>
            <a:endParaRPr lang="en-US" sz="1400" dirty="0"/>
          </a:p>
        </p:txBody>
      </p:sp>
      <p:sp>
        <p:nvSpPr>
          <p:cNvPr id="13" name="Text 11"/>
          <p:cNvSpPr txBox="1"/>
          <p:nvPr/>
        </p:nvSpPr>
        <p:spPr>
          <a:xfrm>
            <a:off x="4846320" y="2468880"/>
            <a:ext cx="3657600" cy="1463040"/>
          </a:xfrm>
          <a:prstGeom prst="rect">
            <a:avLst/>
          </a:prstGeom>
          <a:noFill/>
          <a:ln/>
        </p:spPr>
        <p:txBody>
          <a:bodyPr wrap="square" lIns="0" tIns="0" rIns="0" bIns="0" rtlCol="0" anchor="t"/>
          <a:lstStyle/>
          <a:p>
            <a:pPr marL="0" indent="0">
              <a:buNone/>
            </a:pPr>
            <a:r>
              <a:rPr lang="en-US" sz="1250" dirty="0">
                <a:solidFill>
                  <a:srgbClr val="CBD5E1"/>
                </a:solidFill>
              </a:rPr>
              <a:t>Resolver estos problemas con un modelo de IA ligero, Llama 3.2, ejecutado de forma local con la plataforma de código abierto Ollama, para habilitar el análisis de datos.</a:t>
            </a:r>
            <a:endParaRPr lang="en-US" sz="1250" dirty="0"/>
          </a:p>
        </p:txBody>
      </p:sp>
      <p:sp>
        <p:nvSpPr>
          <p:cNvPr id="25" name="Slide Number Placeholder 0"/>
          <p:cNvSpPr>
            <a:spLocks noGrp="1"/>
          </p:cNvSpPr>
          <p:nvPr>
            <p:ph type="sldNum" sz="quarter" idx="4294967295"/>
          </p:nvPr>
        </p:nvSpPr>
        <p:spPr>
          <a:xfrm>
            <a:off x="8229600" y="4727448"/>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7C8BA1"/>
                </a:solidFill>
                <a:latin typeface="Consolas"/>
                <a:ea typeface="Consolas"/>
                <a:cs typeface="Consolas"/>
              </a:defRPr>
            </a:lvl1pPr>
          </a:lstStyle>
          <a:p>
            <a:pPr algn="r"/>
            <a:fld id="{F7021451-1387-4CA6-816F-3879F97B5CBC}" type="slidenum">
              <a:rPr lang="en-US" b="0"/>
              <a:t>12</a:t>
            </a:fld>
            <a:endParaRPr lang="en-US"/>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9"/>
          <p:cNvSpPr>
            <a:spLocks noGrp="1"/>
          </p:cNvSpPr>
          <p:nvPr>
            <p:ph type="title" idx="109" hasCustomPrompt="1"/>
          </p:nvPr>
        </p:nvSpPr>
        <p:spPr>
          <a:xfrm>
            <a:off x="457200" y="320040"/>
            <a:ext cx="7040880" cy="685800"/>
          </a:xfrm>
          <a:prstGeom prst="rect">
            <a:avLst/>
          </a:prstGeom>
          <a:noFill/>
          <a:ln/>
        </p:spPr>
        <p:txBody>
          <a:bodyPr wrap="square" lIns="0" tIns="0" rIns="0" bIns="0" rtlCol="0" anchor="ctr"/>
          <a:lstStyle/>
          <a:p>
            <a:pPr marL="0" indent="0" algn="l">
              <a:buNone/>
            </a:pPr>
            <a:r>
              <a:rPr lang="en-US" sz="2400" b="1" dirty="0">
                <a:solidFill>
                  <a:srgbClr val="F8FAFC"/>
                </a:solidFill>
              </a:rPr>
              <a:t>Metodología: datos, herramientas y flujo</a:t>
            </a:r>
            <a:endParaRPr lang="en-US" sz="2400" dirty="0"/>
          </a:p>
        </p:txBody>
      </p:sp>
      <p:sp>
        <p:nvSpPr>
          <p:cNvPr id="3" name="Tarjeta 1"/>
          <p:cNvSpPr/>
          <p:nvPr/>
        </p:nvSpPr>
        <p:spPr>
          <a:xfrm>
            <a:off x="457200" y="1143000"/>
            <a:ext cx="2621280" cy="2103120"/>
          </a:xfrm>
          <a:prstGeom prst="rect">
            <a:avLst/>
          </a:prstGeom>
          <a:solidFill>
            <a:srgbClr val="111A22"/>
          </a:solidFill>
          <a:ln w="12700">
            <a:solidFill>
              <a:srgbClr val="1F2D3A"/>
            </a:solidFill>
            <a:prstDash val="solid"/>
          </a:ln>
        </p:spPr>
      </p:sp>
      <p:sp>
        <p:nvSpPr>
          <p:cNvPr id="4" name="Etiqueta 1"/>
          <p:cNvSpPr/>
          <p:nvPr/>
        </p:nvSpPr>
        <p:spPr>
          <a:xfrm>
            <a:off x="621792" y="1280160"/>
            <a:ext cx="457200" cy="256032"/>
          </a:xfrm>
          <a:prstGeom prst="rect">
            <a:avLst/>
          </a:prstGeom>
          <a:solidFill>
            <a:srgbClr val="0A0F14"/>
          </a:solidFill>
          <a:ln w="12700">
            <a:solidFill>
              <a:srgbClr val="22D3EE"/>
            </a:solidFill>
            <a:prstDash val="solid"/>
          </a:ln>
        </p:spPr>
      </p:sp>
      <p:sp>
        <p:nvSpPr>
          <p:cNvPr id="5" name="Text 3"/>
          <p:cNvSpPr txBox="1"/>
          <p:nvPr/>
        </p:nvSpPr>
        <p:spPr>
          <a:xfrm>
            <a:off x="621792" y="1280160"/>
            <a:ext cx="457200" cy="256032"/>
          </a:xfrm>
          <a:prstGeom prst="rect">
            <a:avLst/>
          </a:prstGeom>
          <a:noFill/>
          <a:ln/>
        </p:spPr>
        <p:txBody>
          <a:bodyPr wrap="square" lIns="0" tIns="0" rIns="0" bIns="0" rtlCol="0" anchor="ctr"/>
          <a:lstStyle/>
          <a:p>
            <a:pPr marL="0" indent="0" algn="ctr">
              <a:buNone/>
            </a:pPr>
            <a:r>
              <a:rPr lang="en-US" sz="1100" b="1" dirty="0">
                <a:solidFill>
                  <a:srgbClr val="22D3EE"/>
                </a:solidFill>
                <a:latin typeface="Consolas" pitchFamily="34" charset="0"/>
                <a:ea typeface="Consolas" pitchFamily="34" charset="-122"/>
                <a:cs typeface="Consolas" pitchFamily="34" charset="-120"/>
              </a:rPr>
              <a:t>01</a:t>
            </a:r>
            <a:endParaRPr lang="en-US" sz="1100" dirty="0"/>
          </a:p>
        </p:txBody>
      </p:sp>
      <p:sp>
        <p:nvSpPr>
          <p:cNvPr id="6" name="Text 4"/>
          <p:cNvSpPr txBox="1"/>
          <p:nvPr/>
        </p:nvSpPr>
        <p:spPr>
          <a:xfrm>
            <a:off x="1188720" y="1234440"/>
            <a:ext cx="1752600" cy="347472"/>
          </a:xfrm>
          <a:prstGeom prst="rect">
            <a:avLst/>
          </a:prstGeom>
          <a:noFill/>
          <a:ln/>
        </p:spPr>
        <p:txBody>
          <a:bodyPr wrap="square" lIns="0" tIns="0" rIns="0" bIns="0" rtlCol="0" anchor="ctr"/>
          <a:lstStyle/>
          <a:p>
            <a:pPr marL="0" indent="0">
              <a:buNone/>
            </a:pPr>
            <a:r>
              <a:rPr lang="en-US" sz="1400" b="1" dirty="0">
                <a:solidFill>
                  <a:srgbClr val="F8FAFC"/>
                </a:solidFill>
              </a:rPr>
              <a:t>Datos y seguridad</a:t>
            </a:r>
            <a:endParaRPr lang="en-US" sz="1400" dirty="0"/>
          </a:p>
        </p:txBody>
      </p:sp>
      <p:sp>
        <p:nvSpPr>
          <p:cNvPr id="7" name="Text 5"/>
          <p:cNvSpPr txBox="1"/>
          <p:nvPr/>
        </p:nvSpPr>
        <p:spPr>
          <a:xfrm>
            <a:off x="640080" y="1691640"/>
            <a:ext cx="2255520" cy="1463040"/>
          </a:xfrm>
          <a:prstGeom prst="rect">
            <a:avLst/>
          </a:prstGeom>
          <a:noFill/>
          <a:ln/>
        </p:spPr>
        <p:txBody>
          <a:bodyPr wrap="square" lIns="0" tIns="0" rIns="0" bIns="0" rtlCol="0" anchor="t"/>
          <a:lstStyle/>
          <a:p>
            <a:pPr marL="0" indent="0">
              <a:buNone/>
            </a:pPr>
            <a:r>
              <a:rPr lang="en-US" sz="1150" dirty="0">
                <a:solidFill>
                  <a:srgbClr val="CBD5E1"/>
                </a:solidFill>
              </a:rPr>
              <a:t>Base proporcionada por DiconLine, descargada a un ordenador personal y procesada localmente. Sin nube: más lento y sin modelos de mayor capacidad.</a:t>
            </a:r>
            <a:endParaRPr lang="en-US" sz="1150" dirty="0"/>
          </a:p>
        </p:txBody>
      </p:sp>
      <p:sp>
        <p:nvSpPr>
          <p:cNvPr id="8" name="Tarjeta 2"/>
          <p:cNvSpPr/>
          <p:nvPr/>
        </p:nvSpPr>
        <p:spPr>
          <a:xfrm>
            <a:off x="3261360" y="1143000"/>
            <a:ext cx="2621280" cy="2103120"/>
          </a:xfrm>
          <a:prstGeom prst="rect">
            <a:avLst/>
          </a:prstGeom>
          <a:solidFill>
            <a:srgbClr val="111A22"/>
          </a:solidFill>
          <a:ln w="12700">
            <a:solidFill>
              <a:srgbClr val="1F2D3A"/>
            </a:solidFill>
            <a:prstDash val="solid"/>
          </a:ln>
        </p:spPr>
      </p:sp>
      <p:sp>
        <p:nvSpPr>
          <p:cNvPr id="9" name="Etiqueta 2"/>
          <p:cNvSpPr/>
          <p:nvPr/>
        </p:nvSpPr>
        <p:spPr>
          <a:xfrm>
            <a:off x="3425952" y="1280160"/>
            <a:ext cx="457200" cy="256032"/>
          </a:xfrm>
          <a:prstGeom prst="rect">
            <a:avLst/>
          </a:prstGeom>
          <a:solidFill>
            <a:srgbClr val="0A0F14"/>
          </a:solidFill>
          <a:ln w="12700">
            <a:solidFill>
              <a:srgbClr val="818CF8"/>
            </a:solidFill>
            <a:prstDash val="solid"/>
          </a:ln>
        </p:spPr>
      </p:sp>
      <p:sp>
        <p:nvSpPr>
          <p:cNvPr id="10" name="Text 8"/>
          <p:cNvSpPr txBox="1"/>
          <p:nvPr/>
        </p:nvSpPr>
        <p:spPr>
          <a:xfrm>
            <a:off x="3425952" y="1280160"/>
            <a:ext cx="457200" cy="256032"/>
          </a:xfrm>
          <a:prstGeom prst="rect">
            <a:avLst/>
          </a:prstGeom>
          <a:noFill/>
          <a:ln/>
        </p:spPr>
        <p:txBody>
          <a:bodyPr wrap="square" lIns="0" tIns="0" rIns="0" bIns="0" rtlCol="0" anchor="ctr"/>
          <a:lstStyle/>
          <a:p>
            <a:pPr marL="0" indent="0" algn="ctr">
              <a:buNone/>
            </a:pPr>
            <a:r>
              <a:rPr lang="en-US" sz="1100" b="1" dirty="0">
                <a:solidFill>
                  <a:srgbClr val="818CF8"/>
                </a:solidFill>
                <a:latin typeface="Consolas" pitchFamily="34" charset="0"/>
                <a:ea typeface="Consolas" pitchFamily="34" charset="-122"/>
                <a:cs typeface="Consolas" pitchFamily="34" charset="-120"/>
              </a:rPr>
              <a:t>02</a:t>
            </a:r>
            <a:endParaRPr lang="en-US" sz="1100" dirty="0"/>
          </a:p>
        </p:txBody>
      </p:sp>
      <p:sp>
        <p:nvSpPr>
          <p:cNvPr id="11" name="Text 9"/>
          <p:cNvSpPr txBox="1"/>
          <p:nvPr/>
        </p:nvSpPr>
        <p:spPr>
          <a:xfrm>
            <a:off x="3992880" y="1234440"/>
            <a:ext cx="1752600" cy="347472"/>
          </a:xfrm>
          <a:prstGeom prst="rect">
            <a:avLst/>
          </a:prstGeom>
          <a:noFill/>
          <a:ln/>
        </p:spPr>
        <p:txBody>
          <a:bodyPr wrap="square" lIns="0" tIns="0" rIns="0" bIns="0" rtlCol="0" anchor="ctr"/>
          <a:lstStyle/>
          <a:p>
            <a:pPr marL="0" indent="0">
              <a:buNone/>
            </a:pPr>
            <a:r>
              <a:rPr lang="en-US" sz="1400" b="1" dirty="0">
                <a:solidFill>
                  <a:srgbClr val="F8FAFC"/>
                </a:solidFill>
              </a:rPr>
              <a:t>Herramientas</a:t>
            </a:r>
            <a:endParaRPr lang="en-US" sz="1400" dirty="0"/>
          </a:p>
        </p:txBody>
      </p:sp>
      <p:sp>
        <p:nvSpPr>
          <p:cNvPr id="12" name="Text 10"/>
          <p:cNvSpPr txBox="1"/>
          <p:nvPr/>
        </p:nvSpPr>
        <p:spPr>
          <a:xfrm>
            <a:off x="3444240" y="1691640"/>
            <a:ext cx="2255520" cy="1463040"/>
          </a:xfrm>
          <a:prstGeom prst="rect">
            <a:avLst/>
          </a:prstGeom>
          <a:noFill/>
          <a:ln/>
        </p:spPr>
        <p:txBody>
          <a:bodyPr wrap="square" lIns="0" tIns="0" rIns="0" bIns="0" rtlCol="0" anchor="t"/>
          <a:lstStyle/>
          <a:p>
            <a:pPr marL="0" indent="0">
              <a:buNone/>
            </a:pPr>
            <a:r>
              <a:rPr lang="en-US" sz="1150" dirty="0">
                <a:solidFill>
                  <a:srgbClr val="CBD5E1"/>
                </a:solidFill>
              </a:rPr>
              <a:t>Python, Ollama, modelos de la familia Llama y MongoDB. Datos demográficos mapeados con Python (tabla estándar); el resto del HTML, con el modelo.</a:t>
            </a:r>
            <a:endParaRPr lang="en-US" sz="1150" dirty="0"/>
          </a:p>
        </p:txBody>
      </p:sp>
      <p:sp>
        <p:nvSpPr>
          <p:cNvPr id="13" name="Tarjeta 3"/>
          <p:cNvSpPr/>
          <p:nvPr/>
        </p:nvSpPr>
        <p:spPr>
          <a:xfrm>
            <a:off x="6065520" y="1143000"/>
            <a:ext cx="2621280" cy="2103120"/>
          </a:xfrm>
          <a:prstGeom prst="rect">
            <a:avLst/>
          </a:prstGeom>
          <a:solidFill>
            <a:srgbClr val="111A22"/>
          </a:solidFill>
          <a:ln w="12700">
            <a:solidFill>
              <a:srgbClr val="1F2D3A"/>
            </a:solidFill>
            <a:prstDash val="solid"/>
          </a:ln>
        </p:spPr>
      </p:sp>
      <p:sp>
        <p:nvSpPr>
          <p:cNvPr id="14" name="Etiqueta 3"/>
          <p:cNvSpPr/>
          <p:nvPr/>
        </p:nvSpPr>
        <p:spPr>
          <a:xfrm>
            <a:off x="6230112" y="1280160"/>
            <a:ext cx="457200" cy="256032"/>
          </a:xfrm>
          <a:prstGeom prst="rect">
            <a:avLst/>
          </a:prstGeom>
          <a:solidFill>
            <a:srgbClr val="0A0F14"/>
          </a:solidFill>
          <a:ln w="12700">
            <a:solidFill>
              <a:srgbClr val="F59E0B"/>
            </a:solidFill>
            <a:prstDash val="solid"/>
          </a:ln>
        </p:spPr>
      </p:sp>
      <p:sp>
        <p:nvSpPr>
          <p:cNvPr id="15" name="Text 13"/>
          <p:cNvSpPr txBox="1"/>
          <p:nvPr/>
        </p:nvSpPr>
        <p:spPr>
          <a:xfrm>
            <a:off x="6230112" y="1280160"/>
            <a:ext cx="457200" cy="256032"/>
          </a:xfrm>
          <a:prstGeom prst="rect">
            <a:avLst/>
          </a:prstGeom>
          <a:noFill/>
          <a:ln/>
        </p:spPr>
        <p:txBody>
          <a:bodyPr wrap="square" lIns="0" tIns="0" rIns="0" bIns="0" rtlCol="0" anchor="ctr"/>
          <a:lstStyle/>
          <a:p>
            <a:pPr marL="0" indent="0" algn="ctr">
              <a:buNone/>
            </a:pPr>
            <a:r>
              <a:rPr lang="en-US" sz="1100" b="1" dirty="0">
                <a:solidFill>
                  <a:srgbClr val="F59E0B"/>
                </a:solidFill>
                <a:latin typeface="Consolas" pitchFamily="34" charset="0"/>
                <a:ea typeface="Consolas" pitchFamily="34" charset="-122"/>
                <a:cs typeface="Consolas" pitchFamily="34" charset="-120"/>
              </a:rPr>
              <a:t>03</a:t>
            </a:r>
            <a:endParaRPr lang="en-US" sz="1100" dirty="0"/>
          </a:p>
        </p:txBody>
      </p:sp>
      <p:sp>
        <p:nvSpPr>
          <p:cNvPr id="16" name="Text 14"/>
          <p:cNvSpPr txBox="1"/>
          <p:nvPr/>
        </p:nvSpPr>
        <p:spPr>
          <a:xfrm>
            <a:off x="6797040" y="1234440"/>
            <a:ext cx="1752600" cy="347472"/>
          </a:xfrm>
          <a:prstGeom prst="rect">
            <a:avLst/>
          </a:prstGeom>
          <a:noFill/>
          <a:ln/>
        </p:spPr>
        <p:txBody>
          <a:bodyPr wrap="square" lIns="0" tIns="0" rIns="0" bIns="0" rtlCol="0" anchor="ctr"/>
          <a:lstStyle/>
          <a:p>
            <a:pPr marL="0" indent="0">
              <a:buNone/>
            </a:pPr>
            <a:r>
              <a:rPr lang="en-US" sz="1400" b="1" dirty="0">
                <a:solidFill>
                  <a:srgbClr val="F8FAFC"/>
                </a:solidFill>
              </a:rPr>
              <a:t>Elección del modelo</a:t>
            </a:r>
            <a:endParaRPr lang="en-US" sz="1400" dirty="0"/>
          </a:p>
        </p:txBody>
      </p:sp>
      <p:sp>
        <p:nvSpPr>
          <p:cNvPr id="17" name="Text 15"/>
          <p:cNvSpPr txBox="1"/>
          <p:nvPr/>
        </p:nvSpPr>
        <p:spPr>
          <a:xfrm>
            <a:off x="6248400" y="1691640"/>
            <a:ext cx="2255520" cy="1463040"/>
          </a:xfrm>
          <a:prstGeom prst="rect">
            <a:avLst/>
          </a:prstGeom>
          <a:noFill/>
          <a:ln/>
        </p:spPr>
        <p:txBody>
          <a:bodyPr wrap="square" lIns="0" tIns="0" rIns="0" bIns="0" rtlCol="0" anchor="t"/>
          <a:lstStyle/>
          <a:p>
            <a:pPr marL="0" indent="0">
              <a:buNone/>
            </a:pPr>
            <a:r>
              <a:rPr lang="en-US" sz="1150" dirty="0">
                <a:solidFill>
                  <a:srgbClr val="CBD5E1"/>
                </a:solidFill>
              </a:rPr>
              <a:t>Llama 3.1:8b se descartó por falta de hardware (proceso demasiado largo). Se usó Llama 3.2 3B: más ligero y rápido, con resultados similares aunque algo menos preciso.</a:t>
            </a:r>
            <a:endParaRPr lang="en-US" sz="1150" dirty="0"/>
          </a:p>
        </p:txBody>
      </p:sp>
      <p:sp>
        <p:nvSpPr>
          <p:cNvPr id="18" name="Paso 1"/>
          <p:cNvSpPr/>
          <p:nvPr/>
        </p:nvSpPr>
        <p:spPr>
          <a:xfrm>
            <a:off x="457200" y="3520440"/>
            <a:ext cx="1499616" cy="777240"/>
          </a:xfrm>
          <a:prstGeom prst="rect">
            <a:avLst/>
          </a:prstGeom>
          <a:solidFill>
            <a:srgbClr val="111A22"/>
          </a:solidFill>
          <a:ln w="12700">
            <a:solidFill>
              <a:srgbClr val="1F2D3A"/>
            </a:solidFill>
            <a:prstDash val="solid"/>
          </a:ln>
        </p:spPr>
      </p:sp>
      <p:sp>
        <p:nvSpPr>
          <p:cNvPr id="19" name="Text 17"/>
          <p:cNvSpPr txBox="1"/>
          <p:nvPr/>
        </p:nvSpPr>
        <p:spPr>
          <a:xfrm>
            <a:off x="530352" y="3520440"/>
            <a:ext cx="1353312" cy="777240"/>
          </a:xfrm>
          <a:prstGeom prst="rect">
            <a:avLst/>
          </a:prstGeom>
          <a:noFill/>
          <a:ln/>
        </p:spPr>
        <p:txBody>
          <a:bodyPr wrap="square" lIns="0" tIns="0" rIns="0" bIns="0" rtlCol="0" anchor="ctr"/>
          <a:lstStyle/>
          <a:p>
            <a:pPr marL="0" indent="0">
              <a:buNone/>
            </a:pPr>
            <a:r>
              <a:rPr lang="en-US" sz="1100" b="1" dirty="0">
                <a:solidFill>
                  <a:srgbClr val="22D3EE"/>
                </a:solidFill>
                <a:latin typeface="Consolas" pitchFamily="34" charset="0"/>
                <a:ea typeface="Consolas" pitchFamily="34" charset="-122"/>
                <a:cs typeface="Consolas" pitchFamily="34" charset="-120"/>
              </a:rPr>
              <a:t>01  </a:t>
            </a:r>
            <a:r>
              <a:rPr lang="en-US" sz="1100" dirty="0">
                <a:solidFill>
                  <a:srgbClr val="F8FAFC"/>
                </a:solidFill>
              </a:rPr>
              <a:t>Limpiar HTML</a:t>
            </a:r>
            <a:endParaRPr lang="en-US" sz="1100" dirty="0"/>
          </a:p>
        </p:txBody>
      </p:sp>
      <p:sp>
        <p:nvSpPr>
          <p:cNvPr id="20" name="Paso 2"/>
          <p:cNvSpPr/>
          <p:nvPr/>
        </p:nvSpPr>
        <p:spPr>
          <a:xfrm>
            <a:off x="2139696" y="3520440"/>
            <a:ext cx="1499616" cy="777240"/>
          </a:xfrm>
          <a:prstGeom prst="rect">
            <a:avLst/>
          </a:prstGeom>
          <a:solidFill>
            <a:srgbClr val="111A22"/>
          </a:solidFill>
          <a:ln w="12700">
            <a:solidFill>
              <a:srgbClr val="1F2D3A"/>
            </a:solidFill>
            <a:prstDash val="solid"/>
          </a:ln>
        </p:spPr>
      </p:sp>
      <p:sp>
        <p:nvSpPr>
          <p:cNvPr id="21" name="Text 19"/>
          <p:cNvSpPr txBox="1"/>
          <p:nvPr/>
        </p:nvSpPr>
        <p:spPr>
          <a:xfrm>
            <a:off x="2212848" y="3520440"/>
            <a:ext cx="1353312" cy="777240"/>
          </a:xfrm>
          <a:prstGeom prst="rect">
            <a:avLst/>
          </a:prstGeom>
          <a:noFill/>
          <a:ln/>
        </p:spPr>
        <p:txBody>
          <a:bodyPr wrap="square" lIns="0" tIns="0" rIns="0" bIns="0" rtlCol="0" anchor="ctr"/>
          <a:lstStyle/>
          <a:p>
            <a:pPr marL="0" indent="0">
              <a:buNone/>
            </a:pPr>
            <a:r>
              <a:rPr lang="en-US" sz="1100" b="1" dirty="0">
                <a:solidFill>
                  <a:srgbClr val="22D3EE"/>
                </a:solidFill>
                <a:latin typeface="Consolas" pitchFamily="34" charset="0"/>
                <a:ea typeface="Consolas" pitchFamily="34" charset="-122"/>
                <a:cs typeface="Consolas" pitchFamily="34" charset="-120"/>
              </a:rPr>
              <a:t>02  </a:t>
            </a:r>
            <a:r>
              <a:rPr lang="en-US" sz="1100" dirty="0">
                <a:solidFill>
                  <a:srgbClr val="F8FAFC"/>
                </a:solidFill>
              </a:rPr>
              <a:t>Filtrar vacíos y largos</a:t>
            </a:r>
            <a:endParaRPr lang="en-US" sz="1100" dirty="0"/>
          </a:p>
        </p:txBody>
      </p:sp>
      <p:sp>
        <p:nvSpPr>
          <p:cNvPr id="22" name="Paso 3"/>
          <p:cNvSpPr/>
          <p:nvPr/>
        </p:nvSpPr>
        <p:spPr>
          <a:xfrm>
            <a:off x="3822192" y="3520440"/>
            <a:ext cx="1499616" cy="777240"/>
          </a:xfrm>
          <a:prstGeom prst="rect">
            <a:avLst/>
          </a:prstGeom>
          <a:solidFill>
            <a:srgbClr val="111A22"/>
          </a:solidFill>
          <a:ln w="12700">
            <a:solidFill>
              <a:srgbClr val="22D3EE"/>
            </a:solidFill>
            <a:prstDash val="solid"/>
          </a:ln>
        </p:spPr>
      </p:sp>
      <p:sp>
        <p:nvSpPr>
          <p:cNvPr id="23" name="Text 21"/>
          <p:cNvSpPr txBox="1"/>
          <p:nvPr/>
        </p:nvSpPr>
        <p:spPr>
          <a:xfrm>
            <a:off x="3895344" y="3520440"/>
            <a:ext cx="1353312" cy="777240"/>
          </a:xfrm>
          <a:prstGeom prst="rect">
            <a:avLst/>
          </a:prstGeom>
          <a:noFill/>
          <a:ln/>
        </p:spPr>
        <p:txBody>
          <a:bodyPr wrap="square" lIns="0" tIns="0" rIns="0" bIns="0" rtlCol="0" anchor="ctr"/>
          <a:lstStyle/>
          <a:p>
            <a:pPr marL="0" indent="0">
              <a:buNone/>
            </a:pPr>
            <a:r>
              <a:rPr lang="en-US" sz="1100" b="1" dirty="0">
                <a:solidFill>
                  <a:srgbClr val="22D3EE"/>
                </a:solidFill>
                <a:latin typeface="Consolas" pitchFamily="34" charset="0"/>
                <a:ea typeface="Consolas" pitchFamily="34" charset="-122"/>
                <a:cs typeface="Consolas" pitchFamily="34" charset="-120"/>
              </a:rPr>
              <a:t>03  </a:t>
            </a:r>
            <a:r>
              <a:rPr lang="en-US" sz="1100" dirty="0">
                <a:solidFill>
                  <a:srgbClr val="F8FAFC"/>
                </a:solidFill>
              </a:rPr>
              <a:t>Extraer JSON con el modelo</a:t>
            </a:r>
            <a:endParaRPr lang="en-US" sz="1100" dirty="0"/>
          </a:p>
        </p:txBody>
      </p:sp>
      <p:sp>
        <p:nvSpPr>
          <p:cNvPr id="24" name="Paso 4"/>
          <p:cNvSpPr/>
          <p:nvPr/>
        </p:nvSpPr>
        <p:spPr>
          <a:xfrm>
            <a:off x="5504688" y="3520440"/>
            <a:ext cx="1499616" cy="777240"/>
          </a:xfrm>
          <a:prstGeom prst="rect">
            <a:avLst/>
          </a:prstGeom>
          <a:solidFill>
            <a:srgbClr val="111A22"/>
          </a:solidFill>
          <a:ln w="12700">
            <a:solidFill>
              <a:srgbClr val="1F2D3A"/>
            </a:solidFill>
            <a:prstDash val="solid"/>
          </a:ln>
        </p:spPr>
      </p:sp>
      <p:sp>
        <p:nvSpPr>
          <p:cNvPr id="25" name="Text 23"/>
          <p:cNvSpPr txBox="1"/>
          <p:nvPr/>
        </p:nvSpPr>
        <p:spPr>
          <a:xfrm>
            <a:off x="5577840" y="3520440"/>
            <a:ext cx="1353312" cy="777240"/>
          </a:xfrm>
          <a:prstGeom prst="rect">
            <a:avLst/>
          </a:prstGeom>
          <a:noFill/>
          <a:ln/>
        </p:spPr>
        <p:txBody>
          <a:bodyPr wrap="square" lIns="0" tIns="0" rIns="0" bIns="0" rtlCol="0" anchor="ctr"/>
          <a:lstStyle/>
          <a:p>
            <a:pPr marL="0" indent="0">
              <a:buNone/>
            </a:pPr>
            <a:r>
              <a:rPr lang="en-US" sz="1100" b="1" dirty="0">
                <a:solidFill>
                  <a:srgbClr val="22D3EE"/>
                </a:solidFill>
                <a:latin typeface="Consolas" pitchFamily="34" charset="0"/>
                <a:ea typeface="Consolas" pitchFamily="34" charset="-122"/>
                <a:cs typeface="Consolas" pitchFamily="34" charset="-120"/>
              </a:rPr>
              <a:t>04  </a:t>
            </a:r>
            <a:r>
              <a:rPr lang="en-US" sz="1100" dirty="0">
                <a:solidFill>
                  <a:srgbClr val="F8FAFC"/>
                </a:solidFill>
              </a:rPr>
              <a:t>Validar estructura</a:t>
            </a:r>
            <a:endParaRPr lang="en-US" sz="1100" dirty="0"/>
          </a:p>
        </p:txBody>
      </p:sp>
      <p:sp>
        <p:nvSpPr>
          <p:cNvPr id="26" name="Paso 5"/>
          <p:cNvSpPr/>
          <p:nvPr/>
        </p:nvSpPr>
        <p:spPr>
          <a:xfrm>
            <a:off x="7187184" y="3520440"/>
            <a:ext cx="1499616" cy="777240"/>
          </a:xfrm>
          <a:prstGeom prst="rect">
            <a:avLst/>
          </a:prstGeom>
          <a:solidFill>
            <a:srgbClr val="111A22"/>
          </a:solidFill>
          <a:ln w="12700">
            <a:solidFill>
              <a:srgbClr val="1F2D3A"/>
            </a:solidFill>
            <a:prstDash val="solid"/>
          </a:ln>
        </p:spPr>
      </p:sp>
      <p:sp>
        <p:nvSpPr>
          <p:cNvPr id="27" name="Text 25"/>
          <p:cNvSpPr txBox="1"/>
          <p:nvPr/>
        </p:nvSpPr>
        <p:spPr>
          <a:xfrm>
            <a:off x="7260336" y="3520440"/>
            <a:ext cx="1353312" cy="777240"/>
          </a:xfrm>
          <a:prstGeom prst="rect">
            <a:avLst/>
          </a:prstGeom>
          <a:noFill/>
          <a:ln/>
        </p:spPr>
        <p:txBody>
          <a:bodyPr wrap="square" lIns="0" tIns="0" rIns="0" bIns="0" rtlCol="0" anchor="ctr"/>
          <a:lstStyle/>
          <a:p>
            <a:pPr marL="0" indent="0">
              <a:buNone/>
            </a:pPr>
            <a:r>
              <a:rPr lang="en-US" sz="1100" b="1" dirty="0">
                <a:solidFill>
                  <a:srgbClr val="22D3EE"/>
                </a:solidFill>
                <a:latin typeface="Consolas" pitchFamily="34" charset="0"/>
                <a:ea typeface="Consolas" pitchFamily="34" charset="-122"/>
                <a:cs typeface="Consolas" pitchFamily="34" charset="-120"/>
              </a:rPr>
              <a:t>05  </a:t>
            </a:r>
            <a:r>
              <a:rPr lang="en-US" sz="1100" dirty="0">
                <a:solidFill>
                  <a:srgbClr val="F8FAFC"/>
                </a:solidFill>
              </a:rPr>
              <a:t>Guardar en MongoDB</a:t>
            </a:r>
            <a:endParaRPr lang="en-US" sz="1100" dirty="0"/>
          </a:p>
        </p:txBody>
      </p:sp>
      <p:sp>
        <p:nvSpPr>
          <p:cNvPr id="28" name="Text 26"/>
          <p:cNvSpPr txBox="1"/>
          <p:nvPr/>
        </p:nvSpPr>
        <p:spPr>
          <a:xfrm>
            <a:off x="457200" y="4370832"/>
            <a:ext cx="5486400" cy="228600"/>
          </a:xfrm>
          <a:prstGeom prst="rect">
            <a:avLst/>
          </a:prstGeom>
          <a:noFill/>
          <a:ln/>
        </p:spPr>
        <p:txBody>
          <a:bodyPr wrap="square" lIns="0" tIns="0" rIns="0" bIns="0" rtlCol="0" anchor="ctr"/>
          <a:lstStyle/>
          <a:p>
            <a:pPr marL="0" indent="0" algn="l">
              <a:buNone/>
            </a:pPr>
            <a:r>
              <a:rPr lang="en-US" sz="1000" dirty="0">
                <a:solidFill>
                  <a:srgbClr val="7C8BA1"/>
                </a:solidFill>
                <a:latin typeface="Consolas" pitchFamily="34" charset="0"/>
                <a:ea typeface="Consolas" pitchFamily="34" charset="-122"/>
                <a:cs typeface="Consolas" pitchFamily="34" charset="-120"/>
              </a:rPr>
              <a:t>FLUJO POR INFORME · LOTES DE 500 · 4 HILOS</a:t>
            </a:r>
            <a:endParaRPr lang="en-US" sz="1000" dirty="0"/>
          </a:p>
        </p:txBody>
      </p:sp>
      <p:sp>
        <p:nvSpPr>
          <p:cNvPr id="29" name="Slide Number Placeholder 0"/>
          <p:cNvSpPr>
            <a:spLocks noGrp="1"/>
          </p:cNvSpPr>
          <p:nvPr>
            <p:ph type="sldNum" sz="quarter" idx="4294967295"/>
          </p:nvPr>
        </p:nvSpPr>
        <p:spPr>
          <a:xfrm>
            <a:off x="8229600" y="4727448"/>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7C8BA1"/>
                </a:solidFill>
                <a:latin typeface="Consolas"/>
                <a:ea typeface="Consolas"/>
                <a:cs typeface="Consolas"/>
              </a:defRPr>
            </a:lvl1pPr>
          </a:lstStyle>
          <a:p>
            <a:pPr algn="r"/>
            <a:fld id="{F7021451-1387-4CA6-816F-3879F97B5CBC}" type="slidenum">
              <a:rPr lang="en-US" b="0"/>
              <a:t>13</a:t>
            </a:fld>
            <a:endParaRPr lang="en-US"/>
          </a:p>
        </p:txBody>
      </p:sp>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9"/>
          <p:cNvSpPr>
            <a:spLocks noGrp="1"/>
          </p:cNvSpPr>
          <p:nvPr>
            <p:ph type="title" idx="109" hasCustomPrompt="1"/>
          </p:nvPr>
        </p:nvSpPr>
        <p:spPr>
          <a:xfrm>
            <a:off x="457200" y="320040"/>
            <a:ext cx="7040880" cy="685800"/>
          </a:xfrm>
          <a:prstGeom prst="rect">
            <a:avLst/>
          </a:prstGeom>
          <a:noFill/>
          <a:ln/>
        </p:spPr>
        <p:txBody>
          <a:bodyPr wrap="square" lIns="0" tIns="0" rIns="0" bIns="0" rtlCol="0" anchor="ctr"/>
          <a:lstStyle/>
          <a:p>
            <a:pPr marL="0" indent="0" algn="l">
              <a:buNone/>
            </a:pPr>
            <a:r>
              <a:rPr lang="en-US" sz="2400" b="1" dirty="0">
                <a:solidFill>
                  <a:srgbClr val="F8FAFC"/>
                </a:solidFill>
              </a:rPr>
              <a:t>Modelo y parámetros utilizados</a:t>
            </a:r>
            <a:endParaRPr lang="en-US" sz="2400" dirty="0"/>
          </a:p>
        </p:txBody>
      </p:sp>
      <p:sp>
        <p:nvSpPr>
          <p:cNvPr id="3" name="Tarjeta 1"/>
          <p:cNvSpPr/>
          <p:nvPr/>
        </p:nvSpPr>
        <p:spPr>
          <a:xfrm>
            <a:off x="457200" y="1143000"/>
            <a:ext cx="4023360" cy="2194560"/>
          </a:xfrm>
          <a:prstGeom prst="rect">
            <a:avLst/>
          </a:prstGeom>
          <a:solidFill>
            <a:srgbClr val="111A22"/>
          </a:solidFill>
          <a:ln w="12700">
            <a:solidFill>
              <a:srgbClr val="1F2D3A"/>
            </a:solidFill>
            <a:prstDash val="solid"/>
          </a:ln>
        </p:spPr>
      </p:sp>
      <p:sp>
        <p:nvSpPr>
          <p:cNvPr id="4" name="Etiqueta 1"/>
          <p:cNvSpPr/>
          <p:nvPr/>
        </p:nvSpPr>
        <p:spPr>
          <a:xfrm>
            <a:off x="621792" y="1280160"/>
            <a:ext cx="457200" cy="256032"/>
          </a:xfrm>
          <a:prstGeom prst="rect">
            <a:avLst/>
          </a:prstGeom>
          <a:solidFill>
            <a:srgbClr val="0A0F14"/>
          </a:solidFill>
          <a:ln w="12700">
            <a:solidFill>
              <a:srgbClr val="22D3EE"/>
            </a:solidFill>
            <a:prstDash val="solid"/>
          </a:ln>
        </p:spPr>
      </p:sp>
      <p:sp>
        <p:nvSpPr>
          <p:cNvPr id="5" name="Text 3"/>
          <p:cNvSpPr txBox="1"/>
          <p:nvPr/>
        </p:nvSpPr>
        <p:spPr>
          <a:xfrm>
            <a:off x="621792" y="1280160"/>
            <a:ext cx="457200" cy="256032"/>
          </a:xfrm>
          <a:prstGeom prst="rect">
            <a:avLst/>
          </a:prstGeom>
          <a:noFill/>
          <a:ln/>
        </p:spPr>
        <p:txBody>
          <a:bodyPr wrap="square" lIns="0" tIns="0" rIns="0" bIns="0" rtlCol="0" anchor="ctr"/>
          <a:lstStyle/>
          <a:p>
            <a:pPr marL="0" indent="0" algn="ctr">
              <a:buNone/>
            </a:pPr>
            <a:r>
              <a:rPr lang="en-US" sz="1100" b="1" dirty="0">
                <a:solidFill>
                  <a:srgbClr val="22D3EE"/>
                </a:solidFill>
                <a:latin typeface="Consolas" pitchFamily="34" charset="0"/>
                <a:ea typeface="Consolas" pitchFamily="34" charset="-122"/>
                <a:cs typeface="Consolas" pitchFamily="34" charset="-120"/>
              </a:rPr>
              <a:t>01</a:t>
            </a:r>
            <a:endParaRPr lang="en-US" sz="1100" dirty="0"/>
          </a:p>
        </p:txBody>
      </p:sp>
      <p:sp>
        <p:nvSpPr>
          <p:cNvPr id="6" name="Text 4"/>
          <p:cNvSpPr txBox="1"/>
          <p:nvPr/>
        </p:nvSpPr>
        <p:spPr>
          <a:xfrm>
            <a:off x="1188720" y="1234440"/>
            <a:ext cx="3154680" cy="347472"/>
          </a:xfrm>
          <a:prstGeom prst="rect">
            <a:avLst/>
          </a:prstGeom>
          <a:noFill/>
          <a:ln/>
        </p:spPr>
        <p:txBody>
          <a:bodyPr wrap="square" lIns="0" tIns="0" rIns="0" bIns="0" rtlCol="0" anchor="ctr"/>
          <a:lstStyle/>
          <a:p>
            <a:pPr marL="0" indent="0">
              <a:buNone/>
            </a:pPr>
            <a:r>
              <a:rPr lang="en-US" sz="1400" b="1" dirty="0">
                <a:solidFill>
                  <a:srgbClr val="F8FAFC"/>
                </a:solidFill>
              </a:rPr>
              <a:t>Ollama + llama3.2:3b</a:t>
            </a:r>
            <a:endParaRPr lang="en-US" sz="1400" dirty="0"/>
          </a:p>
        </p:txBody>
      </p:sp>
      <p:sp>
        <p:nvSpPr>
          <p:cNvPr id="7" name="Text 5"/>
          <p:cNvSpPr txBox="1"/>
          <p:nvPr/>
        </p:nvSpPr>
        <p:spPr>
          <a:xfrm>
            <a:off x="640080" y="1691640"/>
            <a:ext cx="3657600" cy="1554480"/>
          </a:xfrm>
          <a:prstGeom prst="rect">
            <a:avLst/>
          </a:prstGeom>
          <a:noFill/>
          <a:ln/>
        </p:spPr>
        <p:txBody>
          <a:bodyPr wrap="square" lIns="0" tIns="0" rIns="0" bIns="0" rtlCol="0" anchor="t"/>
          <a:lstStyle/>
          <a:p>
            <a:pPr marL="0" indent="0">
              <a:buNone/>
            </a:pPr>
            <a:r>
              <a:rPr lang="en-US" sz="1200" dirty="0">
                <a:solidFill>
                  <a:srgbClr val="CBD5E1"/>
                </a:solidFill>
              </a:rPr>
              <a:t>Plataforma local: privacidad (los datos no salen del equipo), sin internet tras la descarga, multiplataforma. Modelo de Meta de ~3.200 M de parámetros, ~2 GB cuantizado: rápido, pero menos fiable que un 8B separando varios estudios.</a:t>
            </a:r>
            <a:endParaRPr lang="en-US" sz="1200" dirty="0"/>
          </a:p>
        </p:txBody>
      </p:sp>
      <p:sp>
        <p:nvSpPr>
          <p:cNvPr id="8" name="Tarjeta 2"/>
          <p:cNvSpPr/>
          <p:nvPr/>
        </p:nvSpPr>
        <p:spPr>
          <a:xfrm>
            <a:off x="4663440" y="1143000"/>
            <a:ext cx="4023360" cy="2194560"/>
          </a:xfrm>
          <a:prstGeom prst="rect">
            <a:avLst/>
          </a:prstGeom>
          <a:solidFill>
            <a:srgbClr val="111A22"/>
          </a:solidFill>
          <a:ln w="12700">
            <a:solidFill>
              <a:srgbClr val="1F2D3A"/>
            </a:solidFill>
            <a:prstDash val="solid"/>
          </a:ln>
        </p:spPr>
      </p:sp>
      <p:sp>
        <p:nvSpPr>
          <p:cNvPr id="9" name="Etiqueta 2"/>
          <p:cNvSpPr/>
          <p:nvPr/>
        </p:nvSpPr>
        <p:spPr>
          <a:xfrm>
            <a:off x="4828032" y="1280160"/>
            <a:ext cx="457200" cy="256032"/>
          </a:xfrm>
          <a:prstGeom prst="rect">
            <a:avLst/>
          </a:prstGeom>
          <a:solidFill>
            <a:srgbClr val="0A0F14"/>
          </a:solidFill>
          <a:ln w="12700">
            <a:solidFill>
              <a:srgbClr val="818CF8"/>
            </a:solidFill>
            <a:prstDash val="solid"/>
          </a:ln>
        </p:spPr>
      </p:sp>
      <p:sp>
        <p:nvSpPr>
          <p:cNvPr id="10" name="Text 8"/>
          <p:cNvSpPr txBox="1"/>
          <p:nvPr/>
        </p:nvSpPr>
        <p:spPr>
          <a:xfrm>
            <a:off x="4828032" y="1280160"/>
            <a:ext cx="457200" cy="256032"/>
          </a:xfrm>
          <a:prstGeom prst="rect">
            <a:avLst/>
          </a:prstGeom>
          <a:noFill/>
          <a:ln/>
        </p:spPr>
        <p:txBody>
          <a:bodyPr wrap="square" lIns="0" tIns="0" rIns="0" bIns="0" rtlCol="0" anchor="ctr"/>
          <a:lstStyle/>
          <a:p>
            <a:pPr marL="0" indent="0" algn="ctr">
              <a:buNone/>
            </a:pPr>
            <a:r>
              <a:rPr lang="en-US" sz="1100" b="1" dirty="0">
                <a:solidFill>
                  <a:srgbClr val="818CF8"/>
                </a:solidFill>
                <a:latin typeface="Consolas" pitchFamily="34" charset="0"/>
                <a:ea typeface="Consolas" pitchFamily="34" charset="-122"/>
                <a:cs typeface="Consolas" pitchFamily="34" charset="-120"/>
              </a:rPr>
              <a:t>02</a:t>
            </a:r>
            <a:endParaRPr lang="en-US" sz="1100" dirty="0"/>
          </a:p>
        </p:txBody>
      </p:sp>
      <p:sp>
        <p:nvSpPr>
          <p:cNvPr id="11" name="Text 9"/>
          <p:cNvSpPr txBox="1"/>
          <p:nvPr/>
        </p:nvSpPr>
        <p:spPr>
          <a:xfrm>
            <a:off x="5394960" y="1234440"/>
            <a:ext cx="3154680" cy="347472"/>
          </a:xfrm>
          <a:prstGeom prst="rect">
            <a:avLst/>
          </a:prstGeom>
          <a:noFill/>
          <a:ln/>
        </p:spPr>
        <p:txBody>
          <a:bodyPr wrap="square" lIns="0" tIns="0" rIns="0" bIns="0" rtlCol="0" anchor="ctr"/>
          <a:lstStyle/>
          <a:p>
            <a:pPr marL="0" indent="0">
              <a:buNone/>
            </a:pPr>
            <a:r>
              <a:rPr lang="en-US" sz="1400" b="1" dirty="0">
                <a:solidFill>
                  <a:srgbClr val="F8FAFC"/>
                </a:solidFill>
              </a:rPr>
              <a:t>Opciones de la llamada</a:t>
            </a:r>
            <a:endParaRPr lang="en-US" sz="1400" dirty="0"/>
          </a:p>
        </p:txBody>
      </p:sp>
      <p:sp>
        <p:nvSpPr>
          <p:cNvPr id="12" name="Text 10"/>
          <p:cNvSpPr txBox="1"/>
          <p:nvPr/>
        </p:nvSpPr>
        <p:spPr>
          <a:xfrm>
            <a:off x="4846320" y="1691640"/>
            <a:ext cx="3657600" cy="1554480"/>
          </a:xfrm>
          <a:prstGeom prst="rect">
            <a:avLst/>
          </a:prstGeom>
          <a:noFill/>
          <a:ln/>
        </p:spPr>
        <p:txBody>
          <a:bodyPr wrap="square" lIns="0" tIns="0" rIns="0" bIns="0" rtlCol="0" anchor="t"/>
          <a:lstStyle/>
          <a:p>
            <a:pPr marL="0" indent="0">
              <a:buNone/>
            </a:pPr>
            <a:r>
              <a:rPr lang="en-US" sz="1200" dirty="0">
                <a:solidFill>
                  <a:srgbClr val="CBD5E1"/>
                </a:solidFill>
              </a:rPr>
              <a:t>format: json · temperature: 0,0 · num_predict: 512 · num_ctx: 1024 · num_gpu: 99 · low_vram: False </a:t>
            </a:r>
            <a:r>
              <a:rPr lang="en-US" sz="1200" dirty="0" smtClean="0">
                <a:solidFill>
                  <a:srgbClr val="CBD5E1"/>
                </a:solidFill>
              </a:rPr>
              <a:t>·</a:t>
            </a:r>
            <a:endParaRPr lang="en-US" sz="1200" dirty="0"/>
          </a:p>
        </p:txBody>
      </p:sp>
      <p:sp>
        <p:nvSpPr>
          <p:cNvPr id="13" name="Aviso contexto"/>
          <p:cNvSpPr/>
          <p:nvPr/>
        </p:nvSpPr>
        <p:spPr>
          <a:xfrm>
            <a:off x="457200" y="3474720"/>
            <a:ext cx="8229600" cy="1005840"/>
          </a:xfrm>
          <a:prstGeom prst="rect">
            <a:avLst/>
          </a:prstGeom>
          <a:solidFill>
            <a:srgbClr val="111A22"/>
          </a:solidFill>
          <a:ln w="12700">
            <a:solidFill>
              <a:srgbClr val="F59E0B"/>
            </a:solidFill>
            <a:prstDash val="solid"/>
          </a:ln>
        </p:spPr>
      </p:sp>
      <p:sp>
        <p:nvSpPr>
          <p:cNvPr id="14" name="Text 12"/>
          <p:cNvSpPr txBox="1"/>
          <p:nvPr/>
        </p:nvSpPr>
        <p:spPr>
          <a:xfrm>
            <a:off x="640080" y="3474720"/>
            <a:ext cx="7863840" cy="1005840"/>
          </a:xfrm>
          <a:prstGeom prst="rect">
            <a:avLst/>
          </a:prstGeom>
          <a:noFill/>
          <a:ln/>
        </p:spPr>
        <p:txBody>
          <a:bodyPr wrap="square" lIns="0" tIns="0" rIns="0" bIns="0" rtlCol="0" anchor="ctr"/>
          <a:lstStyle/>
          <a:p>
            <a:pPr marL="0" indent="0">
              <a:buNone/>
            </a:pPr>
            <a:r>
              <a:rPr lang="en-US" sz="1200" b="1" dirty="0">
                <a:solidFill>
                  <a:srgbClr val="F59E0B"/>
                </a:solidFill>
                <a:latin typeface="Consolas" pitchFamily="34" charset="0"/>
                <a:ea typeface="Consolas" pitchFamily="34" charset="-122"/>
                <a:cs typeface="Consolas" pitchFamily="34" charset="-120"/>
              </a:rPr>
              <a:t>IMPLICACIÓN  </a:t>
            </a:r>
            <a:r>
              <a:rPr lang="en-US" sz="1200" dirty="0">
                <a:solidFill>
                  <a:srgbClr val="F8FAFC"/>
                </a:solidFill>
              </a:rPr>
              <a:t>con num_ctx 1024 y num_predict 512 solo caben ~1.050 caracteres de informe; los textos largos se </a:t>
            </a:r>
            <a:r>
              <a:rPr lang="en-US" sz="1200" dirty="0" err="1">
                <a:solidFill>
                  <a:srgbClr val="F8FAFC"/>
                </a:solidFill>
              </a:rPr>
              <a:t>recortan</a:t>
            </a:r>
            <a:r>
              <a:rPr lang="en-US" sz="1200" dirty="0">
                <a:solidFill>
                  <a:srgbClr val="F8FAFC"/>
                </a:solidFill>
              </a:rPr>
              <a:t> </a:t>
            </a:r>
            <a:r>
              <a:rPr lang="en-US" sz="1200" dirty="0" smtClean="0">
                <a:solidFill>
                  <a:srgbClr val="F8FAFC"/>
                </a:solidFill>
              </a:rPr>
              <a:t>y </a:t>
            </a:r>
            <a:r>
              <a:rPr lang="en-US" sz="1200" dirty="0">
                <a:solidFill>
                  <a:srgbClr val="F8FAFC"/>
                </a:solidFill>
              </a:rPr>
              <a:t>las respuestas largas se cortan. Coincide con la tasa de fallos creciente por tamaño (Fig. 2).</a:t>
            </a:r>
            <a:endParaRPr lang="en-US" sz="1200" dirty="0"/>
          </a:p>
        </p:txBody>
      </p:sp>
      <p:sp>
        <p:nvSpPr>
          <p:cNvPr id="25" name="Slide Number Placeholder 0"/>
          <p:cNvSpPr>
            <a:spLocks noGrp="1"/>
          </p:cNvSpPr>
          <p:nvPr>
            <p:ph type="sldNum" sz="quarter" idx="4294967295"/>
          </p:nvPr>
        </p:nvSpPr>
        <p:spPr>
          <a:xfrm>
            <a:off x="8229600" y="4727448"/>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7C8BA1"/>
                </a:solidFill>
                <a:latin typeface="Consolas"/>
                <a:ea typeface="Consolas"/>
                <a:cs typeface="Consolas"/>
              </a:defRPr>
            </a:lvl1pPr>
          </a:lstStyle>
          <a:p>
            <a:pPr algn="r"/>
            <a:fld id="{F7021451-1387-4CA6-816F-3879F97B5CBC}" type="slidenum">
              <a:rPr lang="en-US" b="0"/>
              <a:t>14</a:t>
            </a:fld>
            <a:endParaRPr lang="en-US"/>
          </a:p>
        </p:txBody>
      </p:sp>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9"/>
          <p:cNvSpPr>
            <a:spLocks noGrp="1"/>
          </p:cNvSpPr>
          <p:nvPr>
            <p:ph type="title" idx="109" hasCustomPrompt="1"/>
          </p:nvPr>
        </p:nvSpPr>
        <p:spPr>
          <a:xfrm>
            <a:off x="457200" y="320040"/>
            <a:ext cx="7040880" cy="685800"/>
          </a:xfrm>
          <a:prstGeom prst="rect">
            <a:avLst/>
          </a:prstGeom>
          <a:noFill/>
          <a:ln/>
        </p:spPr>
        <p:txBody>
          <a:bodyPr wrap="square" lIns="0" tIns="0" rIns="0" bIns="0" rtlCol="0" anchor="ctr"/>
          <a:lstStyle/>
          <a:p>
            <a:pPr marL="0" indent="0" algn="l">
              <a:buNone/>
            </a:pPr>
            <a:r>
              <a:rPr lang="en-US" sz="2400" b="1" dirty="0">
                <a:solidFill>
                  <a:srgbClr val="F8FAFC"/>
                </a:solidFill>
              </a:rPr>
              <a:t>Estado y avance del procesamiento</a:t>
            </a:r>
            <a:endParaRPr lang="en-US" sz="2400" dirty="0"/>
          </a:p>
        </p:txBody>
      </p:sp>
      <p:sp>
        <p:nvSpPr>
          <p:cNvPr id="3" name="Text 1"/>
          <p:cNvSpPr txBox="1"/>
          <p:nvPr/>
        </p:nvSpPr>
        <p:spPr>
          <a:xfrm>
            <a:off x="7589520" y="457200"/>
            <a:ext cx="1097280" cy="228600"/>
          </a:xfrm>
          <a:prstGeom prst="rect">
            <a:avLst/>
          </a:prstGeom>
          <a:noFill/>
          <a:ln/>
        </p:spPr>
        <p:txBody>
          <a:bodyPr wrap="square" lIns="0" tIns="0" rIns="0" bIns="0" rtlCol="0" anchor="ctr"/>
          <a:lstStyle/>
          <a:p>
            <a:pPr marL="0" indent="0" algn="r">
              <a:buNone/>
            </a:pPr>
            <a:r>
              <a:rPr lang="en-US" sz="1000" dirty="0">
                <a:solidFill>
                  <a:srgbClr val="22D3EE"/>
                </a:solidFill>
                <a:latin typeface="Consolas" pitchFamily="34" charset="0"/>
                <a:ea typeface="Consolas" pitchFamily="34" charset="-122"/>
                <a:cs typeface="Consolas" pitchFamily="34" charset="-120"/>
              </a:rPr>
              <a:t>FIG. 01</a:t>
            </a:r>
            <a:endParaRPr lang="en-US" sz="1000" dirty="0"/>
          </a:p>
        </p:txBody>
      </p:sp>
      <p:sp>
        <p:nvSpPr>
          <p:cNvPr id="4" name="Marco figura"/>
          <p:cNvSpPr/>
          <p:nvPr/>
        </p:nvSpPr>
        <p:spPr>
          <a:xfrm>
            <a:off x="411480" y="1389592"/>
            <a:ext cx="5455920" cy="2981535"/>
          </a:xfrm>
          <a:prstGeom prst="rect">
            <a:avLst/>
          </a:prstGeom>
          <a:solidFill>
            <a:srgbClr val="0F1720"/>
          </a:solidFill>
          <a:ln w="12700">
            <a:solidFill>
              <a:srgbClr val="1F2D3A"/>
            </a:solidFill>
            <a:prstDash val="solid"/>
          </a:ln>
        </p:spPr>
      </p:sp>
      <p:sp>
        <p:nvSpPr>
          <p:cNvPr id="6" name="Text 3"/>
          <p:cNvSpPr txBox="1"/>
          <p:nvPr/>
        </p:nvSpPr>
        <p:spPr>
          <a:xfrm>
            <a:off x="5943600" y="1188720"/>
            <a:ext cx="1828800" cy="228600"/>
          </a:xfrm>
          <a:prstGeom prst="rect">
            <a:avLst/>
          </a:prstGeom>
          <a:noFill/>
          <a:ln/>
        </p:spPr>
        <p:txBody>
          <a:bodyPr wrap="square" lIns="0" tIns="0" rIns="0" bIns="0" rtlCol="0" anchor="ctr"/>
          <a:lstStyle/>
          <a:p>
            <a:pPr marL="0" indent="0" algn="l">
              <a:buNone/>
            </a:pPr>
            <a:r>
              <a:rPr lang="en-US" sz="1000" dirty="0">
                <a:solidFill>
                  <a:srgbClr val="22D3EE"/>
                </a:solidFill>
                <a:latin typeface="Consolas" pitchFamily="34" charset="0"/>
                <a:ea typeface="Consolas" pitchFamily="34" charset="-122"/>
                <a:cs typeface="Consolas" pitchFamily="34" charset="-120"/>
              </a:rPr>
              <a:t>LECTURA</a:t>
            </a:r>
            <a:endParaRPr lang="en-US" sz="1000" dirty="0"/>
          </a:p>
        </p:txBody>
      </p:sp>
      <p:sp>
        <p:nvSpPr>
          <p:cNvPr id="7" name="Text 4"/>
          <p:cNvSpPr txBox="1"/>
          <p:nvPr/>
        </p:nvSpPr>
        <p:spPr>
          <a:xfrm>
            <a:off x="5943600" y="1463040"/>
            <a:ext cx="2743200" cy="3200400"/>
          </a:xfrm>
          <a:prstGeom prst="rect">
            <a:avLst/>
          </a:prstGeom>
          <a:noFill/>
          <a:ln/>
        </p:spPr>
        <p:txBody>
          <a:bodyPr wrap="square" lIns="0" tIns="0" rIns="0" bIns="0" rtlCol="0" anchor="t"/>
          <a:lstStyle/>
          <a:p>
            <a:pPr marL="152400" indent="-152400">
              <a:spcAft>
                <a:spcPts val="600"/>
              </a:spcAft>
              <a:buSzPct val="100000"/>
              <a:buChar char="•"/>
            </a:pPr>
            <a:r>
              <a:rPr lang="en-US" sz="1100" b="1" dirty="0">
                <a:solidFill>
                  <a:srgbClr val="F8FAFC"/>
                </a:solidFill>
              </a:rPr>
              <a:t>Cobertura:</a:t>
            </a:r>
            <a:r>
              <a:rPr lang="en-US" sz="1100" dirty="0">
                <a:solidFill>
                  <a:srgbClr val="CBD5E1"/>
                </a:solidFill>
              </a:rPr>
              <a:t> </a:t>
            </a:r>
            <a:r>
              <a:rPr lang="en-US" sz="1100" dirty="0" smtClean="0">
                <a:solidFill>
                  <a:srgbClr val="CBD5E1"/>
                </a:solidFill>
              </a:rPr>
              <a:t>103.712 </a:t>
            </a:r>
            <a:r>
              <a:rPr lang="en-US" sz="1100" dirty="0">
                <a:solidFill>
                  <a:srgbClr val="CBD5E1"/>
                </a:solidFill>
              </a:rPr>
              <a:t>de 410.483 informes procesados (</a:t>
            </a:r>
            <a:r>
              <a:rPr lang="en-US" sz="1100" dirty="0" smtClean="0">
                <a:solidFill>
                  <a:srgbClr val="CBD5E1"/>
                </a:solidFill>
              </a:rPr>
              <a:t>25,3 </a:t>
            </a:r>
            <a:r>
              <a:rPr lang="en-US" sz="1100" dirty="0">
                <a:solidFill>
                  <a:srgbClr val="CBD5E1"/>
                </a:solidFill>
              </a:rPr>
              <a:t>%); </a:t>
            </a:r>
            <a:r>
              <a:rPr lang="en-US" sz="1100" dirty="0" smtClean="0">
                <a:solidFill>
                  <a:srgbClr val="CBD5E1"/>
                </a:solidFill>
              </a:rPr>
              <a:t>306.771 </a:t>
            </a:r>
            <a:r>
              <a:rPr lang="en-US" sz="1100" dirty="0">
                <a:solidFill>
                  <a:srgbClr val="CBD5E1"/>
                </a:solidFill>
              </a:rPr>
              <a:t>pendientes (</a:t>
            </a:r>
            <a:r>
              <a:rPr lang="en-US" sz="1100" dirty="0" smtClean="0">
                <a:solidFill>
                  <a:srgbClr val="CBD5E1"/>
                </a:solidFill>
              </a:rPr>
              <a:t>74,7%).</a:t>
            </a:r>
            <a:endParaRPr lang="en-US" sz="1100" dirty="0"/>
          </a:p>
          <a:p>
            <a:pPr marL="152400" indent="-152400">
              <a:spcAft>
                <a:spcPts val="600"/>
              </a:spcAft>
              <a:buSzPct val="100000"/>
              <a:buChar char="•"/>
            </a:pPr>
            <a:r>
              <a:rPr lang="en-US" sz="1100" b="1" dirty="0">
                <a:solidFill>
                  <a:srgbClr val="F8FAFC"/>
                </a:solidFill>
              </a:rPr>
              <a:t>Calidad:</a:t>
            </a:r>
            <a:r>
              <a:rPr lang="en-US" sz="1100" dirty="0">
                <a:solidFill>
                  <a:srgbClr val="CBD5E1"/>
                </a:solidFill>
              </a:rPr>
              <a:t> 95,6 % de lo procesado es correcto; 4,4 % (</a:t>
            </a:r>
            <a:r>
              <a:rPr lang="en-US" sz="1100" dirty="0" smtClean="0">
                <a:solidFill>
                  <a:srgbClr val="CBD5E1"/>
                </a:solidFill>
              </a:rPr>
              <a:t>4.575</a:t>
            </a:r>
            <a:r>
              <a:rPr lang="en-US" sz="1100" dirty="0">
                <a:solidFill>
                  <a:srgbClr val="CBD5E1"/>
                </a:solidFill>
              </a:rPr>
              <a:t>) tiene problema estructural, el </a:t>
            </a:r>
            <a:r>
              <a:rPr lang="en-US" sz="1100" dirty="0" smtClean="0">
                <a:solidFill>
                  <a:srgbClr val="CBD5E1"/>
                </a:solidFill>
              </a:rPr>
              <a:t>1,12 </a:t>
            </a:r>
            <a:r>
              <a:rPr lang="en-US" sz="1100" dirty="0">
                <a:solidFill>
                  <a:srgbClr val="CBD5E1"/>
                </a:solidFill>
              </a:rPr>
              <a:t>% del total.</a:t>
            </a:r>
            <a:endParaRPr lang="en-US" sz="1100" dirty="0"/>
          </a:p>
          <a:p>
            <a:pPr marL="152400" indent="-152400">
              <a:spcAft>
                <a:spcPts val="600"/>
              </a:spcAft>
              <a:buSzPct val="100000"/>
              <a:buChar char="•"/>
            </a:pPr>
            <a:r>
              <a:rPr lang="en-US" sz="1100" b="1" dirty="0">
                <a:solidFill>
                  <a:srgbClr val="F8FAFC"/>
                </a:solidFill>
              </a:rPr>
              <a:t>Status:</a:t>
            </a:r>
            <a:r>
              <a:rPr lang="en-US" sz="1100" dirty="0">
                <a:solidFill>
                  <a:srgbClr val="CBD5E1"/>
                </a:solidFill>
              </a:rPr>
              <a:t> 66,1 % DRAFT, 33,8 % COMPLETED y 0,1 % CANCELLED: la mayoría sigue en borrador.</a:t>
            </a:r>
            <a:endParaRPr lang="en-US" sz="1100" dirty="0"/>
          </a:p>
        </p:txBody>
      </p:sp>
      <p:sp>
        <p:nvSpPr>
          <p:cNvPr id="25" name="Slide Number Placeholder 0"/>
          <p:cNvSpPr>
            <a:spLocks noGrp="1"/>
          </p:cNvSpPr>
          <p:nvPr>
            <p:ph type="sldNum" sz="quarter" idx="4294967295"/>
          </p:nvPr>
        </p:nvSpPr>
        <p:spPr>
          <a:xfrm>
            <a:off x="8229600" y="4727448"/>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7C8BA1"/>
                </a:solidFill>
                <a:latin typeface="Consolas"/>
                <a:ea typeface="Consolas"/>
                <a:cs typeface="Consolas"/>
              </a:defRPr>
            </a:lvl1pPr>
          </a:lstStyle>
          <a:p>
            <a:pPr algn="r"/>
            <a:fld id="{F7021451-1387-4CA6-816F-3879F97B5CBC}" type="slidenum">
              <a:rPr lang="en-US" b="0"/>
              <a:t>15</a:t>
            </a:fld>
            <a:endParaRPr lang="en-US"/>
          </a:p>
        </p:txBody>
      </p:sp>
      <p:pic>
        <p:nvPicPr>
          <p:cNvPr id="8" name="Imagen 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2372" y="1463040"/>
            <a:ext cx="5303479" cy="2815883"/>
          </a:xfrm>
          <a:prstGeom prst="rect">
            <a:avLst/>
          </a:prstGeom>
        </p:spPr>
      </p:pic>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9"/>
          <p:cNvSpPr>
            <a:spLocks noGrp="1"/>
          </p:cNvSpPr>
          <p:nvPr>
            <p:ph type="title" idx="109" hasCustomPrompt="1"/>
          </p:nvPr>
        </p:nvSpPr>
        <p:spPr>
          <a:xfrm>
            <a:off x="457200" y="320040"/>
            <a:ext cx="7040880" cy="685800"/>
          </a:xfrm>
          <a:prstGeom prst="rect">
            <a:avLst/>
          </a:prstGeom>
          <a:noFill/>
          <a:ln/>
        </p:spPr>
        <p:txBody>
          <a:bodyPr wrap="square" lIns="0" tIns="0" rIns="0" bIns="0" rtlCol="0" anchor="ctr"/>
          <a:lstStyle/>
          <a:p>
            <a:pPr marL="0" indent="0" algn="l">
              <a:buNone/>
            </a:pPr>
            <a:r>
              <a:rPr lang="en-US" sz="2400" b="1" dirty="0">
                <a:solidFill>
                  <a:srgbClr val="F8FAFC"/>
                </a:solidFill>
              </a:rPr>
              <a:t>Fallos de la IA y tamaño del HTML</a:t>
            </a:r>
            <a:endParaRPr lang="en-US" sz="2400" dirty="0"/>
          </a:p>
        </p:txBody>
      </p:sp>
      <p:sp>
        <p:nvSpPr>
          <p:cNvPr id="3" name="Text 1"/>
          <p:cNvSpPr txBox="1"/>
          <p:nvPr/>
        </p:nvSpPr>
        <p:spPr>
          <a:xfrm>
            <a:off x="7589520" y="457200"/>
            <a:ext cx="1097280" cy="228600"/>
          </a:xfrm>
          <a:prstGeom prst="rect">
            <a:avLst/>
          </a:prstGeom>
          <a:noFill/>
          <a:ln/>
        </p:spPr>
        <p:txBody>
          <a:bodyPr wrap="square" lIns="0" tIns="0" rIns="0" bIns="0" rtlCol="0" anchor="ctr"/>
          <a:lstStyle/>
          <a:p>
            <a:pPr marL="0" indent="0" algn="r">
              <a:buNone/>
            </a:pPr>
            <a:r>
              <a:rPr lang="en-US" sz="1000" dirty="0">
                <a:solidFill>
                  <a:srgbClr val="22D3EE"/>
                </a:solidFill>
                <a:latin typeface="Consolas" pitchFamily="34" charset="0"/>
                <a:ea typeface="Consolas" pitchFamily="34" charset="-122"/>
                <a:cs typeface="Consolas" pitchFamily="34" charset="-120"/>
              </a:rPr>
              <a:t>FIG. 02</a:t>
            </a:r>
            <a:endParaRPr lang="en-US" sz="1000" dirty="0"/>
          </a:p>
        </p:txBody>
      </p:sp>
      <p:sp>
        <p:nvSpPr>
          <p:cNvPr id="4" name="Marco figura"/>
          <p:cNvSpPr/>
          <p:nvPr/>
        </p:nvSpPr>
        <p:spPr>
          <a:xfrm>
            <a:off x="885092" y="949569"/>
            <a:ext cx="7408985" cy="2616591"/>
          </a:xfrm>
          <a:prstGeom prst="rect">
            <a:avLst/>
          </a:prstGeom>
          <a:solidFill>
            <a:srgbClr val="0F1720"/>
          </a:solidFill>
          <a:ln w="12700">
            <a:solidFill>
              <a:srgbClr val="1F2D3A"/>
            </a:solidFill>
            <a:prstDash val="solid"/>
          </a:ln>
        </p:spPr>
      </p:sp>
      <p:sp>
        <p:nvSpPr>
          <p:cNvPr id="6" name="Text 3"/>
          <p:cNvSpPr txBox="1"/>
          <p:nvPr/>
        </p:nvSpPr>
        <p:spPr>
          <a:xfrm>
            <a:off x="457200" y="3630168"/>
            <a:ext cx="1828800" cy="228600"/>
          </a:xfrm>
          <a:prstGeom prst="rect">
            <a:avLst/>
          </a:prstGeom>
          <a:noFill/>
          <a:ln/>
        </p:spPr>
        <p:txBody>
          <a:bodyPr wrap="square" lIns="0" tIns="0" rIns="0" bIns="0" rtlCol="0" anchor="ctr"/>
          <a:lstStyle/>
          <a:p>
            <a:pPr marL="0" indent="0" algn="l">
              <a:buNone/>
            </a:pPr>
            <a:r>
              <a:rPr lang="en-US" sz="1000" dirty="0">
                <a:solidFill>
                  <a:srgbClr val="22D3EE"/>
                </a:solidFill>
                <a:latin typeface="Consolas" pitchFamily="34" charset="0"/>
                <a:ea typeface="Consolas" pitchFamily="34" charset="-122"/>
                <a:cs typeface="Consolas" pitchFamily="34" charset="-120"/>
              </a:rPr>
              <a:t>LECTURA</a:t>
            </a:r>
            <a:endParaRPr lang="en-US" sz="1000" dirty="0"/>
          </a:p>
        </p:txBody>
      </p:sp>
      <p:sp>
        <p:nvSpPr>
          <p:cNvPr id="7" name="Text 4"/>
          <p:cNvSpPr txBox="1"/>
          <p:nvPr/>
        </p:nvSpPr>
        <p:spPr>
          <a:xfrm>
            <a:off x="457200" y="3867912"/>
            <a:ext cx="8229600" cy="795528"/>
          </a:xfrm>
          <a:prstGeom prst="rect">
            <a:avLst/>
          </a:prstGeom>
          <a:noFill/>
          <a:ln/>
        </p:spPr>
        <p:txBody>
          <a:bodyPr wrap="square" lIns="0" tIns="0" rIns="0" bIns="0" rtlCol="0" anchor="t"/>
          <a:lstStyle/>
          <a:p>
            <a:pPr marL="152400" indent="-152400">
              <a:spcAft>
                <a:spcPts val="300"/>
              </a:spcAft>
              <a:buSzPct val="100000"/>
              <a:buChar char="•"/>
            </a:pPr>
            <a:r>
              <a:rPr lang="en-US" sz="1100" b="1" dirty="0">
                <a:solidFill>
                  <a:srgbClr val="F8FAFC"/>
                </a:solidFill>
              </a:rPr>
              <a:t>Motivos:</a:t>
            </a:r>
            <a:r>
              <a:rPr lang="en-US" sz="1100" dirty="0">
                <a:solidFill>
                  <a:srgbClr val="CBD5E1"/>
                </a:solidFill>
              </a:rPr>
              <a:t> </a:t>
            </a:r>
            <a:r>
              <a:rPr lang="en-US" sz="1100" dirty="0" smtClean="0">
                <a:solidFill>
                  <a:srgbClr val="CBD5E1"/>
                </a:solidFill>
              </a:rPr>
              <a:t>52,5 </a:t>
            </a:r>
            <a:r>
              <a:rPr lang="en-US" sz="1100" dirty="0">
                <a:solidFill>
                  <a:srgbClr val="CBD5E1"/>
                </a:solidFill>
              </a:rPr>
              <a:t>% estructura jerárquica o JSON corrupto; </a:t>
            </a:r>
            <a:r>
              <a:rPr lang="en-US" sz="1100" dirty="0" smtClean="0">
                <a:solidFill>
                  <a:srgbClr val="CBD5E1"/>
                </a:solidFill>
              </a:rPr>
              <a:t>47,5 </a:t>
            </a:r>
            <a:r>
              <a:rPr lang="en-US" sz="1100" dirty="0">
                <a:solidFill>
                  <a:srgbClr val="CBD5E1"/>
                </a:solidFill>
              </a:rPr>
              <a:t>% HTML vacío u omitido: casi la mitad de los fallos viene del dato, no del modelo.</a:t>
            </a:r>
            <a:endParaRPr lang="en-US" sz="1100" dirty="0"/>
          </a:p>
          <a:p>
            <a:pPr marL="152400" indent="-152400">
              <a:spcAft>
                <a:spcPts val="300"/>
              </a:spcAft>
              <a:buSzPct val="100000"/>
              <a:buChar char="•"/>
            </a:pPr>
            <a:r>
              <a:rPr lang="en-US" sz="1100" b="1" dirty="0">
                <a:solidFill>
                  <a:srgbClr val="F8FAFC"/>
                </a:solidFill>
              </a:rPr>
              <a:t>Tamaño:</a:t>
            </a:r>
            <a:r>
              <a:rPr lang="en-US" sz="1100" dirty="0">
                <a:solidFill>
                  <a:srgbClr val="CBD5E1"/>
                </a:solidFill>
              </a:rPr>
              <a:t> la tasa sube con la longitud (</a:t>
            </a:r>
            <a:r>
              <a:rPr lang="en-US" sz="1100" dirty="0" smtClean="0">
                <a:solidFill>
                  <a:srgbClr val="CBD5E1"/>
                </a:solidFill>
              </a:rPr>
              <a:t>0,6 </a:t>
            </a:r>
            <a:r>
              <a:rPr lang="en-US" sz="1100" dirty="0">
                <a:solidFill>
                  <a:srgbClr val="CBD5E1"/>
                </a:solidFill>
              </a:rPr>
              <a:t>% en 500–1k, </a:t>
            </a:r>
            <a:r>
              <a:rPr lang="en-US" sz="1100" dirty="0" smtClean="0">
                <a:solidFill>
                  <a:srgbClr val="CBD5E1"/>
                </a:solidFill>
              </a:rPr>
              <a:t>4,7 </a:t>
            </a:r>
            <a:r>
              <a:rPr lang="en-US" sz="1100" dirty="0">
                <a:solidFill>
                  <a:srgbClr val="CBD5E1"/>
                </a:solidFill>
              </a:rPr>
              <a:t>% en 4–8k, </a:t>
            </a:r>
            <a:r>
              <a:rPr lang="en-US" sz="1100" dirty="0" smtClean="0">
                <a:solidFill>
                  <a:srgbClr val="CBD5E1"/>
                </a:solidFill>
              </a:rPr>
              <a:t>11,2 </a:t>
            </a:r>
            <a:r>
              <a:rPr lang="en-US" sz="1100" dirty="0">
                <a:solidFill>
                  <a:srgbClr val="CBD5E1"/>
                </a:solidFill>
              </a:rPr>
              <a:t>% en 8–16k, </a:t>
            </a:r>
            <a:r>
              <a:rPr lang="en-US" sz="1100" dirty="0" smtClean="0">
                <a:solidFill>
                  <a:srgbClr val="CBD5E1"/>
                </a:solidFill>
              </a:rPr>
              <a:t>60</a:t>
            </a:r>
            <a:r>
              <a:rPr lang="en-US" sz="1100" dirty="0" smtClean="0">
                <a:solidFill>
                  <a:srgbClr val="CBD5E1"/>
                </a:solidFill>
              </a:rPr>
              <a:t>,0 </a:t>
            </a:r>
            <a:r>
              <a:rPr lang="en-US" sz="1100" dirty="0">
                <a:solidFill>
                  <a:srgbClr val="CBD5E1"/>
                </a:solidFill>
              </a:rPr>
              <a:t>% en más de 16k): los informes largos desbordan el contexto.</a:t>
            </a:r>
            <a:endParaRPr lang="en-US" sz="1100" dirty="0"/>
          </a:p>
          <a:p>
            <a:pPr marL="152400" indent="-152400">
              <a:spcAft>
                <a:spcPts val="300"/>
              </a:spcAft>
              <a:buSzPct val="100000"/>
              <a:buChar char="•"/>
            </a:pPr>
            <a:r>
              <a:rPr lang="en-US" sz="1100" b="1" dirty="0">
                <a:solidFill>
                  <a:srgbClr val="F8FAFC"/>
                </a:solidFill>
              </a:rPr>
              <a:t>Tramo &lt;500 (</a:t>
            </a:r>
            <a:r>
              <a:rPr lang="en-US" sz="1100" b="1" dirty="0" smtClean="0">
                <a:solidFill>
                  <a:srgbClr val="F8FAFC"/>
                </a:solidFill>
              </a:rPr>
              <a:t>29,0 </a:t>
            </a:r>
            <a:r>
              <a:rPr lang="en-US" sz="1100" b="1" dirty="0">
                <a:solidFill>
                  <a:srgbClr val="F8FAFC"/>
                </a:solidFill>
              </a:rPr>
              <a:t>%):</a:t>
            </a:r>
            <a:r>
              <a:rPr lang="en-US" sz="1100" dirty="0">
                <a:solidFill>
                  <a:srgbClr val="CBD5E1"/>
                </a:solidFill>
              </a:rPr>
              <a:t> </a:t>
            </a:r>
            <a:r>
              <a:rPr lang="en-US" sz="1100" dirty="0" smtClean="0">
                <a:solidFill>
                  <a:srgbClr val="CBD5E1"/>
                </a:solidFill>
              </a:rPr>
              <a:t> </a:t>
            </a:r>
            <a:r>
              <a:rPr lang="en-US" sz="1100" dirty="0">
                <a:solidFill>
                  <a:srgbClr val="CBD5E1"/>
                </a:solidFill>
              </a:rPr>
              <a:t>probablemente son los HTML vacíos o casi vacíos.</a:t>
            </a:r>
            <a:endParaRPr lang="en-US" sz="1100" dirty="0"/>
          </a:p>
        </p:txBody>
      </p:sp>
      <p:sp>
        <p:nvSpPr>
          <p:cNvPr id="25" name="Slide Number Placeholder 0"/>
          <p:cNvSpPr>
            <a:spLocks noGrp="1"/>
          </p:cNvSpPr>
          <p:nvPr>
            <p:ph type="sldNum" sz="quarter" idx="4294967295"/>
          </p:nvPr>
        </p:nvSpPr>
        <p:spPr>
          <a:xfrm>
            <a:off x="8229600" y="4727448"/>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7C8BA1"/>
                </a:solidFill>
                <a:latin typeface="Consolas"/>
                <a:ea typeface="Consolas"/>
                <a:cs typeface="Consolas"/>
              </a:defRPr>
            </a:lvl1pPr>
          </a:lstStyle>
          <a:p>
            <a:pPr algn="r"/>
            <a:fld id="{F7021451-1387-4CA6-816F-3879F97B5CBC}" type="slidenum">
              <a:rPr lang="en-US" b="0"/>
              <a:t>16</a:t>
            </a:fld>
            <a:endParaRPr lang="en-US"/>
          </a:p>
        </p:txBody>
      </p:sp>
      <p:pic>
        <p:nvPicPr>
          <p:cNvPr id="10" name="Imagen 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49569" y="1033752"/>
            <a:ext cx="7302269" cy="2425326"/>
          </a:xfrm>
          <a:prstGeom prst="rect">
            <a:avLst/>
          </a:prstGeom>
        </p:spPr>
      </p:pic>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9"/>
          <p:cNvSpPr>
            <a:spLocks noGrp="1"/>
          </p:cNvSpPr>
          <p:nvPr>
            <p:ph type="title" idx="109" hasCustomPrompt="1"/>
          </p:nvPr>
        </p:nvSpPr>
        <p:spPr>
          <a:xfrm>
            <a:off x="457200" y="320040"/>
            <a:ext cx="7040880" cy="685800"/>
          </a:xfrm>
          <a:prstGeom prst="rect">
            <a:avLst/>
          </a:prstGeom>
          <a:noFill/>
          <a:ln/>
        </p:spPr>
        <p:txBody>
          <a:bodyPr wrap="square" lIns="0" tIns="0" rIns="0" bIns="0" rtlCol="0" anchor="ctr"/>
          <a:lstStyle/>
          <a:p>
            <a:pPr marL="0" indent="0" algn="l">
              <a:buNone/>
            </a:pPr>
            <a:r>
              <a:rPr lang="en-US" sz="2400" b="1" dirty="0">
                <a:solidFill>
                  <a:srgbClr val="F8FAFC"/>
                </a:solidFill>
              </a:rPr>
              <a:t>Completitud de campos y Status × Modalidad</a:t>
            </a:r>
            <a:endParaRPr lang="en-US" sz="2400" dirty="0"/>
          </a:p>
        </p:txBody>
      </p:sp>
      <p:sp>
        <p:nvSpPr>
          <p:cNvPr id="3" name="Text 1"/>
          <p:cNvSpPr txBox="1"/>
          <p:nvPr/>
        </p:nvSpPr>
        <p:spPr>
          <a:xfrm>
            <a:off x="7589520" y="457200"/>
            <a:ext cx="1097280" cy="228600"/>
          </a:xfrm>
          <a:prstGeom prst="rect">
            <a:avLst/>
          </a:prstGeom>
          <a:noFill/>
          <a:ln/>
        </p:spPr>
        <p:txBody>
          <a:bodyPr wrap="square" lIns="0" tIns="0" rIns="0" bIns="0" rtlCol="0" anchor="ctr"/>
          <a:lstStyle/>
          <a:p>
            <a:pPr marL="0" indent="0" algn="r">
              <a:buNone/>
            </a:pPr>
            <a:r>
              <a:rPr lang="en-US" sz="1000" dirty="0">
                <a:solidFill>
                  <a:srgbClr val="22D3EE"/>
                </a:solidFill>
                <a:latin typeface="Consolas" pitchFamily="34" charset="0"/>
                <a:ea typeface="Consolas" pitchFamily="34" charset="-122"/>
                <a:cs typeface="Consolas" pitchFamily="34" charset="-120"/>
              </a:rPr>
              <a:t>FIG. 03</a:t>
            </a:r>
            <a:endParaRPr lang="en-US" sz="1000" dirty="0"/>
          </a:p>
        </p:txBody>
      </p:sp>
      <p:sp>
        <p:nvSpPr>
          <p:cNvPr id="4" name="Marco figura"/>
          <p:cNvSpPr/>
          <p:nvPr/>
        </p:nvSpPr>
        <p:spPr>
          <a:xfrm>
            <a:off x="411480" y="1051560"/>
            <a:ext cx="8321040" cy="2385978"/>
          </a:xfrm>
          <a:prstGeom prst="rect">
            <a:avLst/>
          </a:prstGeom>
          <a:solidFill>
            <a:srgbClr val="0F1720"/>
          </a:solidFill>
          <a:ln w="12700">
            <a:solidFill>
              <a:srgbClr val="1F2D3A"/>
            </a:solidFill>
            <a:prstDash val="solid"/>
          </a:ln>
        </p:spPr>
      </p:sp>
      <p:sp>
        <p:nvSpPr>
          <p:cNvPr id="6" name="Text 3"/>
          <p:cNvSpPr txBox="1"/>
          <p:nvPr/>
        </p:nvSpPr>
        <p:spPr>
          <a:xfrm>
            <a:off x="457200" y="3501546"/>
            <a:ext cx="1828800" cy="228600"/>
          </a:xfrm>
          <a:prstGeom prst="rect">
            <a:avLst/>
          </a:prstGeom>
          <a:noFill/>
          <a:ln/>
        </p:spPr>
        <p:txBody>
          <a:bodyPr wrap="square" lIns="0" tIns="0" rIns="0" bIns="0" rtlCol="0" anchor="ctr"/>
          <a:lstStyle/>
          <a:p>
            <a:pPr marL="0" indent="0" algn="l">
              <a:buNone/>
            </a:pPr>
            <a:r>
              <a:rPr lang="en-US" sz="1000" dirty="0">
                <a:solidFill>
                  <a:srgbClr val="22D3EE"/>
                </a:solidFill>
                <a:latin typeface="Consolas" pitchFamily="34" charset="0"/>
                <a:ea typeface="Consolas" pitchFamily="34" charset="-122"/>
                <a:cs typeface="Consolas" pitchFamily="34" charset="-120"/>
              </a:rPr>
              <a:t>LECTURA</a:t>
            </a:r>
            <a:endParaRPr lang="en-US" sz="1000" dirty="0"/>
          </a:p>
        </p:txBody>
      </p:sp>
      <p:sp>
        <p:nvSpPr>
          <p:cNvPr id="7" name="Text 4"/>
          <p:cNvSpPr txBox="1"/>
          <p:nvPr/>
        </p:nvSpPr>
        <p:spPr>
          <a:xfrm>
            <a:off x="457200" y="3739290"/>
            <a:ext cx="8229600" cy="924150"/>
          </a:xfrm>
          <a:prstGeom prst="rect">
            <a:avLst/>
          </a:prstGeom>
          <a:noFill/>
          <a:ln/>
        </p:spPr>
        <p:txBody>
          <a:bodyPr wrap="square" lIns="0" tIns="0" rIns="0" bIns="0" rtlCol="0" anchor="t"/>
          <a:lstStyle/>
          <a:p>
            <a:pPr marL="152400" indent="-152400">
              <a:spcAft>
                <a:spcPts val="300"/>
              </a:spcAft>
              <a:buSzPct val="100000"/>
              <a:buChar char="•"/>
            </a:pPr>
            <a:r>
              <a:rPr lang="en-US" sz="1100" b="1" dirty="0">
                <a:solidFill>
                  <a:srgbClr val="F8FAFC"/>
                </a:solidFill>
              </a:rPr>
              <a:t>Completitud:</a:t>
            </a:r>
            <a:r>
              <a:rPr lang="en-US" sz="1100" dirty="0">
                <a:solidFill>
                  <a:srgbClr val="CBD5E1"/>
                </a:solidFill>
              </a:rPr>
              <a:t> resto_html, sexo y status al 100 %; modalidad 94,6 %; </a:t>
            </a:r>
            <a:r>
              <a:rPr lang="en-US" sz="1100" dirty="0" err="1">
                <a:solidFill>
                  <a:srgbClr val="CBD5E1"/>
                </a:solidFill>
              </a:rPr>
              <a:t>edad</a:t>
            </a:r>
            <a:r>
              <a:rPr lang="en-US" sz="1100" dirty="0">
                <a:solidFill>
                  <a:srgbClr val="CBD5E1"/>
                </a:solidFill>
              </a:rPr>
              <a:t> </a:t>
            </a:r>
            <a:r>
              <a:rPr lang="en-US" sz="1100" dirty="0" smtClean="0">
                <a:solidFill>
                  <a:srgbClr val="CBD5E1"/>
                </a:solidFill>
              </a:rPr>
              <a:t> </a:t>
            </a:r>
            <a:r>
              <a:rPr lang="en-US" sz="1100" dirty="0" smtClean="0">
                <a:solidFill>
                  <a:srgbClr val="CBD5E1"/>
                </a:solidFill>
              </a:rPr>
              <a:t>79,1</a:t>
            </a:r>
            <a:r>
              <a:rPr lang="en-US" sz="1100" dirty="0" smtClean="0">
                <a:solidFill>
                  <a:srgbClr val="CBD5E1"/>
                </a:solidFill>
              </a:rPr>
              <a:t> </a:t>
            </a:r>
            <a:r>
              <a:rPr lang="en-US" sz="1100" dirty="0">
                <a:solidFill>
                  <a:srgbClr val="CBD5E1"/>
                </a:solidFill>
              </a:rPr>
              <a:t>%: los análisis por edad </a:t>
            </a:r>
            <a:r>
              <a:rPr lang="en-US" sz="1100" dirty="0" err="1">
                <a:solidFill>
                  <a:srgbClr val="CBD5E1"/>
                </a:solidFill>
              </a:rPr>
              <a:t>cubren</a:t>
            </a:r>
            <a:r>
              <a:rPr lang="en-US" sz="1100" dirty="0">
                <a:solidFill>
                  <a:srgbClr val="CBD5E1"/>
                </a:solidFill>
              </a:rPr>
              <a:t> </a:t>
            </a:r>
            <a:r>
              <a:rPr lang="en-US" sz="1100" dirty="0" smtClean="0">
                <a:solidFill>
                  <a:srgbClr val="CBD5E1"/>
                </a:solidFill>
              </a:rPr>
              <a:t>4 </a:t>
            </a:r>
            <a:r>
              <a:rPr lang="en-US" sz="1100" dirty="0">
                <a:solidFill>
                  <a:srgbClr val="CBD5E1"/>
                </a:solidFill>
              </a:rPr>
              <a:t>de cada 5 informes.</a:t>
            </a:r>
            <a:endParaRPr lang="en-US" sz="1100" dirty="0"/>
          </a:p>
          <a:p>
            <a:pPr marL="152400" indent="-152400">
              <a:spcAft>
                <a:spcPts val="300"/>
              </a:spcAft>
              <a:buSzPct val="100000"/>
              <a:buChar char="•"/>
            </a:pPr>
            <a:r>
              <a:rPr lang="en-US" sz="1100" b="1" dirty="0">
                <a:solidFill>
                  <a:srgbClr val="F8FAFC"/>
                </a:solidFill>
              </a:rPr>
              <a:t>Cruce (% por fila):</a:t>
            </a:r>
            <a:r>
              <a:rPr lang="en-US" sz="1100" dirty="0">
                <a:solidFill>
                  <a:srgbClr val="CBD5E1"/>
                </a:solidFill>
              </a:rPr>
              <a:t> la radiografía domina todos los estados (40–55 %); en DRAFT </a:t>
            </a:r>
            <a:r>
              <a:rPr lang="en-US" sz="1100" dirty="0" err="1" smtClean="0">
                <a:solidFill>
                  <a:srgbClr val="CBD5E1"/>
                </a:solidFill>
              </a:rPr>
              <a:t>tienen</a:t>
            </a:r>
            <a:r>
              <a:rPr lang="en-US" sz="1100" dirty="0" smtClean="0">
                <a:solidFill>
                  <a:srgbClr val="CBD5E1"/>
                </a:solidFill>
              </a:rPr>
              <a:t> un peso </a:t>
            </a:r>
            <a:r>
              <a:rPr lang="en-US" sz="1100" dirty="0" err="1" smtClean="0">
                <a:solidFill>
                  <a:srgbClr val="CBD5E1"/>
                </a:solidFill>
              </a:rPr>
              <a:t>importante</a:t>
            </a:r>
            <a:r>
              <a:rPr lang="en-US" sz="1100" dirty="0" smtClean="0">
                <a:solidFill>
                  <a:srgbClr val="CBD5E1"/>
                </a:solidFill>
              </a:rPr>
              <a:t>  </a:t>
            </a:r>
            <a:r>
              <a:rPr lang="en-US" sz="1100" dirty="0">
                <a:solidFill>
                  <a:srgbClr val="CBD5E1"/>
                </a:solidFill>
              </a:rPr>
              <a:t>RM (25 %) y TC (30 </a:t>
            </a:r>
            <a:r>
              <a:rPr lang="en-US" sz="1100" dirty="0" smtClean="0">
                <a:solidFill>
                  <a:srgbClr val="CBD5E1"/>
                </a:solidFill>
              </a:rPr>
              <a:t>%).</a:t>
            </a:r>
            <a:endParaRPr lang="en-US" sz="1100" dirty="0"/>
          </a:p>
        </p:txBody>
      </p:sp>
      <p:sp>
        <p:nvSpPr>
          <p:cNvPr id="25" name="Slide Number Placeholder 0"/>
          <p:cNvSpPr>
            <a:spLocks noGrp="1"/>
          </p:cNvSpPr>
          <p:nvPr>
            <p:ph type="sldNum" sz="quarter" idx="4294967295"/>
          </p:nvPr>
        </p:nvSpPr>
        <p:spPr>
          <a:xfrm>
            <a:off x="8229600" y="4727448"/>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7C8BA1"/>
                </a:solidFill>
                <a:latin typeface="Consolas"/>
                <a:ea typeface="Consolas"/>
                <a:cs typeface="Consolas"/>
              </a:defRPr>
            </a:lvl1pPr>
          </a:lstStyle>
          <a:p>
            <a:pPr algn="r"/>
            <a:fld id="{F7021451-1387-4CA6-816F-3879F97B5CBC}" type="slidenum">
              <a:rPr lang="en-US" b="0"/>
              <a:t>17</a:t>
            </a:fld>
            <a:endParaRPr lang="en-US"/>
          </a:p>
        </p:txBody>
      </p:sp>
      <p:pic>
        <p:nvPicPr>
          <p:cNvPr id="10" name="Imagen 9"/>
          <p:cNvPicPr/>
          <p:nvPr/>
        </p:nvPicPr>
        <p:blipFill>
          <a:blip r:embed="rId3"/>
          <a:stretch>
            <a:fillRect/>
          </a:stretch>
        </p:blipFill>
        <p:spPr>
          <a:xfrm>
            <a:off x="513567" y="1133605"/>
            <a:ext cx="8116866" cy="2210844"/>
          </a:xfrm>
          <a:prstGeom prst="rect">
            <a:avLst/>
          </a:prstGeom>
        </p:spPr>
      </p:pic>
    </p:spTree>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9"/>
          <p:cNvSpPr>
            <a:spLocks noGrp="1"/>
          </p:cNvSpPr>
          <p:nvPr>
            <p:ph type="title" idx="109" hasCustomPrompt="1"/>
          </p:nvPr>
        </p:nvSpPr>
        <p:spPr>
          <a:xfrm>
            <a:off x="457200" y="320040"/>
            <a:ext cx="7040880" cy="685800"/>
          </a:xfrm>
          <a:prstGeom prst="rect">
            <a:avLst/>
          </a:prstGeom>
          <a:noFill/>
          <a:ln/>
        </p:spPr>
        <p:txBody>
          <a:bodyPr wrap="square" lIns="0" tIns="0" rIns="0" bIns="0" rtlCol="0" anchor="ctr"/>
          <a:lstStyle/>
          <a:p>
            <a:pPr marL="0" indent="0" algn="l">
              <a:buNone/>
            </a:pPr>
            <a:r>
              <a:rPr lang="en-US" sz="2400" b="1" dirty="0">
                <a:solidFill>
                  <a:srgbClr val="F8FAFC"/>
                </a:solidFill>
              </a:rPr>
              <a:t>Perfil demográfico: sexo y edad</a:t>
            </a:r>
            <a:endParaRPr lang="en-US" sz="2400" dirty="0"/>
          </a:p>
        </p:txBody>
      </p:sp>
      <p:sp>
        <p:nvSpPr>
          <p:cNvPr id="3" name="Text 1"/>
          <p:cNvSpPr txBox="1"/>
          <p:nvPr/>
        </p:nvSpPr>
        <p:spPr>
          <a:xfrm>
            <a:off x="7589520" y="457200"/>
            <a:ext cx="1097280" cy="228600"/>
          </a:xfrm>
          <a:prstGeom prst="rect">
            <a:avLst/>
          </a:prstGeom>
          <a:noFill/>
          <a:ln/>
        </p:spPr>
        <p:txBody>
          <a:bodyPr wrap="square" lIns="0" tIns="0" rIns="0" bIns="0" rtlCol="0" anchor="ctr"/>
          <a:lstStyle/>
          <a:p>
            <a:pPr marL="0" indent="0" algn="r">
              <a:buNone/>
            </a:pPr>
            <a:r>
              <a:rPr lang="en-US" sz="1000" dirty="0">
                <a:solidFill>
                  <a:srgbClr val="22D3EE"/>
                </a:solidFill>
                <a:latin typeface="Consolas" pitchFamily="34" charset="0"/>
                <a:ea typeface="Consolas" pitchFamily="34" charset="-122"/>
                <a:cs typeface="Consolas" pitchFamily="34" charset="-120"/>
              </a:rPr>
              <a:t>FIG. 04</a:t>
            </a:r>
            <a:endParaRPr lang="en-US" sz="1000" dirty="0"/>
          </a:p>
        </p:txBody>
      </p:sp>
      <p:sp>
        <p:nvSpPr>
          <p:cNvPr id="4" name="Marco figura"/>
          <p:cNvSpPr/>
          <p:nvPr/>
        </p:nvSpPr>
        <p:spPr>
          <a:xfrm>
            <a:off x="411480" y="1463041"/>
            <a:ext cx="5479366" cy="2733822"/>
          </a:xfrm>
          <a:prstGeom prst="rect">
            <a:avLst/>
          </a:prstGeom>
          <a:solidFill>
            <a:srgbClr val="0F1720"/>
          </a:solidFill>
          <a:ln w="12700">
            <a:solidFill>
              <a:srgbClr val="1F2D3A"/>
            </a:solidFill>
            <a:prstDash val="solid"/>
          </a:ln>
        </p:spPr>
      </p:sp>
      <p:sp>
        <p:nvSpPr>
          <p:cNvPr id="6" name="Text 3"/>
          <p:cNvSpPr txBox="1"/>
          <p:nvPr/>
        </p:nvSpPr>
        <p:spPr>
          <a:xfrm>
            <a:off x="5943600" y="1188720"/>
            <a:ext cx="1828800" cy="228600"/>
          </a:xfrm>
          <a:prstGeom prst="rect">
            <a:avLst/>
          </a:prstGeom>
          <a:noFill/>
          <a:ln/>
        </p:spPr>
        <p:txBody>
          <a:bodyPr wrap="square" lIns="0" tIns="0" rIns="0" bIns="0" rtlCol="0" anchor="ctr"/>
          <a:lstStyle/>
          <a:p>
            <a:pPr marL="0" indent="0" algn="l">
              <a:buNone/>
            </a:pPr>
            <a:r>
              <a:rPr lang="en-US" sz="1000" dirty="0">
                <a:solidFill>
                  <a:srgbClr val="22D3EE"/>
                </a:solidFill>
                <a:latin typeface="Consolas" pitchFamily="34" charset="0"/>
                <a:ea typeface="Consolas" pitchFamily="34" charset="-122"/>
                <a:cs typeface="Consolas" pitchFamily="34" charset="-120"/>
              </a:rPr>
              <a:t>LECTURA</a:t>
            </a:r>
            <a:endParaRPr lang="en-US" sz="1000" dirty="0"/>
          </a:p>
        </p:txBody>
      </p:sp>
      <p:sp>
        <p:nvSpPr>
          <p:cNvPr id="7" name="Text 4"/>
          <p:cNvSpPr txBox="1"/>
          <p:nvPr/>
        </p:nvSpPr>
        <p:spPr>
          <a:xfrm>
            <a:off x="5943600" y="1463040"/>
            <a:ext cx="2743200" cy="3200400"/>
          </a:xfrm>
          <a:prstGeom prst="rect">
            <a:avLst/>
          </a:prstGeom>
          <a:noFill/>
          <a:ln/>
        </p:spPr>
        <p:txBody>
          <a:bodyPr wrap="square" lIns="0" tIns="0" rIns="0" bIns="0" rtlCol="0" anchor="t"/>
          <a:lstStyle/>
          <a:p>
            <a:pPr marL="152400" indent="-152400">
              <a:spcAft>
                <a:spcPts val="600"/>
              </a:spcAft>
              <a:buSzPct val="100000"/>
              <a:buChar char="•"/>
            </a:pPr>
            <a:r>
              <a:rPr lang="en-US" sz="1100" b="1" dirty="0">
                <a:solidFill>
                  <a:srgbClr val="F8FAFC"/>
                </a:solidFill>
              </a:rPr>
              <a:t>Sexo:</a:t>
            </a:r>
            <a:r>
              <a:rPr lang="en-US" sz="1100" dirty="0">
                <a:solidFill>
                  <a:srgbClr val="CBD5E1"/>
                </a:solidFill>
              </a:rPr>
              <a:t> 66,2 % masculino y 33,7 % femenino (no especificado 0,09 %).</a:t>
            </a:r>
            <a:endParaRPr lang="en-US" sz="1100" dirty="0"/>
          </a:p>
          <a:p>
            <a:pPr marL="152400" indent="-152400">
              <a:spcAft>
                <a:spcPts val="600"/>
              </a:spcAft>
              <a:buSzPct val="100000"/>
              <a:buChar char="•"/>
            </a:pPr>
            <a:r>
              <a:rPr lang="en-US" sz="1100" b="1" dirty="0">
                <a:solidFill>
                  <a:srgbClr val="F8FAFC"/>
                </a:solidFill>
              </a:rPr>
              <a:t>Edad:</a:t>
            </a:r>
            <a:r>
              <a:rPr lang="en-US" sz="1100" dirty="0">
                <a:solidFill>
                  <a:srgbClr val="CBD5E1"/>
                </a:solidFill>
              </a:rPr>
              <a:t> media de </a:t>
            </a:r>
            <a:r>
              <a:rPr lang="en-US" sz="1100" dirty="0" smtClean="0">
                <a:solidFill>
                  <a:srgbClr val="CBD5E1"/>
                </a:solidFill>
              </a:rPr>
              <a:t>46,9 </a:t>
            </a:r>
            <a:r>
              <a:rPr lang="en-US" sz="1100" dirty="0">
                <a:solidFill>
                  <a:srgbClr val="CBD5E1"/>
                </a:solidFill>
              </a:rPr>
              <a:t>años, con </a:t>
            </a:r>
            <a:r>
              <a:rPr lang="en-US" sz="1100" dirty="0" smtClean="0">
                <a:solidFill>
                  <a:srgbClr val="CBD5E1"/>
                </a:solidFill>
              </a:rPr>
              <a:t>un</a:t>
            </a:r>
            <a:r>
              <a:rPr lang="en-US" sz="1100" dirty="0" smtClean="0">
                <a:solidFill>
                  <a:srgbClr val="CBD5E1"/>
                </a:solidFill>
              </a:rPr>
              <a:t> </a:t>
            </a:r>
            <a:r>
              <a:rPr lang="en-US" sz="1100" dirty="0" err="1" smtClean="0">
                <a:solidFill>
                  <a:srgbClr val="CBD5E1"/>
                </a:solidFill>
              </a:rPr>
              <a:t>pico</a:t>
            </a:r>
            <a:r>
              <a:rPr lang="en-US" sz="1100" dirty="0" smtClean="0">
                <a:solidFill>
                  <a:srgbClr val="CBD5E1"/>
                </a:solidFill>
              </a:rPr>
              <a:t>: </a:t>
            </a:r>
          </a:p>
          <a:p>
            <a:pPr>
              <a:spcAft>
                <a:spcPts val="600"/>
              </a:spcAft>
              <a:buSzPct val="100000"/>
            </a:pPr>
            <a:r>
              <a:rPr lang="en-US" sz="1100" dirty="0" smtClean="0">
                <a:solidFill>
                  <a:srgbClr val="CBD5E1"/>
                </a:solidFill>
              </a:rPr>
              <a:t>      45</a:t>
            </a:r>
            <a:r>
              <a:rPr lang="en-US" sz="1100" dirty="0" smtClean="0">
                <a:solidFill>
                  <a:srgbClr val="CBD5E1"/>
                </a:solidFill>
              </a:rPr>
              <a:t>–59 </a:t>
            </a:r>
            <a:r>
              <a:rPr lang="en-US" sz="1100" dirty="0">
                <a:solidFill>
                  <a:srgbClr val="CBD5E1"/>
                </a:solidFill>
              </a:rPr>
              <a:t>años (</a:t>
            </a:r>
            <a:r>
              <a:rPr lang="en-US" sz="1100" dirty="0" smtClean="0">
                <a:solidFill>
                  <a:srgbClr val="CBD5E1"/>
                </a:solidFill>
              </a:rPr>
              <a:t>27,7 </a:t>
            </a:r>
            <a:r>
              <a:rPr lang="en-US" sz="1100" dirty="0">
                <a:solidFill>
                  <a:srgbClr val="CBD5E1"/>
                </a:solidFill>
              </a:rPr>
              <a:t>%) </a:t>
            </a:r>
            <a:endParaRPr lang="en-US" sz="1100" dirty="0" smtClean="0">
              <a:solidFill>
                <a:srgbClr val="CBD5E1"/>
              </a:solidFill>
            </a:endParaRPr>
          </a:p>
          <a:p>
            <a:pPr>
              <a:spcAft>
                <a:spcPts val="600"/>
              </a:spcAft>
              <a:buSzPct val="100000"/>
            </a:pPr>
            <a:r>
              <a:rPr lang="en-US" sz="1100" dirty="0" smtClean="0">
                <a:solidFill>
                  <a:srgbClr val="CBD5E1"/>
                </a:solidFill>
              </a:rPr>
              <a:t>      90</a:t>
            </a:r>
            <a:r>
              <a:rPr lang="en-US" sz="1100" dirty="0">
                <a:solidFill>
                  <a:srgbClr val="CBD5E1"/>
                </a:solidFill>
              </a:rPr>
              <a:t>+ </a:t>
            </a:r>
            <a:r>
              <a:rPr lang="en-US" sz="1100" dirty="0" smtClean="0">
                <a:solidFill>
                  <a:srgbClr val="CBD5E1"/>
                </a:solidFill>
              </a:rPr>
              <a:t>solo( 0,6 %).</a:t>
            </a:r>
            <a:endParaRPr lang="en-US" sz="1100" dirty="0"/>
          </a:p>
          <a:p>
            <a:pPr>
              <a:spcAft>
                <a:spcPts val="600"/>
              </a:spcAft>
              <a:buSzPct val="100000"/>
            </a:pPr>
            <a:r>
              <a:rPr lang="en-US" sz="1100" dirty="0" smtClean="0">
                <a:solidFill>
                  <a:srgbClr val="CBD5E1"/>
                </a:solidFill>
              </a:rPr>
              <a:t>       </a:t>
            </a:r>
            <a:r>
              <a:rPr lang="en-US" sz="1100" dirty="0" smtClean="0">
                <a:solidFill>
                  <a:srgbClr val="CBD5E1"/>
                </a:solidFill>
              </a:rPr>
              <a:t>L</a:t>
            </a:r>
            <a:r>
              <a:rPr lang="en-US" sz="1100" dirty="0" smtClean="0">
                <a:solidFill>
                  <a:srgbClr val="CBD5E1"/>
                </a:solidFill>
              </a:rPr>
              <a:t>a </a:t>
            </a:r>
            <a:r>
              <a:rPr lang="en-US" sz="1100" dirty="0" err="1">
                <a:solidFill>
                  <a:srgbClr val="CBD5E1"/>
                </a:solidFill>
              </a:rPr>
              <a:t>edad</a:t>
            </a:r>
            <a:r>
              <a:rPr lang="en-US" sz="1100" dirty="0">
                <a:solidFill>
                  <a:srgbClr val="CBD5E1"/>
                </a:solidFill>
              </a:rPr>
              <a:t> </a:t>
            </a:r>
            <a:r>
              <a:rPr lang="en-US" sz="1100" dirty="0" err="1" smtClean="0">
                <a:solidFill>
                  <a:srgbClr val="CBD5E1"/>
                </a:solidFill>
              </a:rPr>
              <a:t>cubre</a:t>
            </a:r>
            <a:r>
              <a:rPr lang="en-US" sz="1100" dirty="0" smtClean="0">
                <a:solidFill>
                  <a:srgbClr val="CBD5E1"/>
                </a:solidFill>
              </a:rPr>
              <a:t> </a:t>
            </a:r>
            <a:r>
              <a:rPr lang="en-US" sz="1100" dirty="0">
                <a:solidFill>
                  <a:srgbClr val="CBD5E1"/>
                </a:solidFill>
              </a:rPr>
              <a:t>en el </a:t>
            </a:r>
            <a:r>
              <a:rPr lang="en-US" sz="1100" dirty="0" smtClean="0">
                <a:solidFill>
                  <a:srgbClr val="CBD5E1"/>
                </a:solidFill>
              </a:rPr>
              <a:t>79</a:t>
            </a:r>
            <a:r>
              <a:rPr lang="en-US" sz="1100" dirty="0" smtClean="0">
                <a:solidFill>
                  <a:srgbClr val="CBD5E1"/>
                </a:solidFill>
              </a:rPr>
              <a:t>,1 </a:t>
            </a:r>
            <a:r>
              <a:rPr lang="en-US" sz="1100" dirty="0">
                <a:solidFill>
                  <a:srgbClr val="CBD5E1"/>
                </a:solidFill>
              </a:rPr>
              <a:t>% de los informes.</a:t>
            </a:r>
            <a:endParaRPr lang="en-US" sz="1100" dirty="0"/>
          </a:p>
        </p:txBody>
      </p:sp>
      <p:sp>
        <p:nvSpPr>
          <p:cNvPr id="25" name="Slide Number Placeholder 0"/>
          <p:cNvSpPr>
            <a:spLocks noGrp="1"/>
          </p:cNvSpPr>
          <p:nvPr>
            <p:ph type="sldNum" sz="quarter" idx="4294967295"/>
          </p:nvPr>
        </p:nvSpPr>
        <p:spPr>
          <a:xfrm>
            <a:off x="8229600" y="4727448"/>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7C8BA1"/>
                </a:solidFill>
                <a:latin typeface="Consolas"/>
                <a:ea typeface="Consolas"/>
                <a:cs typeface="Consolas"/>
              </a:defRPr>
            </a:lvl1pPr>
          </a:lstStyle>
          <a:p>
            <a:pPr algn="r"/>
            <a:fld id="{F7021451-1387-4CA6-816F-3879F97B5CBC}" type="slidenum">
              <a:rPr lang="en-US" b="0"/>
              <a:t>18</a:t>
            </a:fld>
            <a:endParaRPr lang="en-US"/>
          </a:p>
        </p:txBody>
      </p:sp>
      <p:pic>
        <p:nvPicPr>
          <p:cNvPr id="10" name="Imagen 9"/>
          <p:cNvPicPr/>
          <p:nvPr/>
        </p:nvPicPr>
        <p:blipFill rotWithShape="1">
          <a:blip r:embed="rId3"/>
          <a:srcRect l="2249" r="1345" b="7176"/>
          <a:stretch/>
        </p:blipFill>
        <p:spPr>
          <a:xfrm>
            <a:off x="457200" y="1595793"/>
            <a:ext cx="5388228" cy="2468317"/>
          </a:xfrm>
          <a:prstGeom prst="rect">
            <a:avLst/>
          </a:prstGeom>
        </p:spPr>
      </p:pic>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9"/>
          <p:cNvSpPr>
            <a:spLocks noGrp="1"/>
          </p:cNvSpPr>
          <p:nvPr>
            <p:ph type="title" idx="109" hasCustomPrompt="1"/>
          </p:nvPr>
        </p:nvSpPr>
        <p:spPr>
          <a:xfrm>
            <a:off x="457200" y="320040"/>
            <a:ext cx="7040880" cy="685800"/>
          </a:xfrm>
          <a:prstGeom prst="rect">
            <a:avLst/>
          </a:prstGeom>
          <a:noFill/>
          <a:ln/>
        </p:spPr>
        <p:txBody>
          <a:bodyPr wrap="square" lIns="0" tIns="0" rIns="0" bIns="0" rtlCol="0" anchor="ctr"/>
          <a:lstStyle/>
          <a:p>
            <a:pPr marL="0" indent="0" algn="l">
              <a:buNone/>
            </a:pPr>
            <a:r>
              <a:rPr lang="en-US" sz="2400" b="1" dirty="0">
                <a:solidFill>
                  <a:srgbClr val="F8FAFC"/>
                </a:solidFill>
              </a:rPr>
              <a:t>Distribución de la edad por sexo</a:t>
            </a:r>
            <a:endParaRPr lang="en-US" sz="2400" dirty="0"/>
          </a:p>
        </p:txBody>
      </p:sp>
      <p:sp>
        <p:nvSpPr>
          <p:cNvPr id="3" name="Text 1"/>
          <p:cNvSpPr txBox="1"/>
          <p:nvPr/>
        </p:nvSpPr>
        <p:spPr>
          <a:xfrm>
            <a:off x="7589520" y="457200"/>
            <a:ext cx="1097280" cy="228600"/>
          </a:xfrm>
          <a:prstGeom prst="rect">
            <a:avLst/>
          </a:prstGeom>
          <a:noFill/>
          <a:ln/>
        </p:spPr>
        <p:txBody>
          <a:bodyPr wrap="square" lIns="0" tIns="0" rIns="0" bIns="0" rtlCol="0" anchor="ctr"/>
          <a:lstStyle/>
          <a:p>
            <a:pPr marL="0" indent="0" algn="r">
              <a:buNone/>
            </a:pPr>
            <a:r>
              <a:rPr lang="en-US" sz="1000" dirty="0">
                <a:solidFill>
                  <a:srgbClr val="22D3EE"/>
                </a:solidFill>
                <a:latin typeface="Consolas" pitchFamily="34" charset="0"/>
                <a:ea typeface="Consolas" pitchFamily="34" charset="-122"/>
                <a:cs typeface="Consolas" pitchFamily="34" charset="-120"/>
              </a:rPr>
              <a:t>FIG. 05</a:t>
            </a:r>
            <a:endParaRPr lang="en-US" sz="1000" dirty="0"/>
          </a:p>
        </p:txBody>
      </p:sp>
      <p:sp>
        <p:nvSpPr>
          <p:cNvPr id="4" name="Marco figura"/>
          <p:cNvSpPr/>
          <p:nvPr/>
        </p:nvSpPr>
        <p:spPr>
          <a:xfrm>
            <a:off x="411480" y="1051560"/>
            <a:ext cx="8321040" cy="2249759"/>
          </a:xfrm>
          <a:prstGeom prst="rect">
            <a:avLst/>
          </a:prstGeom>
          <a:solidFill>
            <a:srgbClr val="0F1720"/>
          </a:solidFill>
          <a:ln w="12700">
            <a:solidFill>
              <a:srgbClr val="1F2D3A"/>
            </a:solidFill>
            <a:prstDash val="solid"/>
          </a:ln>
        </p:spPr>
      </p:sp>
      <p:sp>
        <p:nvSpPr>
          <p:cNvPr id="6" name="Text 3"/>
          <p:cNvSpPr txBox="1"/>
          <p:nvPr/>
        </p:nvSpPr>
        <p:spPr>
          <a:xfrm>
            <a:off x="457200" y="3365327"/>
            <a:ext cx="1828800" cy="228600"/>
          </a:xfrm>
          <a:prstGeom prst="rect">
            <a:avLst/>
          </a:prstGeom>
          <a:noFill/>
          <a:ln/>
        </p:spPr>
        <p:txBody>
          <a:bodyPr wrap="square" lIns="0" tIns="0" rIns="0" bIns="0" rtlCol="0" anchor="ctr"/>
          <a:lstStyle/>
          <a:p>
            <a:pPr marL="0" indent="0" algn="l">
              <a:buNone/>
            </a:pPr>
            <a:r>
              <a:rPr lang="en-US" sz="1000" dirty="0">
                <a:solidFill>
                  <a:srgbClr val="22D3EE"/>
                </a:solidFill>
                <a:latin typeface="Consolas" pitchFamily="34" charset="0"/>
                <a:ea typeface="Consolas" pitchFamily="34" charset="-122"/>
                <a:cs typeface="Consolas" pitchFamily="34" charset="-120"/>
              </a:rPr>
              <a:t>LECTURA</a:t>
            </a:r>
            <a:endParaRPr lang="en-US" sz="1000" dirty="0"/>
          </a:p>
        </p:txBody>
      </p:sp>
      <p:sp>
        <p:nvSpPr>
          <p:cNvPr id="7" name="Text 4"/>
          <p:cNvSpPr txBox="1"/>
          <p:nvPr/>
        </p:nvSpPr>
        <p:spPr>
          <a:xfrm>
            <a:off x="457200" y="3603071"/>
            <a:ext cx="8229600" cy="1060369"/>
          </a:xfrm>
          <a:prstGeom prst="rect">
            <a:avLst/>
          </a:prstGeom>
          <a:noFill/>
          <a:ln/>
        </p:spPr>
        <p:txBody>
          <a:bodyPr wrap="square" lIns="0" tIns="0" rIns="0" bIns="0" rtlCol="0" anchor="t"/>
          <a:lstStyle/>
          <a:p>
            <a:pPr marL="152400" indent="-152400">
              <a:spcAft>
                <a:spcPts val="300"/>
              </a:spcAft>
              <a:buSzPct val="100000"/>
              <a:buChar char="•"/>
            </a:pPr>
            <a:r>
              <a:rPr lang="en-US" sz="1100" b="1" dirty="0" err="1" smtClean="0">
                <a:solidFill>
                  <a:srgbClr val="F8FAFC"/>
                </a:solidFill>
              </a:rPr>
              <a:t>Máximo</a:t>
            </a:r>
            <a:r>
              <a:rPr lang="en-US" sz="1100" b="1" dirty="0" smtClean="0">
                <a:solidFill>
                  <a:srgbClr val="F8FAFC"/>
                </a:solidFill>
              </a:rPr>
              <a:t> </a:t>
            </a:r>
            <a:r>
              <a:rPr lang="en-US" sz="1100" b="1" dirty="0" err="1" smtClean="0">
                <a:solidFill>
                  <a:srgbClr val="F8FAFC"/>
                </a:solidFill>
              </a:rPr>
              <a:t>por</a:t>
            </a:r>
            <a:r>
              <a:rPr lang="en-US" sz="1100" b="1" dirty="0" smtClean="0">
                <a:solidFill>
                  <a:srgbClr val="F8FAFC"/>
                </a:solidFill>
              </a:rPr>
              <a:t> </a:t>
            </a:r>
            <a:r>
              <a:rPr lang="en-US" sz="1100" b="1" dirty="0" err="1" smtClean="0">
                <a:solidFill>
                  <a:srgbClr val="F8FAFC"/>
                </a:solidFill>
              </a:rPr>
              <a:t>sexo</a:t>
            </a:r>
            <a:r>
              <a:rPr lang="en-US" sz="1100" b="1" dirty="0" smtClean="0">
                <a:solidFill>
                  <a:srgbClr val="F8FAFC"/>
                </a:solidFill>
              </a:rPr>
              <a:t>:</a:t>
            </a:r>
            <a:r>
              <a:rPr lang="en-US" sz="1100" dirty="0" smtClean="0">
                <a:solidFill>
                  <a:srgbClr val="CBD5E1"/>
                </a:solidFill>
              </a:rPr>
              <a:t> </a:t>
            </a:r>
            <a:r>
              <a:rPr lang="en-US" sz="1100" dirty="0" err="1" smtClean="0">
                <a:solidFill>
                  <a:srgbClr val="CBD5E1"/>
                </a:solidFill>
              </a:rPr>
              <a:t>mujeres</a:t>
            </a:r>
            <a:r>
              <a:rPr lang="en-US" sz="1100" dirty="0" smtClean="0">
                <a:solidFill>
                  <a:srgbClr val="CBD5E1"/>
                </a:solidFill>
              </a:rPr>
              <a:t> </a:t>
            </a:r>
            <a:r>
              <a:rPr lang="en-US" sz="1100" dirty="0">
                <a:solidFill>
                  <a:srgbClr val="CBD5E1"/>
                </a:solidFill>
              </a:rPr>
              <a:t>45–59 (</a:t>
            </a:r>
            <a:r>
              <a:rPr lang="en-US" sz="1100" dirty="0" smtClean="0">
                <a:solidFill>
                  <a:srgbClr val="CBD5E1"/>
                </a:solidFill>
              </a:rPr>
              <a:t>≈</a:t>
            </a:r>
            <a:r>
              <a:rPr lang="en-US" sz="1100" dirty="0" smtClean="0">
                <a:solidFill>
                  <a:srgbClr val="CBD5E1"/>
                </a:solidFill>
              </a:rPr>
              <a:t>31</a:t>
            </a:r>
            <a:r>
              <a:rPr lang="en-US" sz="1100" dirty="0" smtClean="0">
                <a:solidFill>
                  <a:srgbClr val="CBD5E1"/>
                </a:solidFill>
              </a:rPr>
              <a:t> </a:t>
            </a:r>
            <a:r>
              <a:rPr lang="en-US" sz="1100" dirty="0">
                <a:solidFill>
                  <a:srgbClr val="CBD5E1"/>
                </a:solidFill>
              </a:rPr>
              <a:t>%) y </a:t>
            </a:r>
            <a:r>
              <a:rPr lang="en-US" sz="1100" dirty="0" smtClean="0">
                <a:solidFill>
                  <a:srgbClr val="CBD5E1"/>
                </a:solidFill>
              </a:rPr>
              <a:t>45-59 (24,72 %) </a:t>
            </a:r>
            <a:r>
              <a:rPr lang="en-US" sz="1100" dirty="0" err="1" smtClean="0">
                <a:solidFill>
                  <a:srgbClr val="CBD5E1"/>
                </a:solidFill>
              </a:rPr>
              <a:t>los</a:t>
            </a:r>
            <a:r>
              <a:rPr lang="en-US" sz="1100" dirty="0" smtClean="0">
                <a:solidFill>
                  <a:srgbClr val="CBD5E1"/>
                </a:solidFill>
              </a:rPr>
              <a:t> </a:t>
            </a:r>
            <a:r>
              <a:rPr lang="en-US" sz="1100" dirty="0">
                <a:solidFill>
                  <a:srgbClr val="CBD5E1"/>
                </a:solidFill>
              </a:rPr>
              <a:t>hombres.</a:t>
            </a:r>
            <a:endParaRPr lang="en-US" sz="1100" dirty="0"/>
          </a:p>
          <a:p>
            <a:pPr marL="152400" indent="-152400">
              <a:spcAft>
                <a:spcPts val="300"/>
              </a:spcAft>
              <a:buSzPct val="100000"/>
              <a:buChar char="•"/>
            </a:pPr>
            <a:r>
              <a:rPr lang="en-US" sz="1100" b="1" dirty="0" err="1" smtClean="0">
                <a:solidFill>
                  <a:srgbClr val="F8FAFC"/>
                </a:solidFill>
              </a:rPr>
              <a:t>Observacion</a:t>
            </a:r>
            <a:r>
              <a:rPr lang="en-US" sz="1100" b="1" dirty="0" smtClean="0">
                <a:solidFill>
                  <a:srgbClr val="F8FAFC"/>
                </a:solidFill>
              </a:rPr>
              <a:t> </a:t>
            </a:r>
            <a:r>
              <a:rPr lang="en-US" sz="1100" b="1" dirty="0" smtClean="0">
                <a:solidFill>
                  <a:srgbClr val="F8FAFC"/>
                </a:solidFill>
              </a:rPr>
              <a:t>:</a:t>
            </a:r>
            <a:r>
              <a:rPr lang="en-US" sz="1100" dirty="0" smtClean="0">
                <a:solidFill>
                  <a:srgbClr val="CBD5E1"/>
                </a:solidFill>
              </a:rPr>
              <a:t> de </a:t>
            </a:r>
            <a:r>
              <a:rPr lang="en-US" sz="1100" dirty="0" err="1" smtClean="0">
                <a:solidFill>
                  <a:srgbClr val="CBD5E1"/>
                </a:solidFill>
              </a:rPr>
              <a:t>los</a:t>
            </a:r>
            <a:r>
              <a:rPr lang="en-US" sz="1100" dirty="0" smtClean="0">
                <a:solidFill>
                  <a:srgbClr val="CBD5E1"/>
                </a:solidFill>
              </a:rPr>
              <a:t> 30 -74 hay mas % de </a:t>
            </a:r>
            <a:r>
              <a:rPr lang="en-US" sz="1100" dirty="0" err="1" smtClean="0">
                <a:solidFill>
                  <a:srgbClr val="CBD5E1"/>
                </a:solidFill>
              </a:rPr>
              <a:t>mujeres</a:t>
            </a:r>
            <a:r>
              <a:rPr lang="en-US" sz="1100" dirty="0" smtClean="0">
                <a:solidFill>
                  <a:srgbClr val="CBD5E1"/>
                </a:solidFill>
              </a:rPr>
              <a:t> que hombres  y </a:t>
            </a:r>
            <a:r>
              <a:rPr lang="en-US" sz="1100" dirty="0" err="1" smtClean="0">
                <a:solidFill>
                  <a:srgbClr val="CBD5E1"/>
                </a:solidFill>
              </a:rPr>
              <a:t>en</a:t>
            </a:r>
            <a:r>
              <a:rPr lang="en-US" sz="1100" dirty="0">
                <a:solidFill>
                  <a:srgbClr val="CBD5E1"/>
                </a:solidFill>
              </a:rPr>
              <a:t> </a:t>
            </a:r>
            <a:r>
              <a:rPr lang="en-US" sz="1100" dirty="0" err="1" smtClean="0">
                <a:solidFill>
                  <a:srgbClr val="CBD5E1"/>
                </a:solidFill>
              </a:rPr>
              <a:t>los</a:t>
            </a:r>
            <a:r>
              <a:rPr lang="en-US" sz="1100" dirty="0" smtClean="0">
                <a:solidFill>
                  <a:srgbClr val="CBD5E1"/>
                </a:solidFill>
              </a:rPr>
              <a:t> </a:t>
            </a:r>
            <a:r>
              <a:rPr lang="en-US" sz="1100" dirty="0" err="1" smtClean="0">
                <a:solidFill>
                  <a:srgbClr val="CBD5E1"/>
                </a:solidFill>
              </a:rPr>
              <a:t>rangos</a:t>
            </a:r>
            <a:r>
              <a:rPr lang="en-US" sz="1100" dirty="0" smtClean="0">
                <a:solidFill>
                  <a:srgbClr val="CBD5E1"/>
                </a:solidFill>
              </a:rPr>
              <a:t> de </a:t>
            </a:r>
            <a:r>
              <a:rPr lang="en-US" sz="1100" dirty="0" err="1" smtClean="0">
                <a:solidFill>
                  <a:srgbClr val="CBD5E1"/>
                </a:solidFill>
              </a:rPr>
              <a:t>edad</a:t>
            </a:r>
            <a:r>
              <a:rPr lang="en-US" sz="1100" dirty="0" smtClean="0">
                <a:solidFill>
                  <a:srgbClr val="CBD5E1"/>
                </a:solidFill>
              </a:rPr>
              <a:t> </a:t>
            </a:r>
            <a:r>
              <a:rPr lang="en-US" sz="1100" dirty="0" err="1" smtClean="0">
                <a:solidFill>
                  <a:srgbClr val="CBD5E1"/>
                </a:solidFill>
              </a:rPr>
              <a:t>restantes</a:t>
            </a:r>
            <a:r>
              <a:rPr lang="en-US" sz="1100" dirty="0" smtClean="0">
                <a:solidFill>
                  <a:srgbClr val="CBD5E1"/>
                </a:solidFill>
              </a:rPr>
              <a:t> el mayor % </a:t>
            </a:r>
            <a:r>
              <a:rPr lang="en-US" sz="1100" dirty="0" err="1" smtClean="0">
                <a:solidFill>
                  <a:srgbClr val="CBD5E1"/>
                </a:solidFill>
              </a:rPr>
              <a:t>es</a:t>
            </a:r>
            <a:r>
              <a:rPr lang="en-US" sz="1100" dirty="0" smtClean="0">
                <a:solidFill>
                  <a:srgbClr val="CBD5E1"/>
                </a:solidFill>
              </a:rPr>
              <a:t> de </a:t>
            </a:r>
            <a:r>
              <a:rPr lang="en-US" sz="1100" dirty="0" err="1" smtClean="0">
                <a:solidFill>
                  <a:srgbClr val="CBD5E1"/>
                </a:solidFill>
              </a:rPr>
              <a:t>los</a:t>
            </a:r>
            <a:r>
              <a:rPr lang="en-US" sz="1100" dirty="0" smtClean="0">
                <a:solidFill>
                  <a:srgbClr val="CBD5E1"/>
                </a:solidFill>
              </a:rPr>
              <a:t> hombres</a:t>
            </a:r>
            <a:endParaRPr lang="en-US" sz="1100" dirty="0"/>
          </a:p>
        </p:txBody>
      </p:sp>
      <p:sp>
        <p:nvSpPr>
          <p:cNvPr id="25" name="Slide Number Placeholder 0"/>
          <p:cNvSpPr>
            <a:spLocks noGrp="1"/>
          </p:cNvSpPr>
          <p:nvPr>
            <p:ph type="sldNum" sz="quarter" idx="4294967295"/>
          </p:nvPr>
        </p:nvSpPr>
        <p:spPr>
          <a:xfrm>
            <a:off x="8229600" y="4727448"/>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7C8BA1"/>
                </a:solidFill>
                <a:latin typeface="Consolas"/>
                <a:ea typeface="Consolas"/>
                <a:cs typeface="Consolas"/>
              </a:defRPr>
            </a:lvl1pPr>
          </a:lstStyle>
          <a:p>
            <a:pPr algn="r"/>
            <a:fld id="{F7021451-1387-4CA6-816F-3879F97B5CBC}" type="slidenum">
              <a:rPr lang="en-US" b="0"/>
              <a:t>19</a:t>
            </a:fld>
            <a:endParaRPr lang="en-US"/>
          </a:p>
        </p:txBody>
      </p:sp>
      <p:pic>
        <p:nvPicPr>
          <p:cNvPr id="9" name="Imagen 8"/>
          <p:cNvPicPr/>
          <p:nvPr/>
        </p:nvPicPr>
        <p:blipFill>
          <a:blip r:embed="rId3"/>
          <a:stretch>
            <a:fillRect/>
          </a:stretch>
        </p:blipFill>
        <p:spPr>
          <a:xfrm>
            <a:off x="792271" y="1069848"/>
            <a:ext cx="7559458" cy="2168129"/>
          </a:xfrm>
          <a:prstGeom prst="rect">
            <a:avLst/>
          </a:prstGeom>
        </p:spPr>
      </p:pic>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9"/>
          <p:cNvSpPr>
            <a:spLocks noGrp="1"/>
          </p:cNvSpPr>
          <p:nvPr>
            <p:ph type="title" idx="109" hasCustomPrompt="1"/>
          </p:nvPr>
        </p:nvSpPr>
        <p:spPr>
          <a:xfrm>
            <a:off x="457200" y="320040"/>
            <a:ext cx="7040880" cy="685800"/>
          </a:xfrm>
          <a:prstGeom prst="rect">
            <a:avLst/>
          </a:prstGeom>
          <a:noFill/>
          <a:ln/>
        </p:spPr>
        <p:txBody>
          <a:bodyPr wrap="square" lIns="0" tIns="0" rIns="0" bIns="0" rtlCol="0" anchor="ctr"/>
          <a:lstStyle/>
          <a:p>
            <a:pPr marL="0" indent="0" algn="l">
              <a:buNone/>
            </a:pPr>
            <a:r>
              <a:rPr lang="en-US" sz="2400" b="1" dirty="0">
                <a:solidFill>
                  <a:srgbClr val="F8FAFC"/>
                </a:solidFill>
              </a:rPr>
              <a:t>Edad media por modalidad</a:t>
            </a:r>
            <a:endParaRPr lang="en-US" sz="2400" dirty="0"/>
          </a:p>
        </p:txBody>
      </p:sp>
      <p:sp>
        <p:nvSpPr>
          <p:cNvPr id="3" name="Text 1"/>
          <p:cNvSpPr txBox="1"/>
          <p:nvPr/>
        </p:nvSpPr>
        <p:spPr>
          <a:xfrm>
            <a:off x="7589520" y="457200"/>
            <a:ext cx="1097280" cy="228600"/>
          </a:xfrm>
          <a:prstGeom prst="rect">
            <a:avLst/>
          </a:prstGeom>
          <a:noFill/>
          <a:ln/>
        </p:spPr>
        <p:txBody>
          <a:bodyPr wrap="square" lIns="0" tIns="0" rIns="0" bIns="0" rtlCol="0" anchor="ctr"/>
          <a:lstStyle/>
          <a:p>
            <a:pPr marL="0" indent="0" algn="r">
              <a:buNone/>
            </a:pPr>
            <a:r>
              <a:rPr lang="en-US" sz="1000" dirty="0">
                <a:solidFill>
                  <a:srgbClr val="22D3EE"/>
                </a:solidFill>
                <a:latin typeface="Consolas" pitchFamily="34" charset="0"/>
                <a:ea typeface="Consolas" pitchFamily="34" charset="-122"/>
                <a:cs typeface="Consolas" pitchFamily="34" charset="-120"/>
              </a:rPr>
              <a:t>FIG. 06</a:t>
            </a:r>
            <a:endParaRPr lang="en-US" sz="1000" dirty="0"/>
          </a:p>
        </p:txBody>
      </p:sp>
      <p:sp>
        <p:nvSpPr>
          <p:cNvPr id="4" name="Marco figura"/>
          <p:cNvSpPr/>
          <p:nvPr/>
        </p:nvSpPr>
        <p:spPr>
          <a:xfrm>
            <a:off x="1576754" y="1051560"/>
            <a:ext cx="6137031" cy="2688102"/>
          </a:xfrm>
          <a:prstGeom prst="rect">
            <a:avLst/>
          </a:prstGeom>
          <a:solidFill>
            <a:srgbClr val="0F1720"/>
          </a:solidFill>
          <a:ln w="12700">
            <a:solidFill>
              <a:srgbClr val="1F2D3A"/>
            </a:solidFill>
            <a:prstDash val="solid"/>
          </a:ln>
        </p:spPr>
      </p:sp>
      <p:sp>
        <p:nvSpPr>
          <p:cNvPr id="6" name="Text 3"/>
          <p:cNvSpPr txBox="1"/>
          <p:nvPr/>
        </p:nvSpPr>
        <p:spPr>
          <a:xfrm>
            <a:off x="457200" y="3882342"/>
            <a:ext cx="1828800" cy="228600"/>
          </a:xfrm>
          <a:prstGeom prst="rect">
            <a:avLst/>
          </a:prstGeom>
          <a:noFill/>
          <a:ln/>
        </p:spPr>
        <p:txBody>
          <a:bodyPr wrap="square" lIns="0" tIns="0" rIns="0" bIns="0" rtlCol="0" anchor="ctr"/>
          <a:lstStyle/>
          <a:p>
            <a:pPr marL="0" indent="0" algn="l">
              <a:buNone/>
            </a:pPr>
            <a:r>
              <a:rPr lang="en-US" sz="1000" dirty="0">
                <a:solidFill>
                  <a:srgbClr val="22D3EE"/>
                </a:solidFill>
                <a:latin typeface="Consolas" pitchFamily="34" charset="0"/>
                <a:ea typeface="Consolas" pitchFamily="34" charset="-122"/>
                <a:cs typeface="Consolas" pitchFamily="34" charset="-120"/>
              </a:rPr>
              <a:t>LECTURA</a:t>
            </a:r>
            <a:endParaRPr lang="en-US" sz="1000" dirty="0"/>
          </a:p>
        </p:txBody>
      </p:sp>
      <p:sp>
        <p:nvSpPr>
          <p:cNvPr id="7" name="Text 4"/>
          <p:cNvSpPr txBox="1"/>
          <p:nvPr/>
        </p:nvSpPr>
        <p:spPr>
          <a:xfrm>
            <a:off x="457200" y="4161115"/>
            <a:ext cx="8229600" cy="481231"/>
          </a:xfrm>
          <a:prstGeom prst="rect">
            <a:avLst/>
          </a:prstGeom>
          <a:noFill/>
          <a:ln/>
        </p:spPr>
        <p:txBody>
          <a:bodyPr wrap="square" lIns="0" tIns="0" rIns="0" bIns="0" rtlCol="0" anchor="t"/>
          <a:lstStyle/>
          <a:p>
            <a:pPr marL="152400" indent="-152400">
              <a:spcAft>
                <a:spcPts val="300"/>
              </a:spcAft>
              <a:buSzPct val="100000"/>
              <a:buChar char="•"/>
            </a:pPr>
            <a:r>
              <a:rPr lang="en-US" sz="1100" b="1" dirty="0">
                <a:solidFill>
                  <a:srgbClr val="F8FAFC"/>
                </a:solidFill>
              </a:rPr>
              <a:t>Mayor edad:</a:t>
            </a:r>
            <a:r>
              <a:rPr lang="en-US" sz="1100" dirty="0">
                <a:solidFill>
                  <a:srgbClr val="CBD5E1"/>
                </a:solidFill>
              </a:rPr>
              <a:t> </a:t>
            </a:r>
            <a:r>
              <a:rPr lang="en-US" sz="1100" dirty="0" err="1" smtClean="0">
                <a:solidFill>
                  <a:srgbClr val="CBD5E1"/>
                </a:solidFill>
              </a:rPr>
              <a:t>Mamografía</a:t>
            </a:r>
            <a:r>
              <a:rPr lang="en-US" sz="1100" dirty="0" smtClean="0">
                <a:solidFill>
                  <a:srgbClr val="CBD5E1"/>
                </a:solidFill>
              </a:rPr>
              <a:t> </a:t>
            </a:r>
            <a:r>
              <a:rPr lang="en-US" sz="1100" dirty="0">
                <a:solidFill>
                  <a:srgbClr val="CBD5E1"/>
                </a:solidFill>
              </a:rPr>
              <a:t>(</a:t>
            </a:r>
            <a:r>
              <a:rPr lang="en-US" sz="1100" dirty="0" smtClean="0">
                <a:solidFill>
                  <a:srgbClr val="CBD5E1"/>
                </a:solidFill>
              </a:rPr>
              <a:t>54,8 </a:t>
            </a:r>
            <a:r>
              <a:rPr lang="en-US" sz="1100" dirty="0" err="1" smtClean="0">
                <a:solidFill>
                  <a:srgbClr val="CBD5E1"/>
                </a:solidFill>
              </a:rPr>
              <a:t>años</a:t>
            </a:r>
            <a:r>
              <a:rPr lang="en-US" sz="1100" dirty="0" smtClean="0">
                <a:solidFill>
                  <a:srgbClr val="CBD5E1"/>
                </a:solidFill>
              </a:rPr>
              <a:t>),   </a:t>
            </a:r>
            <a:r>
              <a:rPr lang="en-US" sz="1100" dirty="0" err="1" smtClean="0">
                <a:solidFill>
                  <a:srgbClr val="CBD5E1"/>
                </a:solidFill>
              </a:rPr>
              <a:t>Resonancia</a:t>
            </a:r>
            <a:r>
              <a:rPr lang="en-US" sz="1100" dirty="0" smtClean="0">
                <a:solidFill>
                  <a:srgbClr val="CBD5E1"/>
                </a:solidFill>
              </a:rPr>
              <a:t> </a:t>
            </a:r>
            <a:r>
              <a:rPr lang="en-US" sz="1100" dirty="0" err="1" smtClean="0">
                <a:solidFill>
                  <a:srgbClr val="CBD5E1"/>
                </a:solidFill>
              </a:rPr>
              <a:t>Magnética</a:t>
            </a:r>
            <a:r>
              <a:rPr lang="en-US" sz="1100" dirty="0" smtClean="0">
                <a:solidFill>
                  <a:srgbClr val="CBD5E1"/>
                </a:solidFill>
              </a:rPr>
              <a:t> </a:t>
            </a:r>
            <a:r>
              <a:rPr lang="en-US" sz="1100" dirty="0">
                <a:solidFill>
                  <a:srgbClr val="CBD5E1"/>
                </a:solidFill>
              </a:rPr>
              <a:t>(</a:t>
            </a:r>
            <a:r>
              <a:rPr lang="en-US" sz="1100" dirty="0" smtClean="0">
                <a:solidFill>
                  <a:srgbClr val="CBD5E1"/>
                </a:solidFill>
              </a:rPr>
              <a:t>52,5 </a:t>
            </a:r>
            <a:r>
              <a:rPr lang="en-US" sz="1100" dirty="0" err="1" smtClean="0">
                <a:solidFill>
                  <a:srgbClr val="CBD5E1"/>
                </a:solidFill>
              </a:rPr>
              <a:t>años</a:t>
            </a:r>
            <a:r>
              <a:rPr lang="en-US" sz="1100" dirty="0" smtClean="0">
                <a:solidFill>
                  <a:srgbClr val="CBD5E1"/>
                </a:solidFill>
              </a:rPr>
              <a:t>), No </a:t>
            </a:r>
            <a:r>
              <a:rPr lang="en-US" sz="1100" dirty="0" err="1" smtClean="0">
                <a:solidFill>
                  <a:srgbClr val="CBD5E1"/>
                </a:solidFill>
              </a:rPr>
              <a:t>especifícado</a:t>
            </a:r>
            <a:r>
              <a:rPr lang="en-US" sz="1100" dirty="0" smtClean="0">
                <a:solidFill>
                  <a:srgbClr val="CBD5E1"/>
                </a:solidFill>
              </a:rPr>
              <a:t>(47,1 </a:t>
            </a:r>
            <a:r>
              <a:rPr lang="en-US" sz="1100" dirty="0" err="1" smtClean="0">
                <a:solidFill>
                  <a:srgbClr val="CBD5E1"/>
                </a:solidFill>
              </a:rPr>
              <a:t>años</a:t>
            </a:r>
            <a:r>
              <a:rPr lang="en-US" sz="1100" dirty="0" smtClean="0">
                <a:solidFill>
                  <a:srgbClr val="CBD5E1"/>
                </a:solidFill>
              </a:rPr>
              <a:t>) </a:t>
            </a:r>
            <a:r>
              <a:rPr lang="en-US" sz="1100" dirty="0" err="1" smtClean="0">
                <a:solidFill>
                  <a:srgbClr val="CBD5E1"/>
                </a:solidFill>
              </a:rPr>
              <a:t>Tomografía</a:t>
            </a:r>
            <a:r>
              <a:rPr lang="en-US" sz="1100" dirty="0" smtClean="0">
                <a:solidFill>
                  <a:srgbClr val="CBD5E1"/>
                </a:solidFill>
              </a:rPr>
              <a:t> (46,6 </a:t>
            </a:r>
            <a:r>
              <a:rPr lang="en-US" sz="1100" dirty="0" err="1" smtClean="0">
                <a:solidFill>
                  <a:srgbClr val="CBD5E1"/>
                </a:solidFill>
              </a:rPr>
              <a:t>años</a:t>
            </a:r>
            <a:r>
              <a:rPr lang="en-US" sz="1100" dirty="0" smtClean="0">
                <a:solidFill>
                  <a:srgbClr val="CBD5E1"/>
                </a:solidFill>
              </a:rPr>
              <a:t>).</a:t>
            </a:r>
            <a:endParaRPr lang="en-US" sz="1100" dirty="0"/>
          </a:p>
          <a:p>
            <a:pPr marL="152400" indent="-152400">
              <a:spcAft>
                <a:spcPts val="300"/>
              </a:spcAft>
              <a:buSzPct val="100000"/>
              <a:buChar char="•"/>
            </a:pPr>
            <a:r>
              <a:rPr lang="en-US" sz="1100" b="1" dirty="0">
                <a:solidFill>
                  <a:srgbClr val="F8FAFC"/>
                </a:solidFill>
              </a:rPr>
              <a:t>Menor edad:</a:t>
            </a:r>
            <a:r>
              <a:rPr lang="en-US" sz="1100" dirty="0">
                <a:solidFill>
                  <a:srgbClr val="CBD5E1"/>
                </a:solidFill>
              </a:rPr>
              <a:t> </a:t>
            </a:r>
            <a:r>
              <a:rPr lang="en-US" sz="1100" dirty="0" smtClean="0">
                <a:solidFill>
                  <a:srgbClr val="CBD5E1"/>
                </a:solidFill>
              </a:rPr>
              <a:t>Eco(39</a:t>
            </a:r>
            <a:r>
              <a:rPr lang="en-US" sz="1100" dirty="0" smtClean="0">
                <a:solidFill>
                  <a:srgbClr val="CBD5E1"/>
                </a:solidFill>
              </a:rPr>
              <a:t>,0 </a:t>
            </a:r>
            <a:r>
              <a:rPr lang="en-US" sz="1100" dirty="0" err="1" smtClean="0">
                <a:solidFill>
                  <a:srgbClr val="CBD5E1"/>
                </a:solidFill>
              </a:rPr>
              <a:t>años</a:t>
            </a:r>
            <a:r>
              <a:rPr lang="en-US" sz="1100" dirty="0" smtClean="0">
                <a:solidFill>
                  <a:srgbClr val="CBD5E1"/>
                </a:solidFill>
              </a:rPr>
              <a:t>) </a:t>
            </a:r>
            <a:r>
              <a:rPr lang="en-US" sz="1100" dirty="0">
                <a:solidFill>
                  <a:srgbClr val="CBD5E1"/>
                </a:solidFill>
              </a:rPr>
              <a:t>y «OTROS» </a:t>
            </a:r>
            <a:r>
              <a:rPr lang="en-US" sz="1100" dirty="0" smtClean="0">
                <a:solidFill>
                  <a:srgbClr val="CBD5E1"/>
                </a:solidFill>
              </a:rPr>
              <a:t>(7,0 </a:t>
            </a:r>
            <a:r>
              <a:rPr lang="en-US" sz="1100" dirty="0" err="1" smtClean="0">
                <a:solidFill>
                  <a:srgbClr val="CBD5E1"/>
                </a:solidFill>
              </a:rPr>
              <a:t>años</a:t>
            </a:r>
            <a:r>
              <a:rPr lang="en-US" sz="1100" dirty="0" smtClean="0">
                <a:solidFill>
                  <a:srgbClr val="CBD5E1"/>
                </a:solidFill>
              </a:rPr>
              <a:t>).</a:t>
            </a:r>
            <a:endParaRPr lang="en-US" sz="1100" dirty="0"/>
          </a:p>
        </p:txBody>
      </p:sp>
      <p:sp>
        <p:nvSpPr>
          <p:cNvPr id="25" name="Slide Number Placeholder 0"/>
          <p:cNvSpPr>
            <a:spLocks noGrp="1"/>
          </p:cNvSpPr>
          <p:nvPr>
            <p:ph type="sldNum" sz="quarter" idx="4294967295"/>
          </p:nvPr>
        </p:nvSpPr>
        <p:spPr>
          <a:xfrm>
            <a:off x="8229600" y="4727448"/>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7C8BA1"/>
                </a:solidFill>
                <a:latin typeface="Consolas"/>
                <a:ea typeface="Consolas"/>
                <a:cs typeface="Consolas"/>
              </a:defRPr>
            </a:lvl1pPr>
          </a:lstStyle>
          <a:p>
            <a:pPr algn="r"/>
            <a:fld id="{F7021451-1387-4CA6-816F-3879F97B5CBC}" type="slidenum">
              <a:rPr lang="en-US" b="0"/>
              <a:t>20</a:t>
            </a:fld>
            <a:endParaRPr lang="en-US"/>
          </a:p>
        </p:txBody>
      </p:sp>
      <p:pic>
        <p:nvPicPr>
          <p:cNvPr id="10" name="Imagen 9"/>
          <p:cNvPicPr/>
          <p:nvPr/>
        </p:nvPicPr>
        <p:blipFill>
          <a:blip r:embed="rId3"/>
          <a:stretch>
            <a:fillRect/>
          </a:stretch>
        </p:blipFill>
        <p:spPr>
          <a:xfrm>
            <a:off x="1665299" y="1110587"/>
            <a:ext cx="5975577" cy="2565802"/>
          </a:xfrm>
          <a:prstGeom prst="rect">
            <a:avLst/>
          </a:prstGeom>
        </p:spPr>
      </p:pic>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9"/>
          <p:cNvSpPr>
            <a:spLocks noGrp="1"/>
          </p:cNvSpPr>
          <p:nvPr>
            <p:ph type="title" idx="109" hasCustomPrompt="1"/>
          </p:nvPr>
        </p:nvSpPr>
        <p:spPr>
          <a:xfrm>
            <a:off x="457200" y="320040"/>
            <a:ext cx="7040880" cy="685800"/>
          </a:xfrm>
          <a:prstGeom prst="rect">
            <a:avLst/>
          </a:prstGeom>
          <a:noFill/>
          <a:ln/>
        </p:spPr>
        <p:txBody>
          <a:bodyPr wrap="square" lIns="0" tIns="0" rIns="0" bIns="0" rtlCol="0" anchor="ctr"/>
          <a:lstStyle/>
          <a:p>
            <a:pPr marL="0" indent="0" algn="l">
              <a:buNone/>
            </a:pPr>
            <a:r>
              <a:rPr lang="en-US" sz="2400" b="1" dirty="0">
                <a:solidFill>
                  <a:srgbClr val="F8FAFC"/>
                </a:solidFill>
              </a:rPr>
              <a:t>Perfil clínico: volumen y modalidades</a:t>
            </a:r>
            <a:endParaRPr lang="en-US" sz="2400" dirty="0"/>
          </a:p>
        </p:txBody>
      </p:sp>
      <p:sp>
        <p:nvSpPr>
          <p:cNvPr id="3" name="Text 1"/>
          <p:cNvSpPr txBox="1"/>
          <p:nvPr/>
        </p:nvSpPr>
        <p:spPr>
          <a:xfrm>
            <a:off x="7589520" y="457200"/>
            <a:ext cx="1097280" cy="228600"/>
          </a:xfrm>
          <a:prstGeom prst="rect">
            <a:avLst/>
          </a:prstGeom>
          <a:noFill/>
          <a:ln/>
        </p:spPr>
        <p:txBody>
          <a:bodyPr wrap="square" lIns="0" tIns="0" rIns="0" bIns="0" rtlCol="0" anchor="ctr"/>
          <a:lstStyle/>
          <a:p>
            <a:pPr marL="0" indent="0" algn="r">
              <a:buNone/>
            </a:pPr>
            <a:r>
              <a:rPr lang="en-US" sz="1000" dirty="0">
                <a:solidFill>
                  <a:srgbClr val="22D3EE"/>
                </a:solidFill>
                <a:latin typeface="Consolas" pitchFamily="34" charset="0"/>
                <a:ea typeface="Consolas" pitchFamily="34" charset="-122"/>
                <a:cs typeface="Consolas" pitchFamily="34" charset="-120"/>
              </a:rPr>
              <a:t>FIG. 07</a:t>
            </a:r>
            <a:endParaRPr lang="en-US" sz="1000" dirty="0"/>
          </a:p>
        </p:txBody>
      </p:sp>
      <p:sp>
        <p:nvSpPr>
          <p:cNvPr id="4" name="Marco figura"/>
          <p:cNvSpPr/>
          <p:nvPr/>
        </p:nvSpPr>
        <p:spPr>
          <a:xfrm>
            <a:off x="411479" y="1417320"/>
            <a:ext cx="5488279" cy="2591373"/>
          </a:xfrm>
          <a:prstGeom prst="rect">
            <a:avLst/>
          </a:prstGeom>
          <a:solidFill>
            <a:srgbClr val="0F1720"/>
          </a:solidFill>
          <a:ln w="12700">
            <a:solidFill>
              <a:srgbClr val="1F2D3A"/>
            </a:solidFill>
            <a:prstDash val="solid"/>
          </a:ln>
        </p:spPr>
      </p:sp>
      <p:sp>
        <p:nvSpPr>
          <p:cNvPr id="6" name="Text 3"/>
          <p:cNvSpPr txBox="1"/>
          <p:nvPr/>
        </p:nvSpPr>
        <p:spPr>
          <a:xfrm>
            <a:off x="5943600" y="1188720"/>
            <a:ext cx="1828800" cy="228600"/>
          </a:xfrm>
          <a:prstGeom prst="rect">
            <a:avLst/>
          </a:prstGeom>
          <a:noFill/>
          <a:ln/>
        </p:spPr>
        <p:txBody>
          <a:bodyPr wrap="square" lIns="0" tIns="0" rIns="0" bIns="0" rtlCol="0" anchor="ctr"/>
          <a:lstStyle/>
          <a:p>
            <a:pPr marL="0" indent="0" algn="l">
              <a:buNone/>
            </a:pPr>
            <a:r>
              <a:rPr lang="en-US" sz="1000" dirty="0">
                <a:solidFill>
                  <a:srgbClr val="22D3EE"/>
                </a:solidFill>
                <a:latin typeface="Consolas" pitchFamily="34" charset="0"/>
                <a:ea typeface="Consolas" pitchFamily="34" charset="-122"/>
                <a:cs typeface="Consolas" pitchFamily="34" charset="-120"/>
              </a:rPr>
              <a:t>LECTURA</a:t>
            </a:r>
            <a:endParaRPr lang="en-US" sz="1000" dirty="0"/>
          </a:p>
        </p:txBody>
      </p:sp>
      <p:sp>
        <p:nvSpPr>
          <p:cNvPr id="7" name="Text 4"/>
          <p:cNvSpPr txBox="1"/>
          <p:nvPr/>
        </p:nvSpPr>
        <p:spPr>
          <a:xfrm>
            <a:off x="5943600" y="1463040"/>
            <a:ext cx="2743200" cy="3200400"/>
          </a:xfrm>
          <a:prstGeom prst="rect">
            <a:avLst/>
          </a:prstGeom>
          <a:noFill/>
          <a:ln/>
        </p:spPr>
        <p:txBody>
          <a:bodyPr wrap="square" lIns="0" tIns="0" rIns="0" bIns="0" rtlCol="0" anchor="t"/>
          <a:lstStyle/>
          <a:p>
            <a:pPr marL="152400" indent="-152400">
              <a:spcAft>
                <a:spcPts val="600"/>
              </a:spcAft>
              <a:buSzPct val="100000"/>
              <a:buChar char="•"/>
            </a:pPr>
            <a:r>
              <a:rPr lang="en-US" sz="1100" b="1" dirty="0">
                <a:solidFill>
                  <a:srgbClr val="F8FAFC"/>
                </a:solidFill>
              </a:rPr>
              <a:t>Volumen:</a:t>
            </a:r>
            <a:r>
              <a:rPr lang="en-US" sz="1100" dirty="0">
                <a:solidFill>
                  <a:srgbClr val="CBD5E1"/>
                </a:solidFill>
              </a:rPr>
              <a:t> </a:t>
            </a:r>
            <a:r>
              <a:rPr lang="en-US" sz="1100" dirty="0" smtClean="0">
                <a:solidFill>
                  <a:srgbClr val="CBD5E1"/>
                </a:solidFill>
              </a:rPr>
              <a:t>99.133 </a:t>
            </a:r>
            <a:r>
              <a:rPr lang="en-US" sz="1100" dirty="0">
                <a:solidFill>
                  <a:srgbClr val="CBD5E1"/>
                </a:solidFill>
              </a:rPr>
              <a:t>informes, </a:t>
            </a:r>
            <a:r>
              <a:rPr lang="en-US" sz="1100" dirty="0" smtClean="0">
                <a:solidFill>
                  <a:srgbClr val="CBD5E1"/>
                </a:solidFill>
              </a:rPr>
              <a:t>99</a:t>
            </a:r>
            <a:r>
              <a:rPr lang="en-US" sz="1100" dirty="0" smtClean="0">
                <a:solidFill>
                  <a:srgbClr val="CBD5E1"/>
                </a:solidFill>
              </a:rPr>
              <a:t>.471 </a:t>
            </a:r>
            <a:r>
              <a:rPr lang="en-US" sz="1100" dirty="0">
                <a:solidFill>
                  <a:srgbClr val="CBD5E1"/>
                </a:solidFill>
              </a:rPr>
              <a:t>estudios, </a:t>
            </a:r>
            <a:r>
              <a:rPr lang="en-US" sz="1100" dirty="0" smtClean="0">
                <a:solidFill>
                  <a:srgbClr val="CBD5E1"/>
                </a:solidFill>
              </a:rPr>
              <a:t>695</a:t>
            </a:r>
            <a:r>
              <a:rPr lang="en-US" sz="1100" dirty="0" smtClean="0">
                <a:solidFill>
                  <a:srgbClr val="CBD5E1"/>
                </a:solidFill>
              </a:rPr>
              <a:t>.364 </a:t>
            </a:r>
            <a:r>
              <a:rPr lang="en-US" sz="1100" dirty="0">
                <a:solidFill>
                  <a:srgbClr val="CBD5E1"/>
                </a:solidFill>
              </a:rPr>
              <a:t>hallazgos y </a:t>
            </a:r>
            <a:r>
              <a:rPr lang="en-US" sz="1100" dirty="0" smtClean="0">
                <a:solidFill>
                  <a:srgbClr val="CBD5E1"/>
                </a:solidFill>
              </a:rPr>
              <a:t>254.926 </a:t>
            </a:r>
            <a:r>
              <a:rPr lang="en-US" sz="1100" dirty="0">
                <a:solidFill>
                  <a:srgbClr val="CBD5E1"/>
                </a:solidFill>
              </a:rPr>
              <a:t>conclusiones.</a:t>
            </a:r>
            <a:endParaRPr lang="en-US" sz="1100" dirty="0"/>
          </a:p>
          <a:p>
            <a:pPr marL="152400" indent="-152400">
              <a:spcAft>
                <a:spcPts val="600"/>
              </a:spcAft>
              <a:buSzPct val="100000"/>
              <a:buChar char="•"/>
            </a:pPr>
            <a:r>
              <a:rPr lang="en-US" sz="1100" b="1" dirty="0">
                <a:solidFill>
                  <a:srgbClr val="F8FAFC"/>
                </a:solidFill>
              </a:rPr>
              <a:t>Modalidades:</a:t>
            </a:r>
            <a:r>
              <a:rPr lang="en-US" sz="1100" dirty="0">
                <a:solidFill>
                  <a:srgbClr val="CBD5E1"/>
                </a:solidFill>
              </a:rPr>
              <a:t> radiografía 44,9 %, TC </a:t>
            </a:r>
            <a:r>
              <a:rPr lang="en-US" sz="1100" dirty="0" smtClean="0">
                <a:solidFill>
                  <a:srgbClr val="CBD5E1"/>
                </a:solidFill>
              </a:rPr>
              <a:t>25,4 </a:t>
            </a:r>
            <a:r>
              <a:rPr lang="en-US" sz="1100" dirty="0">
                <a:solidFill>
                  <a:srgbClr val="CBD5E1"/>
                </a:solidFill>
              </a:rPr>
              <a:t>%, RM 21,1 %; mamografía 3,2 </a:t>
            </a:r>
            <a:r>
              <a:rPr lang="en-US" sz="1100" dirty="0" smtClean="0">
                <a:solidFill>
                  <a:srgbClr val="CBD5E1"/>
                </a:solidFill>
              </a:rPr>
              <a:t>%.</a:t>
            </a:r>
            <a:endParaRPr lang="en-US" sz="1100" dirty="0"/>
          </a:p>
          <a:p>
            <a:pPr marL="152400" indent="-152400">
              <a:spcAft>
                <a:spcPts val="600"/>
              </a:spcAft>
              <a:buSzPct val="100000"/>
              <a:buChar char="•"/>
            </a:pPr>
            <a:r>
              <a:rPr lang="en-US" sz="1100" b="1" dirty="0">
                <a:solidFill>
                  <a:srgbClr val="F8FAFC"/>
                </a:solidFill>
              </a:rPr>
              <a:t>Complejidad:</a:t>
            </a:r>
            <a:r>
              <a:rPr lang="en-US" sz="1100" dirty="0">
                <a:solidFill>
                  <a:srgbClr val="CBD5E1"/>
                </a:solidFill>
              </a:rPr>
              <a:t> el 93,7 % de los informes tiene un solo estudio; solo el 6,3 % tiene varios.</a:t>
            </a:r>
            <a:endParaRPr lang="en-US" sz="1100" dirty="0"/>
          </a:p>
        </p:txBody>
      </p:sp>
      <p:sp>
        <p:nvSpPr>
          <p:cNvPr id="25" name="Slide Number Placeholder 0"/>
          <p:cNvSpPr>
            <a:spLocks noGrp="1"/>
          </p:cNvSpPr>
          <p:nvPr>
            <p:ph type="sldNum" sz="quarter" idx="4294967295"/>
          </p:nvPr>
        </p:nvSpPr>
        <p:spPr>
          <a:xfrm>
            <a:off x="8229600" y="4727448"/>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7C8BA1"/>
                </a:solidFill>
                <a:latin typeface="Consolas"/>
                <a:ea typeface="Consolas"/>
                <a:cs typeface="Consolas"/>
              </a:defRPr>
            </a:lvl1pPr>
          </a:lstStyle>
          <a:p>
            <a:pPr algn="r"/>
            <a:fld id="{F7021451-1387-4CA6-816F-3879F97B5CBC}" type="slidenum">
              <a:rPr lang="en-US" b="0"/>
              <a:t>21</a:t>
            </a:fld>
            <a:endParaRPr lang="en-US"/>
          </a:p>
        </p:txBody>
      </p:sp>
      <p:pic>
        <p:nvPicPr>
          <p:cNvPr id="9" name="Imagen 8"/>
          <p:cNvPicPr/>
          <p:nvPr/>
        </p:nvPicPr>
        <p:blipFill>
          <a:blip r:embed="rId3"/>
          <a:stretch>
            <a:fillRect/>
          </a:stretch>
        </p:blipFill>
        <p:spPr>
          <a:xfrm>
            <a:off x="454312" y="1463040"/>
            <a:ext cx="5400040" cy="2482659"/>
          </a:xfrm>
          <a:prstGeom prst="rect">
            <a:avLst/>
          </a:prstGeom>
        </p:spPr>
      </p:pic>
      <p:pic>
        <p:nvPicPr>
          <p:cNvPr id="8" name="Imagen 7"/>
          <p:cNvPicPr>
            <a:picLocks noChangeAspect="1"/>
          </p:cNvPicPr>
          <p:nvPr/>
        </p:nvPicPr>
        <p:blipFill>
          <a:blip r:embed="rId4"/>
          <a:stretch>
            <a:fillRect/>
          </a:stretch>
        </p:blipFill>
        <p:spPr>
          <a:xfrm>
            <a:off x="2980651" y="2273809"/>
            <a:ext cx="2863665" cy="1635351"/>
          </a:xfrm>
          <a:prstGeom prst="rect">
            <a:avLst/>
          </a:prstGeom>
        </p:spPr>
      </p:pic>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9"/>
          <p:cNvSpPr>
            <a:spLocks noGrp="1"/>
          </p:cNvSpPr>
          <p:nvPr>
            <p:ph type="title" idx="109" hasCustomPrompt="1"/>
          </p:nvPr>
        </p:nvSpPr>
        <p:spPr>
          <a:xfrm>
            <a:off x="457200" y="320040"/>
            <a:ext cx="7040880" cy="685800"/>
          </a:xfrm>
          <a:prstGeom prst="rect">
            <a:avLst/>
          </a:prstGeom>
          <a:noFill/>
          <a:ln/>
        </p:spPr>
        <p:txBody>
          <a:bodyPr wrap="square" lIns="0" tIns="0" rIns="0" bIns="0" rtlCol="0" anchor="ctr"/>
          <a:lstStyle/>
          <a:p>
            <a:pPr marL="0" indent="0" algn="l">
              <a:buNone/>
            </a:pPr>
            <a:r>
              <a:rPr lang="en-US" sz="2400" b="1" dirty="0">
                <a:solidFill>
                  <a:srgbClr val="F8FAFC"/>
                </a:solidFill>
              </a:rPr>
              <a:t>Concentración de los estudios (Pareto)</a:t>
            </a:r>
            <a:endParaRPr lang="en-US" sz="2400" dirty="0"/>
          </a:p>
        </p:txBody>
      </p:sp>
      <p:sp>
        <p:nvSpPr>
          <p:cNvPr id="3" name="Text 1"/>
          <p:cNvSpPr txBox="1"/>
          <p:nvPr/>
        </p:nvSpPr>
        <p:spPr>
          <a:xfrm>
            <a:off x="7589520" y="457200"/>
            <a:ext cx="1097280" cy="228600"/>
          </a:xfrm>
          <a:prstGeom prst="rect">
            <a:avLst/>
          </a:prstGeom>
          <a:noFill/>
          <a:ln/>
        </p:spPr>
        <p:txBody>
          <a:bodyPr wrap="square" lIns="0" tIns="0" rIns="0" bIns="0" rtlCol="0" anchor="ctr"/>
          <a:lstStyle/>
          <a:p>
            <a:pPr marL="0" indent="0" algn="r">
              <a:buNone/>
            </a:pPr>
            <a:r>
              <a:rPr lang="en-US" sz="1000" dirty="0">
                <a:solidFill>
                  <a:srgbClr val="22D3EE"/>
                </a:solidFill>
                <a:latin typeface="Consolas" pitchFamily="34" charset="0"/>
                <a:ea typeface="Consolas" pitchFamily="34" charset="-122"/>
                <a:cs typeface="Consolas" pitchFamily="34" charset="-120"/>
              </a:rPr>
              <a:t>FIG. 08</a:t>
            </a:r>
            <a:endParaRPr lang="en-US" sz="1000" dirty="0"/>
          </a:p>
        </p:txBody>
      </p:sp>
      <p:sp>
        <p:nvSpPr>
          <p:cNvPr id="4" name="Marco figura"/>
          <p:cNvSpPr/>
          <p:nvPr/>
        </p:nvSpPr>
        <p:spPr>
          <a:xfrm>
            <a:off x="542791" y="1051560"/>
            <a:ext cx="8058418" cy="2912334"/>
          </a:xfrm>
          <a:prstGeom prst="rect">
            <a:avLst/>
          </a:prstGeom>
          <a:solidFill>
            <a:srgbClr val="0F1720"/>
          </a:solidFill>
          <a:ln w="12700">
            <a:solidFill>
              <a:srgbClr val="1F2D3A"/>
            </a:solidFill>
            <a:prstDash val="solid"/>
          </a:ln>
        </p:spPr>
      </p:sp>
      <p:sp>
        <p:nvSpPr>
          <p:cNvPr id="6" name="Text 3"/>
          <p:cNvSpPr txBox="1"/>
          <p:nvPr/>
        </p:nvSpPr>
        <p:spPr>
          <a:xfrm>
            <a:off x="457200" y="3963894"/>
            <a:ext cx="1828800" cy="228600"/>
          </a:xfrm>
          <a:prstGeom prst="rect">
            <a:avLst/>
          </a:prstGeom>
          <a:noFill/>
          <a:ln/>
        </p:spPr>
        <p:txBody>
          <a:bodyPr wrap="square" lIns="0" tIns="0" rIns="0" bIns="0" rtlCol="0" anchor="ctr"/>
          <a:lstStyle/>
          <a:p>
            <a:pPr marL="0" indent="0" algn="l">
              <a:buNone/>
            </a:pPr>
            <a:r>
              <a:rPr lang="en-US" sz="1000" dirty="0">
                <a:solidFill>
                  <a:srgbClr val="22D3EE"/>
                </a:solidFill>
                <a:latin typeface="Consolas" pitchFamily="34" charset="0"/>
                <a:ea typeface="Consolas" pitchFamily="34" charset="-122"/>
                <a:cs typeface="Consolas" pitchFamily="34" charset="-120"/>
              </a:rPr>
              <a:t>LECTURA</a:t>
            </a:r>
            <a:endParaRPr lang="en-US" sz="1000" dirty="0"/>
          </a:p>
        </p:txBody>
      </p:sp>
      <p:sp>
        <p:nvSpPr>
          <p:cNvPr id="7" name="Text 4"/>
          <p:cNvSpPr txBox="1"/>
          <p:nvPr/>
        </p:nvSpPr>
        <p:spPr>
          <a:xfrm>
            <a:off x="457200" y="4224185"/>
            <a:ext cx="8229600" cy="447417"/>
          </a:xfrm>
          <a:prstGeom prst="rect">
            <a:avLst/>
          </a:prstGeom>
          <a:noFill/>
          <a:ln/>
        </p:spPr>
        <p:txBody>
          <a:bodyPr wrap="square" lIns="0" tIns="0" rIns="0" bIns="0" rtlCol="0" anchor="t"/>
          <a:lstStyle/>
          <a:p>
            <a:pPr marL="152400" indent="-152400">
              <a:spcAft>
                <a:spcPts val="300"/>
              </a:spcAft>
              <a:buSzPct val="100000"/>
              <a:buChar char="•"/>
            </a:pPr>
            <a:r>
              <a:rPr lang="en-US" sz="1100" b="1" dirty="0" err="1">
                <a:solidFill>
                  <a:srgbClr val="F8FAFC"/>
                </a:solidFill>
              </a:rPr>
              <a:t>Concentración</a:t>
            </a:r>
            <a:r>
              <a:rPr lang="en-US" sz="1100" b="1" dirty="0">
                <a:solidFill>
                  <a:srgbClr val="F8FAFC"/>
                </a:solidFill>
              </a:rPr>
              <a:t> </a:t>
            </a:r>
            <a:r>
              <a:rPr lang="en-US" sz="1100" b="1" dirty="0" smtClean="0">
                <a:solidFill>
                  <a:srgbClr val="F8FAFC"/>
                </a:solidFill>
              </a:rPr>
              <a:t>:</a:t>
            </a:r>
            <a:r>
              <a:rPr lang="en-US" sz="1100" dirty="0" smtClean="0">
                <a:solidFill>
                  <a:srgbClr val="CBD5E1"/>
                </a:solidFill>
              </a:rPr>
              <a:t> </a:t>
            </a:r>
            <a:r>
              <a:rPr lang="en-US" sz="1100" dirty="0">
                <a:solidFill>
                  <a:srgbClr val="CBD5E1"/>
                </a:solidFill>
              </a:rPr>
              <a:t>L</a:t>
            </a:r>
            <a:r>
              <a:rPr lang="en-US" sz="1100" dirty="0" smtClean="0">
                <a:solidFill>
                  <a:srgbClr val="CBD5E1"/>
                </a:solidFill>
              </a:rPr>
              <a:t>os 18 </a:t>
            </a:r>
            <a:r>
              <a:rPr lang="en-US" sz="1100" dirty="0" err="1" smtClean="0">
                <a:solidFill>
                  <a:srgbClr val="CBD5E1"/>
                </a:solidFill>
              </a:rPr>
              <a:t>primeros</a:t>
            </a:r>
            <a:r>
              <a:rPr lang="en-US" sz="1100" dirty="0" smtClean="0">
                <a:solidFill>
                  <a:srgbClr val="CBD5E1"/>
                </a:solidFill>
              </a:rPr>
              <a:t> </a:t>
            </a:r>
            <a:r>
              <a:rPr lang="en-US" sz="1100" dirty="0" err="1" smtClean="0">
                <a:solidFill>
                  <a:srgbClr val="CBD5E1"/>
                </a:solidFill>
              </a:rPr>
              <a:t>estudios</a:t>
            </a:r>
            <a:r>
              <a:rPr lang="en-US" sz="1100" dirty="0" smtClean="0">
                <a:solidFill>
                  <a:srgbClr val="CBD5E1"/>
                </a:solidFill>
              </a:rPr>
              <a:t> </a:t>
            </a:r>
            <a:r>
              <a:rPr lang="en-US" sz="1100" dirty="0" err="1" smtClean="0">
                <a:solidFill>
                  <a:srgbClr val="CBD5E1"/>
                </a:solidFill>
              </a:rPr>
              <a:t>concentran</a:t>
            </a:r>
            <a:r>
              <a:rPr lang="en-US" sz="1100" dirty="0" smtClean="0">
                <a:solidFill>
                  <a:srgbClr val="CBD5E1"/>
                </a:solidFill>
              </a:rPr>
              <a:t> </a:t>
            </a:r>
            <a:r>
              <a:rPr lang="en-US" sz="1100" dirty="0" err="1" smtClean="0">
                <a:solidFill>
                  <a:srgbClr val="CBD5E1"/>
                </a:solidFill>
              </a:rPr>
              <a:t>casi</a:t>
            </a:r>
            <a:r>
              <a:rPr lang="en-US" sz="1100" dirty="0" smtClean="0">
                <a:solidFill>
                  <a:srgbClr val="CBD5E1"/>
                </a:solidFill>
              </a:rPr>
              <a:t> el </a:t>
            </a:r>
            <a:r>
              <a:rPr lang="en-US" sz="1100" dirty="0" smtClean="0">
                <a:solidFill>
                  <a:srgbClr val="CBD5E1"/>
                </a:solidFill>
              </a:rPr>
              <a:t>80</a:t>
            </a:r>
            <a:r>
              <a:rPr lang="en-US" sz="1100" dirty="0" smtClean="0">
                <a:solidFill>
                  <a:srgbClr val="CBD5E1"/>
                </a:solidFill>
              </a:rPr>
              <a:t> </a:t>
            </a:r>
            <a:r>
              <a:rPr lang="en-US" sz="1100" dirty="0">
                <a:solidFill>
                  <a:srgbClr val="CBD5E1"/>
                </a:solidFill>
              </a:rPr>
              <a:t>% </a:t>
            </a:r>
            <a:r>
              <a:rPr lang="en-US" sz="1100" dirty="0" smtClean="0">
                <a:solidFill>
                  <a:srgbClr val="CBD5E1"/>
                </a:solidFill>
              </a:rPr>
              <a:t>.</a:t>
            </a:r>
            <a:endParaRPr lang="en-US" sz="1100" dirty="0"/>
          </a:p>
        </p:txBody>
      </p:sp>
      <p:sp>
        <p:nvSpPr>
          <p:cNvPr id="25" name="Slide Number Placeholder 0"/>
          <p:cNvSpPr>
            <a:spLocks noGrp="1"/>
          </p:cNvSpPr>
          <p:nvPr>
            <p:ph type="sldNum" sz="quarter" idx="4294967295"/>
          </p:nvPr>
        </p:nvSpPr>
        <p:spPr>
          <a:xfrm>
            <a:off x="8229600" y="4727448"/>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7C8BA1"/>
                </a:solidFill>
                <a:latin typeface="Consolas"/>
                <a:ea typeface="Consolas"/>
                <a:cs typeface="Consolas"/>
              </a:defRPr>
            </a:lvl1pPr>
          </a:lstStyle>
          <a:p>
            <a:pPr algn="r"/>
            <a:fld id="{F7021451-1387-4CA6-816F-3879F97B5CBC}" type="slidenum">
              <a:rPr lang="en-US" b="0"/>
              <a:t>22</a:t>
            </a:fld>
            <a:endParaRPr lang="en-US"/>
          </a:p>
        </p:txBody>
      </p:sp>
      <p:pic>
        <p:nvPicPr>
          <p:cNvPr id="9" name="Imagen 8"/>
          <p:cNvPicPr/>
          <p:nvPr/>
        </p:nvPicPr>
        <p:blipFill>
          <a:blip r:embed="rId3"/>
          <a:stretch>
            <a:fillRect/>
          </a:stretch>
        </p:blipFill>
        <p:spPr>
          <a:xfrm>
            <a:off x="620485" y="1118832"/>
            <a:ext cx="7911194" cy="2726658"/>
          </a:xfrm>
          <a:prstGeom prst="rect">
            <a:avLst/>
          </a:prstGeom>
        </p:spPr>
      </p:pic>
    </p:spTree>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9"/>
          <p:cNvSpPr>
            <a:spLocks noGrp="1"/>
          </p:cNvSpPr>
          <p:nvPr>
            <p:ph type="title" idx="109" hasCustomPrompt="1"/>
          </p:nvPr>
        </p:nvSpPr>
        <p:spPr>
          <a:xfrm>
            <a:off x="457200" y="320040"/>
            <a:ext cx="7040880" cy="685800"/>
          </a:xfrm>
          <a:prstGeom prst="rect">
            <a:avLst/>
          </a:prstGeom>
          <a:noFill/>
          <a:ln/>
        </p:spPr>
        <p:txBody>
          <a:bodyPr wrap="square" lIns="0" tIns="0" rIns="0" bIns="0" rtlCol="0" anchor="ctr"/>
          <a:lstStyle/>
          <a:p>
            <a:pPr marL="0" indent="0" algn="l">
              <a:buNone/>
            </a:pPr>
            <a:r>
              <a:rPr lang="en-US" sz="2400" b="1" dirty="0">
                <a:solidFill>
                  <a:srgbClr val="F8FAFC"/>
                </a:solidFill>
              </a:rPr>
              <a:t>Hallazgos y conclusiones más frecuentes</a:t>
            </a:r>
            <a:endParaRPr lang="en-US" sz="2400" dirty="0"/>
          </a:p>
        </p:txBody>
      </p:sp>
      <p:sp>
        <p:nvSpPr>
          <p:cNvPr id="3" name="Text 1"/>
          <p:cNvSpPr txBox="1"/>
          <p:nvPr/>
        </p:nvSpPr>
        <p:spPr>
          <a:xfrm>
            <a:off x="7589520" y="457200"/>
            <a:ext cx="1097280" cy="228600"/>
          </a:xfrm>
          <a:prstGeom prst="rect">
            <a:avLst/>
          </a:prstGeom>
          <a:noFill/>
          <a:ln/>
        </p:spPr>
        <p:txBody>
          <a:bodyPr wrap="square" lIns="0" tIns="0" rIns="0" bIns="0" rtlCol="0" anchor="ctr"/>
          <a:lstStyle/>
          <a:p>
            <a:pPr marL="0" indent="0" algn="r">
              <a:buNone/>
            </a:pPr>
            <a:r>
              <a:rPr lang="en-US" sz="1000" dirty="0">
                <a:solidFill>
                  <a:srgbClr val="22D3EE"/>
                </a:solidFill>
                <a:latin typeface="Consolas" pitchFamily="34" charset="0"/>
                <a:ea typeface="Consolas" pitchFamily="34" charset="-122"/>
                <a:cs typeface="Consolas" pitchFamily="34" charset="-120"/>
              </a:rPr>
              <a:t>FIG. 09</a:t>
            </a:r>
            <a:endParaRPr lang="en-US" sz="1000" dirty="0"/>
          </a:p>
        </p:txBody>
      </p:sp>
      <p:sp>
        <p:nvSpPr>
          <p:cNvPr id="4" name="Marco figura"/>
          <p:cNvSpPr/>
          <p:nvPr/>
        </p:nvSpPr>
        <p:spPr>
          <a:xfrm>
            <a:off x="541083" y="1051560"/>
            <a:ext cx="8061834" cy="2514600"/>
          </a:xfrm>
          <a:prstGeom prst="rect">
            <a:avLst/>
          </a:prstGeom>
          <a:solidFill>
            <a:srgbClr val="0F1720"/>
          </a:solidFill>
          <a:ln w="12700">
            <a:solidFill>
              <a:srgbClr val="1F2D3A"/>
            </a:solidFill>
            <a:prstDash val="solid"/>
          </a:ln>
        </p:spPr>
      </p:sp>
      <p:sp>
        <p:nvSpPr>
          <p:cNvPr id="6" name="Text 3"/>
          <p:cNvSpPr txBox="1"/>
          <p:nvPr/>
        </p:nvSpPr>
        <p:spPr>
          <a:xfrm>
            <a:off x="457200" y="3630168"/>
            <a:ext cx="1828800" cy="228600"/>
          </a:xfrm>
          <a:prstGeom prst="rect">
            <a:avLst/>
          </a:prstGeom>
          <a:noFill/>
          <a:ln/>
        </p:spPr>
        <p:txBody>
          <a:bodyPr wrap="square" lIns="0" tIns="0" rIns="0" bIns="0" rtlCol="0" anchor="ctr"/>
          <a:lstStyle/>
          <a:p>
            <a:pPr marL="0" indent="0" algn="l">
              <a:buNone/>
            </a:pPr>
            <a:r>
              <a:rPr lang="en-US" sz="1000" dirty="0">
                <a:solidFill>
                  <a:srgbClr val="22D3EE"/>
                </a:solidFill>
                <a:latin typeface="Consolas" pitchFamily="34" charset="0"/>
                <a:ea typeface="Consolas" pitchFamily="34" charset="-122"/>
                <a:cs typeface="Consolas" pitchFamily="34" charset="-120"/>
              </a:rPr>
              <a:t>LECTURA</a:t>
            </a:r>
            <a:endParaRPr lang="en-US" sz="1000" dirty="0"/>
          </a:p>
        </p:txBody>
      </p:sp>
      <p:sp>
        <p:nvSpPr>
          <p:cNvPr id="7" name="Text 4"/>
          <p:cNvSpPr txBox="1"/>
          <p:nvPr/>
        </p:nvSpPr>
        <p:spPr>
          <a:xfrm>
            <a:off x="457200" y="3867912"/>
            <a:ext cx="8229600" cy="795528"/>
          </a:xfrm>
          <a:prstGeom prst="rect">
            <a:avLst/>
          </a:prstGeom>
          <a:noFill/>
          <a:ln/>
        </p:spPr>
        <p:txBody>
          <a:bodyPr wrap="square" lIns="0" tIns="0" rIns="0" bIns="0" rtlCol="0" anchor="t"/>
          <a:lstStyle/>
          <a:p>
            <a:pPr marL="152400" indent="-152400">
              <a:spcAft>
                <a:spcPts val="300"/>
              </a:spcAft>
              <a:buSzPct val="100000"/>
              <a:buChar char="•"/>
            </a:pPr>
            <a:r>
              <a:rPr lang="en-US" sz="1100" b="1" dirty="0">
                <a:solidFill>
                  <a:srgbClr val="F8FAFC"/>
                </a:solidFill>
              </a:rPr>
              <a:t>Hallazgos:</a:t>
            </a:r>
            <a:r>
              <a:rPr lang="en-US" sz="1100" dirty="0">
                <a:solidFill>
                  <a:srgbClr val="CBD5E1"/>
                </a:solidFill>
              </a:rPr>
              <a:t> </a:t>
            </a:r>
            <a:r>
              <a:rPr lang="en-US" sz="1100" dirty="0" smtClean="0">
                <a:solidFill>
                  <a:srgbClr val="CBD5E1"/>
                </a:solidFill>
              </a:rPr>
              <a:t>Los mas </a:t>
            </a:r>
            <a:r>
              <a:rPr lang="en-US" sz="1100" dirty="0" err="1" smtClean="0">
                <a:solidFill>
                  <a:srgbClr val="CBD5E1"/>
                </a:solidFill>
              </a:rPr>
              <a:t>freecuentes</a:t>
            </a:r>
            <a:r>
              <a:rPr lang="en-US" sz="1100" dirty="0" smtClean="0">
                <a:solidFill>
                  <a:srgbClr val="CBD5E1"/>
                </a:solidFill>
              </a:rPr>
              <a:t> son: No hay </a:t>
            </a:r>
            <a:r>
              <a:rPr lang="en-US" sz="1100" dirty="0" err="1" smtClean="0">
                <a:solidFill>
                  <a:srgbClr val="CBD5E1"/>
                </a:solidFill>
              </a:rPr>
              <a:t>alteración</a:t>
            </a:r>
            <a:r>
              <a:rPr lang="en-US" sz="1100" dirty="0" smtClean="0">
                <a:solidFill>
                  <a:srgbClr val="CBD5E1"/>
                </a:solidFill>
              </a:rPr>
              <a:t> de las </a:t>
            </a:r>
            <a:r>
              <a:rPr lang="en-US" sz="1100" dirty="0" err="1" smtClean="0">
                <a:solidFill>
                  <a:srgbClr val="CBD5E1"/>
                </a:solidFill>
              </a:rPr>
              <a:t>partes</a:t>
            </a:r>
            <a:r>
              <a:rPr lang="en-US" sz="1100" dirty="0" smtClean="0">
                <a:solidFill>
                  <a:srgbClr val="CBD5E1"/>
                </a:solidFill>
              </a:rPr>
              <a:t> </a:t>
            </a:r>
            <a:r>
              <a:rPr lang="en-US" sz="1100" dirty="0" err="1" smtClean="0">
                <a:solidFill>
                  <a:srgbClr val="CBD5E1"/>
                </a:solidFill>
              </a:rPr>
              <a:t>Blandas</a:t>
            </a:r>
            <a:r>
              <a:rPr lang="en-US" sz="1100" dirty="0" smtClean="0">
                <a:solidFill>
                  <a:srgbClr val="CBD5E1"/>
                </a:solidFill>
              </a:rPr>
              <a:t>(8.2%), </a:t>
            </a:r>
            <a:r>
              <a:rPr lang="en-US" sz="1100" dirty="0" err="1" smtClean="0">
                <a:solidFill>
                  <a:srgbClr val="CBD5E1"/>
                </a:solidFill>
              </a:rPr>
              <a:t>Densidad</a:t>
            </a:r>
            <a:r>
              <a:rPr lang="en-US" sz="1100" dirty="0" smtClean="0">
                <a:solidFill>
                  <a:srgbClr val="CBD5E1"/>
                </a:solidFill>
              </a:rPr>
              <a:t> </a:t>
            </a:r>
            <a:r>
              <a:rPr lang="en-US" sz="1100" dirty="0" err="1">
                <a:solidFill>
                  <a:srgbClr val="CBD5E1"/>
                </a:solidFill>
              </a:rPr>
              <a:t>ó</a:t>
            </a:r>
            <a:r>
              <a:rPr lang="en-US" sz="1100" dirty="0" err="1" smtClean="0">
                <a:solidFill>
                  <a:srgbClr val="CBD5E1"/>
                </a:solidFill>
              </a:rPr>
              <a:t>sea</a:t>
            </a:r>
            <a:r>
              <a:rPr lang="en-US" sz="1100" dirty="0" smtClean="0">
                <a:solidFill>
                  <a:srgbClr val="CBD5E1"/>
                </a:solidFill>
              </a:rPr>
              <a:t> </a:t>
            </a:r>
            <a:r>
              <a:rPr lang="en-US" sz="1100" dirty="0" err="1" smtClean="0">
                <a:solidFill>
                  <a:srgbClr val="CBD5E1"/>
                </a:solidFill>
              </a:rPr>
              <a:t>conservada</a:t>
            </a:r>
            <a:r>
              <a:rPr lang="en-US" sz="1100" dirty="0" smtClean="0">
                <a:solidFill>
                  <a:srgbClr val="CBD5E1"/>
                </a:solidFill>
              </a:rPr>
              <a:t>(7.8%).</a:t>
            </a:r>
            <a:endParaRPr lang="en-US" sz="1100" dirty="0"/>
          </a:p>
          <a:p>
            <a:pPr marL="152400" indent="-152400">
              <a:spcAft>
                <a:spcPts val="300"/>
              </a:spcAft>
              <a:buSzPct val="100000"/>
              <a:buChar char="•"/>
            </a:pPr>
            <a:r>
              <a:rPr lang="en-US" sz="1100" b="1" dirty="0">
                <a:solidFill>
                  <a:srgbClr val="F8FAFC"/>
                </a:solidFill>
              </a:rPr>
              <a:t>Conclusiones:</a:t>
            </a:r>
            <a:r>
              <a:rPr lang="en-US" sz="1100" dirty="0">
                <a:solidFill>
                  <a:srgbClr val="CBD5E1"/>
                </a:solidFill>
              </a:rPr>
              <a:t> </a:t>
            </a:r>
            <a:r>
              <a:rPr lang="en-US" sz="1100" dirty="0">
                <a:solidFill>
                  <a:srgbClr val="CBD5E1"/>
                </a:solidFill>
              </a:rPr>
              <a:t>N</a:t>
            </a:r>
            <a:r>
              <a:rPr lang="en-US" sz="1100" dirty="0" smtClean="0">
                <a:solidFill>
                  <a:srgbClr val="CBD5E1"/>
                </a:solidFill>
              </a:rPr>
              <a:t>o </a:t>
            </a:r>
            <a:r>
              <a:rPr lang="en-US" sz="1100" dirty="0">
                <a:solidFill>
                  <a:srgbClr val="CBD5E1"/>
                </a:solidFill>
              </a:rPr>
              <a:t>contamos con estudios previos para </a:t>
            </a:r>
            <a:r>
              <a:rPr lang="en-US" sz="1100" dirty="0" err="1" smtClean="0">
                <a:solidFill>
                  <a:srgbClr val="CBD5E1"/>
                </a:solidFill>
              </a:rPr>
              <a:t>comparar</a:t>
            </a:r>
            <a:r>
              <a:rPr lang="en-US" sz="1100" dirty="0" smtClean="0">
                <a:solidFill>
                  <a:srgbClr val="CBD5E1"/>
                </a:solidFill>
              </a:rPr>
              <a:t> </a:t>
            </a:r>
            <a:r>
              <a:rPr lang="en-US" sz="1100" dirty="0">
                <a:solidFill>
                  <a:srgbClr val="CBD5E1"/>
                </a:solidFill>
              </a:rPr>
              <a:t>(</a:t>
            </a:r>
            <a:r>
              <a:rPr lang="en-US" sz="1100" dirty="0" smtClean="0">
                <a:solidFill>
                  <a:srgbClr val="CBD5E1"/>
                </a:solidFill>
              </a:rPr>
              <a:t>≈5,6 </a:t>
            </a:r>
            <a:r>
              <a:rPr lang="en-US" sz="1100" dirty="0">
                <a:solidFill>
                  <a:srgbClr val="CBD5E1"/>
                </a:solidFill>
              </a:rPr>
              <a:t>%), </a:t>
            </a:r>
            <a:r>
              <a:rPr lang="en-US" sz="1100" dirty="0" err="1" smtClean="0">
                <a:solidFill>
                  <a:srgbClr val="CBD5E1"/>
                </a:solidFill>
              </a:rPr>
              <a:t>Calcificaciones</a:t>
            </a:r>
            <a:r>
              <a:rPr lang="en-US" sz="1100" dirty="0" smtClean="0">
                <a:solidFill>
                  <a:srgbClr val="CBD5E1"/>
                </a:solidFill>
              </a:rPr>
              <a:t> </a:t>
            </a:r>
            <a:r>
              <a:rPr lang="en-US" sz="1100" dirty="0" err="1">
                <a:solidFill>
                  <a:srgbClr val="CBD5E1"/>
                </a:solidFill>
              </a:rPr>
              <a:t>benignas</a:t>
            </a:r>
            <a:r>
              <a:rPr lang="en-US" sz="1100" dirty="0">
                <a:solidFill>
                  <a:srgbClr val="CBD5E1"/>
                </a:solidFill>
              </a:rPr>
              <a:t> </a:t>
            </a:r>
            <a:r>
              <a:rPr lang="en-US" sz="1100" dirty="0" smtClean="0">
                <a:solidFill>
                  <a:srgbClr val="CBD5E1"/>
                </a:solidFill>
              </a:rPr>
              <a:t>(</a:t>
            </a:r>
            <a:r>
              <a:rPr lang="en-US" sz="1100" dirty="0">
                <a:solidFill>
                  <a:srgbClr val="CBD5E1"/>
                </a:solidFill>
              </a:rPr>
              <a:t>5</a:t>
            </a:r>
            <a:r>
              <a:rPr lang="en-US" sz="1100" dirty="0" smtClean="0">
                <a:solidFill>
                  <a:srgbClr val="CBD5E1"/>
                </a:solidFill>
              </a:rPr>
              <a:t> </a:t>
            </a:r>
            <a:r>
              <a:rPr lang="en-US" sz="1100" dirty="0">
                <a:solidFill>
                  <a:srgbClr val="CBD5E1"/>
                </a:solidFill>
              </a:rPr>
              <a:t>%) y </a:t>
            </a:r>
            <a:r>
              <a:rPr lang="en-US" sz="1100" dirty="0">
                <a:solidFill>
                  <a:srgbClr val="CBD5E1"/>
                </a:solidFill>
              </a:rPr>
              <a:t>S</a:t>
            </a:r>
            <a:r>
              <a:rPr lang="en-US" sz="1100" dirty="0" smtClean="0">
                <a:solidFill>
                  <a:srgbClr val="CBD5E1"/>
                </a:solidFill>
              </a:rPr>
              <a:t>in </a:t>
            </a:r>
            <a:r>
              <a:rPr lang="en-US" sz="1100" dirty="0">
                <a:solidFill>
                  <a:srgbClr val="CBD5E1"/>
                </a:solidFill>
              </a:rPr>
              <a:t>evidencia de </a:t>
            </a:r>
            <a:r>
              <a:rPr lang="en-US" sz="1100" dirty="0" err="1" smtClean="0">
                <a:solidFill>
                  <a:srgbClr val="CBD5E1"/>
                </a:solidFill>
              </a:rPr>
              <a:t>patología</a:t>
            </a:r>
            <a:r>
              <a:rPr lang="en-US" sz="1100" dirty="0" smtClean="0">
                <a:solidFill>
                  <a:srgbClr val="CBD5E1"/>
                </a:solidFill>
              </a:rPr>
              <a:t> (</a:t>
            </a:r>
            <a:r>
              <a:rPr lang="en-US" sz="1100" dirty="0">
                <a:solidFill>
                  <a:srgbClr val="CBD5E1"/>
                </a:solidFill>
              </a:rPr>
              <a:t>5</a:t>
            </a:r>
            <a:r>
              <a:rPr lang="en-US" sz="1100" dirty="0" smtClean="0">
                <a:solidFill>
                  <a:srgbClr val="CBD5E1"/>
                </a:solidFill>
              </a:rPr>
              <a:t> %). </a:t>
            </a:r>
            <a:r>
              <a:rPr lang="en-US" sz="1100" dirty="0" err="1">
                <a:solidFill>
                  <a:srgbClr val="CBD5E1"/>
                </a:solidFill>
              </a:rPr>
              <a:t>P</a:t>
            </a:r>
            <a:r>
              <a:rPr lang="en-US" sz="1100" dirty="0" err="1" smtClean="0">
                <a:solidFill>
                  <a:srgbClr val="CBD5E1"/>
                </a:solidFill>
              </a:rPr>
              <a:t>redomina</a:t>
            </a:r>
            <a:r>
              <a:rPr lang="en-US" sz="1100" dirty="0" smtClean="0">
                <a:solidFill>
                  <a:srgbClr val="CBD5E1"/>
                </a:solidFill>
              </a:rPr>
              <a:t> </a:t>
            </a:r>
            <a:r>
              <a:rPr lang="en-US" sz="1100" dirty="0">
                <a:solidFill>
                  <a:srgbClr val="CBD5E1"/>
                </a:solidFill>
              </a:rPr>
              <a:t>lo normal o benigno.</a:t>
            </a:r>
            <a:endParaRPr lang="en-US" sz="1100" dirty="0"/>
          </a:p>
        </p:txBody>
      </p:sp>
      <p:sp>
        <p:nvSpPr>
          <p:cNvPr id="25" name="Slide Number Placeholder 0"/>
          <p:cNvSpPr>
            <a:spLocks noGrp="1"/>
          </p:cNvSpPr>
          <p:nvPr>
            <p:ph type="sldNum" sz="quarter" idx="4294967295"/>
          </p:nvPr>
        </p:nvSpPr>
        <p:spPr>
          <a:xfrm>
            <a:off x="8229600" y="4727448"/>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7C8BA1"/>
                </a:solidFill>
                <a:latin typeface="Consolas"/>
                <a:ea typeface="Consolas"/>
                <a:cs typeface="Consolas"/>
              </a:defRPr>
            </a:lvl1pPr>
          </a:lstStyle>
          <a:p>
            <a:pPr algn="r"/>
            <a:fld id="{F7021451-1387-4CA6-816F-3879F97B5CBC}" type="slidenum">
              <a:rPr lang="en-US" b="0"/>
              <a:t>23</a:t>
            </a:fld>
            <a:endParaRPr lang="en-US"/>
          </a:p>
        </p:txBody>
      </p:sp>
      <p:pic>
        <p:nvPicPr>
          <p:cNvPr id="9" name="Imagen 8"/>
          <p:cNvPicPr/>
          <p:nvPr/>
        </p:nvPicPr>
        <p:blipFill>
          <a:blip r:embed="rId3"/>
          <a:stretch>
            <a:fillRect/>
          </a:stretch>
        </p:blipFill>
        <p:spPr>
          <a:xfrm>
            <a:off x="645089" y="1089763"/>
            <a:ext cx="7822505" cy="2417525"/>
          </a:xfrm>
          <a:prstGeom prst="rect">
            <a:avLst/>
          </a:prstGeom>
        </p:spPr>
      </p:pic>
    </p:spTree>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9"/>
          <p:cNvSpPr>
            <a:spLocks noGrp="1"/>
          </p:cNvSpPr>
          <p:nvPr>
            <p:ph type="title" idx="109" hasCustomPrompt="1"/>
          </p:nvPr>
        </p:nvSpPr>
        <p:spPr>
          <a:xfrm>
            <a:off x="457200" y="320040"/>
            <a:ext cx="7040880" cy="685800"/>
          </a:xfrm>
          <a:prstGeom prst="rect">
            <a:avLst/>
          </a:prstGeom>
          <a:noFill/>
          <a:ln/>
        </p:spPr>
        <p:txBody>
          <a:bodyPr wrap="square" lIns="0" tIns="0" rIns="0" bIns="0" rtlCol="0" anchor="ctr"/>
          <a:lstStyle/>
          <a:p>
            <a:pPr marL="0" indent="0" algn="l">
              <a:buNone/>
            </a:pPr>
            <a:r>
              <a:rPr lang="en-US" sz="2400" b="1" dirty="0">
                <a:solidFill>
                  <a:srgbClr val="F8FAFC"/>
                </a:solidFill>
              </a:rPr>
              <a:t>Clasificación clínica por palabras clave</a:t>
            </a:r>
            <a:endParaRPr lang="en-US" sz="2400" dirty="0"/>
          </a:p>
        </p:txBody>
      </p:sp>
      <p:sp>
        <p:nvSpPr>
          <p:cNvPr id="3" name="Text 1"/>
          <p:cNvSpPr txBox="1"/>
          <p:nvPr/>
        </p:nvSpPr>
        <p:spPr>
          <a:xfrm>
            <a:off x="7589520" y="457200"/>
            <a:ext cx="1097280" cy="228600"/>
          </a:xfrm>
          <a:prstGeom prst="rect">
            <a:avLst/>
          </a:prstGeom>
          <a:noFill/>
          <a:ln/>
        </p:spPr>
        <p:txBody>
          <a:bodyPr wrap="square" lIns="0" tIns="0" rIns="0" bIns="0" rtlCol="0" anchor="ctr"/>
          <a:lstStyle/>
          <a:p>
            <a:pPr marL="0" indent="0" algn="r">
              <a:buNone/>
            </a:pPr>
            <a:r>
              <a:rPr lang="en-US" sz="1000" dirty="0">
                <a:solidFill>
                  <a:srgbClr val="22D3EE"/>
                </a:solidFill>
                <a:latin typeface="Consolas" pitchFamily="34" charset="0"/>
                <a:ea typeface="Consolas" pitchFamily="34" charset="-122"/>
                <a:cs typeface="Consolas" pitchFamily="34" charset="-120"/>
              </a:rPr>
              <a:t>FIG. 10</a:t>
            </a:r>
            <a:endParaRPr lang="en-US" sz="1000" dirty="0"/>
          </a:p>
        </p:txBody>
      </p:sp>
      <p:sp>
        <p:nvSpPr>
          <p:cNvPr id="4" name="Marco figura"/>
          <p:cNvSpPr/>
          <p:nvPr/>
        </p:nvSpPr>
        <p:spPr>
          <a:xfrm>
            <a:off x="411480" y="1438547"/>
            <a:ext cx="5303520" cy="2883626"/>
          </a:xfrm>
          <a:prstGeom prst="rect">
            <a:avLst/>
          </a:prstGeom>
          <a:solidFill>
            <a:srgbClr val="0F1720"/>
          </a:solidFill>
          <a:ln w="12700">
            <a:solidFill>
              <a:srgbClr val="1F2D3A"/>
            </a:solidFill>
            <a:prstDash val="solid"/>
          </a:ln>
        </p:spPr>
      </p:sp>
      <p:sp>
        <p:nvSpPr>
          <p:cNvPr id="6" name="Text 3"/>
          <p:cNvSpPr txBox="1"/>
          <p:nvPr/>
        </p:nvSpPr>
        <p:spPr>
          <a:xfrm>
            <a:off x="5943600" y="1188720"/>
            <a:ext cx="1828800" cy="228600"/>
          </a:xfrm>
          <a:prstGeom prst="rect">
            <a:avLst/>
          </a:prstGeom>
          <a:noFill/>
          <a:ln/>
        </p:spPr>
        <p:txBody>
          <a:bodyPr wrap="square" lIns="0" tIns="0" rIns="0" bIns="0" rtlCol="0" anchor="ctr"/>
          <a:lstStyle/>
          <a:p>
            <a:pPr marL="0" indent="0" algn="l">
              <a:buNone/>
            </a:pPr>
            <a:r>
              <a:rPr lang="en-US" sz="1000" dirty="0">
                <a:solidFill>
                  <a:srgbClr val="22D3EE"/>
                </a:solidFill>
                <a:latin typeface="Consolas" pitchFamily="34" charset="0"/>
                <a:ea typeface="Consolas" pitchFamily="34" charset="-122"/>
                <a:cs typeface="Consolas" pitchFamily="34" charset="-120"/>
              </a:rPr>
              <a:t>LECTURA</a:t>
            </a:r>
            <a:endParaRPr lang="en-US" sz="1000" dirty="0"/>
          </a:p>
        </p:txBody>
      </p:sp>
      <p:sp>
        <p:nvSpPr>
          <p:cNvPr id="7" name="Text 4"/>
          <p:cNvSpPr txBox="1"/>
          <p:nvPr/>
        </p:nvSpPr>
        <p:spPr>
          <a:xfrm>
            <a:off x="5943600" y="1463040"/>
            <a:ext cx="2743200" cy="3200400"/>
          </a:xfrm>
          <a:prstGeom prst="rect">
            <a:avLst/>
          </a:prstGeom>
          <a:noFill/>
          <a:ln/>
        </p:spPr>
        <p:txBody>
          <a:bodyPr wrap="square" lIns="0" tIns="0" rIns="0" bIns="0" rtlCol="0" anchor="t"/>
          <a:lstStyle/>
          <a:p>
            <a:pPr marL="152400" indent="-152400">
              <a:spcAft>
                <a:spcPts val="600"/>
              </a:spcAft>
              <a:buSzPct val="100000"/>
              <a:buChar char="•"/>
            </a:pPr>
            <a:r>
              <a:rPr lang="en-US" sz="1100" b="1" dirty="0">
                <a:solidFill>
                  <a:srgbClr val="F8FAFC"/>
                </a:solidFill>
              </a:rPr>
              <a:t>Resultado:</a:t>
            </a:r>
            <a:r>
              <a:rPr lang="en-US" sz="1100" dirty="0">
                <a:solidFill>
                  <a:srgbClr val="CBD5E1"/>
                </a:solidFill>
              </a:rPr>
              <a:t> </a:t>
            </a:r>
            <a:r>
              <a:rPr lang="en-US" sz="1100" dirty="0" smtClean="0">
                <a:solidFill>
                  <a:srgbClr val="CBD5E1"/>
                </a:solidFill>
              </a:rPr>
              <a:t>18,1</a:t>
            </a:r>
            <a:r>
              <a:rPr lang="en-US" sz="1100" dirty="0" smtClean="0">
                <a:solidFill>
                  <a:srgbClr val="CBD5E1"/>
                </a:solidFill>
              </a:rPr>
              <a:t> </a:t>
            </a:r>
            <a:r>
              <a:rPr lang="en-US" sz="1100" dirty="0">
                <a:solidFill>
                  <a:srgbClr val="CBD5E1"/>
                </a:solidFill>
              </a:rPr>
              <a:t>% RELEVANTE (</a:t>
            </a:r>
            <a:r>
              <a:rPr lang="en-US" sz="1100" dirty="0" smtClean="0">
                <a:solidFill>
                  <a:srgbClr val="CBD5E1"/>
                </a:solidFill>
              </a:rPr>
              <a:t>18.035 </a:t>
            </a:r>
            <a:r>
              <a:rPr lang="en-US" sz="1100" dirty="0">
                <a:solidFill>
                  <a:srgbClr val="CBD5E1"/>
                </a:solidFill>
              </a:rPr>
              <a:t>estudios), </a:t>
            </a:r>
            <a:r>
              <a:rPr lang="en-US" sz="1100" dirty="0" smtClean="0">
                <a:solidFill>
                  <a:srgbClr val="CBD5E1"/>
                </a:solidFill>
              </a:rPr>
              <a:t>24,3 </a:t>
            </a:r>
            <a:r>
              <a:rPr lang="en-US" sz="1100" dirty="0">
                <a:solidFill>
                  <a:srgbClr val="CBD5E1"/>
                </a:solidFill>
              </a:rPr>
              <a:t>% NORMAL, </a:t>
            </a:r>
            <a:r>
              <a:rPr lang="en-US" sz="1100" dirty="0" smtClean="0">
                <a:solidFill>
                  <a:srgbClr val="CBD5E1"/>
                </a:solidFill>
              </a:rPr>
              <a:t>53,6 </a:t>
            </a:r>
            <a:r>
              <a:rPr lang="en-US" sz="1100" dirty="0">
                <a:solidFill>
                  <a:srgbClr val="CBD5E1"/>
                </a:solidFill>
              </a:rPr>
              <a:t>% OTROS HALLAZGOS y 4,0 % SIN CONCLUSIÓN.</a:t>
            </a:r>
            <a:endParaRPr lang="en-US" sz="1100" dirty="0"/>
          </a:p>
          <a:p>
            <a:pPr marL="152400" indent="-152400">
              <a:spcAft>
                <a:spcPts val="600"/>
              </a:spcAft>
              <a:buSzPct val="100000"/>
              <a:buChar char="•"/>
            </a:pPr>
            <a:r>
              <a:rPr lang="en-US" sz="1100" b="1" dirty="0">
                <a:solidFill>
                  <a:srgbClr val="F8FAFC"/>
                </a:solidFill>
              </a:rPr>
              <a:t>Criterio:</a:t>
            </a:r>
            <a:r>
              <a:rPr lang="en-US" sz="1100" dirty="0">
                <a:solidFill>
                  <a:srgbClr val="CBD5E1"/>
                </a:solidFill>
              </a:rPr>
              <a:t> 22 términos relevantes (hemorragia, fractura, tumor, derrame…) y 8 indicadores de normalidad, ignorando negaciones.</a:t>
            </a:r>
            <a:endParaRPr lang="en-US" sz="1100" dirty="0"/>
          </a:p>
          <a:p>
            <a:pPr marL="152400" indent="-152400">
              <a:spcAft>
                <a:spcPts val="600"/>
              </a:spcAft>
              <a:buSzPct val="100000"/>
              <a:buChar char="•"/>
            </a:pPr>
            <a:r>
              <a:rPr lang="en-US" sz="1100" b="1" dirty="0">
                <a:solidFill>
                  <a:srgbClr val="F8FAFC"/>
                </a:solidFill>
              </a:rPr>
              <a:t>Lectura:</a:t>
            </a:r>
            <a:r>
              <a:rPr lang="en-US" sz="1100" dirty="0">
                <a:solidFill>
                  <a:srgbClr val="CBD5E1"/>
                </a:solidFill>
              </a:rPr>
              <a:t> más de la mitad no encaja en ninguna lista; es una heurística, no un diagnóstico.</a:t>
            </a:r>
            <a:endParaRPr lang="en-US" sz="1100" dirty="0"/>
          </a:p>
        </p:txBody>
      </p:sp>
      <p:sp>
        <p:nvSpPr>
          <p:cNvPr id="25" name="Slide Number Placeholder 0"/>
          <p:cNvSpPr>
            <a:spLocks noGrp="1"/>
          </p:cNvSpPr>
          <p:nvPr>
            <p:ph type="sldNum" sz="quarter" idx="4294967295"/>
          </p:nvPr>
        </p:nvSpPr>
        <p:spPr>
          <a:xfrm>
            <a:off x="8229600" y="4727448"/>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7C8BA1"/>
                </a:solidFill>
                <a:latin typeface="Consolas"/>
                <a:ea typeface="Consolas"/>
                <a:cs typeface="Consolas"/>
              </a:defRPr>
            </a:lvl1pPr>
          </a:lstStyle>
          <a:p>
            <a:pPr algn="r"/>
            <a:fld id="{F7021451-1387-4CA6-816F-3879F97B5CBC}" type="slidenum">
              <a:rPr lang="en-US" b="0"/>
              <a:t>24</a:t>
            </a:fld>
            <a:endParaRPr lang="en-US"/>
          </a:p>
        </p:txBody>
      </p:sp>
      <p:pic>
        <p:nvPicPr>
          <p:cNvPr id="9" name="Imagen 8"/>
          <p:cNvPicPr/>
          <p:nvPr/>
        </p:nvPicPr>
        <p:blipFill>
          <a:blip r:embed="rId3"/>
          <a:stretch>
            <a:fillRect/>
          </a:stretch>
        </p:blipFill>
        <p:spPr>
          <a:xfrm>
            <a:off x="429260" y="1463040"/>
            <a:ext cx="5400040" cy="2867660"/>
          </a:xfrm>
          <a:prstGeom prst="rect">
            <a:avLst/>
          </a:prstGeom>
        </p:spPr>
      </p:pic>
    </p:spTree>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9"/>
          <p:cNvSpPr>
            <a:spLocks noGrp="1"/>
          </p:cNvSpPr>
          <p:nvPr>
            <p:ph type="title" idx="109" hasCustomPrompt="1"/>
          </p:nvPr>
        </p:nvSpPr>
        <p:spPr>
          <a:xfrm>
            <a:off x="457200" y="320040"/>
            <a:ext cx="7040880" cy="685800"/>
          </a:xfrm>
          <a:prstGeom prst="rect">
            <a:avLst/>
          </a:prstGeom>
          <a:noFill/>
          <a:ln/>
        </p:spPr>
        <p:txBody>
          <a:bodyPr wrap="square" lIns="0" tIns="0" rIns="0" bIns="0" rtlCol="0" anchor="ctr"/>
          <a:lstStyle/>
          <a:p>
            <a:pPr marL="0" indent="0" algn="l">
              <a:buNone/>
            </a:pPr>
            <a:r>
              <a:rPr lang="en-US" sz="2400" b="1" dirty="0">
                <a:solidFill>
                  <a:srgbClr val="F8FAFC"/>
                </a:solidFill>
              </a:rPr>
              <a:t>Clasificación según el tipo de estudio</a:t>
            </a:r>
            <a:endParaRPr lang="en-US" sz="2400" dirty="0"/>
          </a:p>
        </p:txBody>
      </p:sp>
      <p:sp>
        <p:nvSpPr>
          <p:cNvPr id="3" name="Text 1"/>
          <p:cNvSpPr txBox="1"/>
          <p:nvPr/>
        </p:nvSpPr>
        <p:spPr>
          <a:xfrm>
            <a:off x="7589520" y="457200"/>
            <a:ext cx="1097280" cy="228600"/>
          </a:xfrm>
          <a:prstGeom prst="rect">
            <a:avLst/>
          </a:prstGeom>
          <a:noFill/>
          <a:ln/>
        </p:spPr>
        <p:txBody>
          <a:bodyPr wrap="square" lIns="0" tIns="0" rIns="0" bIns="0" rtlCol="0" anchor="ctr"/>
          <a:lstStyle/>
          <a:p>
            <a:pPr marL="0" indent="0" algn="r">
              <a:buNone/>
            </a:pPr>
            <a:r>
              <a:rPr lang="en-US" sz="1000" dirty="0">
                <a:solidFill>
                  <a:srgbClr val="22D3EE"/>
                </a:solidFill>
                <a:latin typeface="Consolas" pitchFamily="34" charset="0"/>
                <a:ea typeface="Consolas" pitchFamily="34" charset="-122"/>
                <a:cs typeface="Consolas" pitchFamily="34" charset="-120"/>
              </a:rPr>
              <a:t>FIG. 11</a:t>
            </a:r>
            <a:endParaRPr lang="en-US" sz="1000" dirty="0"/>
          </a:p>
        </p:txBody>
      </p:sp>
      <p:sp>
        <p:nvSpPr>
          <p:cNvPr id="4" name="Marco figura"/>
          <p:cNvSpPr/>
          <p:nvPr/>
        </p:nvSpPr>
        <p:spPr>
          <a:xfrm>
            <a:off x="411480" y="1713727"/>
            <a:ext cx="5303520" cy="2333266"/>
          </a:xfrm>
          <a:prstGeom prst="rect">
            <a:avLst/>
          </a:prstGeom>
          <a:solidFill>
            <a:srgbClr val="0F1720"/>
          </a:solidFill>
          <a:ln w="12700">
            <a:solidFill>
              <a:srgbClr val="1F2D3A"/>
            </a:solidFill>
            <a:prstDash val="solid"/>
          </a:ln>
        </p:spPr>
      </p:sp>
      <p:sp>
        <p:nvSpPr>
          <p:cNvPr id="6" name="Text 3"/>
          <p:cNvSpPr txBox="1"/>
          <p:nvPr/>
        </p:nvSpPr>
        <p:spPr>
          <a:xfrm>
            <a:off x="5943600" y="1188720"/>
            <a:ext cx="1828800" cy="228600"/>
          </a:xfrm>
          <a:prstGeom prst="rect">
            <a:avLst/>
          </a:prstGeom>
          <a:noFill/>
          <a:ln/>
        </p:spPr>
        <p:txBody>
          <a:bodyPr wrap="square" lIns="0" tIns="0" rIns="0" bIns="0" rtlCol="0" anchor="ctr"/>
          <a:lstStyle/>
          <a:p>
            <a:pPr marL="0" indent="0" algn="l">
              <a:buNone/>
            </a:pPr>
            <a:r>
              <a:rPr lang="en-US" sz="1000" dirty="0">
                <a:solidFill>
                  <a:srgbClr val="22D3EE"/>
                </a:solidFill>
                <a:latin typeface="Consolas" pitchFamily="34" charset="0"/>
                <a:ea typeface="Consolas" pitchFamily="34" charset="-122"/>
                <a:cs typeface="Consolas" pitchFamily="34" charset="-120"/>
              </a:rPr>
              <a:t>LECTURA</a:t>
            </a:r>
            <a:endParaRPr lang="en-US" sz="1000" dirty="0"/>
          </a:p>
        </p:txBody>
      </p:sp>
      <p:sp>
        <p:nvSpPr>
          <p:cNvPr id="7" name="Text 4"/>
          <p:cNvSpPr txBox="1"/>
          <p:nvPr/>
        </p:nvSpPr>
        <p:spPr>
          <a:xfrm>
            <a:off x="5847501" y="1463040"/>
            <a:ext cx="2930739" cy="3200400"/>
          </a:xfrm>
          <a:prstGeom prst="rect">
            <a:avLst/>
          </a:prstGeom>
          <a:noFill/>
          <a:ln/>
        </p:spPr>
        <p:txBody>
          <a:bodyPr wrap="square" lIns="0" tIns="0" rIns="0" bIns="0" rtlCol="0" anchor="t"/>
          <a:lstStyle/>
          <a:p>
            <a:pPr marL="152400" indent="-152400">
              <a:spcAft>
                <a:spcPts val="600"/>
              </a:spcAft>
              <a:buSzPct val="100000"/>
              <a:buChar char="•"/>
            </a:pPr>
            <a:r>
              <a:rPr lang="en-US" sz="1100" b="1" dirty="0" smtClean="0">
                <a:solidFill>
                  <a:srgbClr val="F8FAFC"/>
                </a:solidFill>
              </a:rPr>
              <a:t>18-29 </a:t>
            </a:r>
            <a:r>
              <a:rPr lang="en-US" sz="1100" b="1" dirty="0" smtClean="0">
                <a:solidFill>
                  <a:srgbClr val="F8FAFC"/>
                </a:solidFill>
              </a:rPr>
              <a:t>:</a:t>
            </a:r>
            <a:r>
              <a:rPr lang="en-US" sz="1100" dirty="0" smtClean="0">
                <a:solidFill>
                  <a:srgbClr val="CBD5E1"/>
                </a:solidFill>
              </a:rPr>
              <a:t> </a:t>
            </a:r>
            <a:r>
              <a:rPr lang="en-US" sz="1100" dirty="0" err="1" smtClean="0">
                <a:solidFill>
                  <a:srgbClr val="CBD5E1"/>
                </a:solidFill>
              </a:rPr>
              <a:t>Donde</a:t>
            </a:r>
            <a:r>
              <a:rPr lang="en-US" sz="1100" dirty="0" smtClean="0">
                <a:solidFill>
                  <a:srgbClr val="CBD5E1"/>
                </a:solidFill>
              </a:rPr>
              <a:t> </a:t>
            </a:r>
            <a:r>
              <a:rPr lang="en-US" sz="1100" dirty="0" err="1" smtClean="0">
                <a:solidFill>
                  <a:srgbClr val="CBD5E1"/>
                </a:solidFill>
              </a:rPr>
              <a:t>más</a:t>
            </a:r>
            <a:r>
              <a:rPr lang="en-US" sz="1100" dirty="0" smtClean="0">
                <a:solidFill>
                  <a:srgbClr val="CBD5E1"/>
                </a:solidFill>
              </a:rPr>
              <a:t> </a:t>
            </a:r>
            <a:r>
              <a:rPr lang="en-US" sz="1100" dirty="0" err="1" smtClean="0">
                <a:solidFill>
                  <a:srgbClr val="CBD5E1"/>
                </a:solidFill>
              </a:rPr>
              <a:t>hallazgos</a:t>
            </a:r>
            <a:r>
              <a:rPr lang="en-US" sz="1100" dirty="0" smtClean="0">
                <a:solidFill>
                  <a:srgbClr val="CBD5E1"/>
                </a:solidFill>
              </a:rPr>
              <a:t> NORMAL</a:t>
            </a:r>
            <a:r>
              <a:rPr lang="en-US" sz="1100" dirty="0" smtClean="0">
                <a:solidFill>
                  <a:srgbClr val="CBD5E1"/>
                </a:solidFill>
              </a:rPr>
              <a:t>(</a:t>
            </a:r>
            <a:r>
              <a:rPr lang="en-US" sz="1100" dirty="0">
                <a:solidFill>
                  <a:srgbClr val="CBD5E1"/>
                </a:solidFill>
              </a:rPr>
              <a:t>≈</a:t>
            </a:r>
            <a:r>
              <a:rPr lang="en-US" sz="1100" dirty="0" smtClean="0">
                <a:solidFill>
                  <a:srgbClr val="CBD5E1"/>
                </a:solidFill>
              </a:rPr>
              <a:t>46 %). </a:t>
            </a:r>
            <a:r>
              <a:rPr lang="en-US" sz="1100" dirty="0" err="1" smtClean="0">
                <a:solidFill>
                  <a:srgbClr val="CBD5E1"/>
                </a:solidFill>
              </a:rPr>
              <a:t>Puede</a:t>
            </a:r>
            <a:r>
              <a:rPr lang="en-US" sz="1100" dirty="0" smtClean="0">
                <a:solidFill>
                  <a:srgbClr val="CBD5E1"/>
                </a:solidFill>
              </a:rPr>
              <a:t> </a:t>
            </a:r>
            <a:r>
              <a:rPr lang="en-US" sz="1100" dirty="0" err="1" smtClean="0">
                <a:solidFill>
                  <a:srgbClr val="CBD5E1"/>
                </a:solidFill>
              </a:rPr>
              <a:t>ser</a:t>
            </a:r>
            <a:r>
              <a:rPr lang="en-US" sz="1100" dirty="0" smtClean="0">
                <a:solidFill>
                  <a:srgbClr val="CBD5E1"/>
                </a:solidFill>
              </a:rPr>
              <a:t> </a:t>
            </a:r>
            <a:r>
              <a:rPr lang="en-US" sz="1100" dirty="0" err="1" smtClean="0">
                <a:solidFill>
                  <a:srgbClr val="CBD5E1"/>
                </a:solidFill>
              </a:rPr>
              <a:t>prentado</a:t>
            </a:r>
            <a:r>
              <a:rPr lang="en-US" sz="1100" dirty="0" smtClean="0">
                <a:solidFill>
                  <a:srgbClr val="CBD5E1"/>
                </a:solidFill>
              </a:rPr>
              <a:t> </a:t>
            </a:r>
            <a:r>
              <a:rPr lang="en-US" sz="1100" dirty="0" err="1" smtClean="0">
                <a:solidFill>
                  <a:srgbClr val="CBD5E1"/>
                </a:solidFill>
              </a:rPr>
              <a:t>pues</a:t>
            </a:r>
            <a:r>
              <a:rPr lang="en-US" sz="1100" dirty="0" smtClean="0">
                <a:solidFill>
                  <a:srgbClr val="CBD5E1"/>
                </a:solidFill>
              </a:rPr>
              <a:t> </a:t>
            </a:r>
            <a:r>
              <a:rPr lang="en-US" sz="1100" dirty="0" err="1" smtClean="0">
                <a:solidFill>
                  <a:srgbClr val="CBD5E1"/>
                </a:solidFill>
              </a:rPr>
              <a:t>es</a:t>
            </a:r>
            <a:r>
              <a:rPr lang="en-US" sz="1100" dirty="0" smtClean="0">
                <a:solidFill>
                  <a:srgbClr val="CBD5E1"/>
                </a:solidFill>
              </a:rPr>
              <a:t> el </a:t>
            </a:r>
            <a:r>
              <a:rPr lang="en-US" sz="1100" dirty="0" err="1" smtClean="0">
                <a:solidFill>
                  <a:srgbClr val="CBD5E1"/>
                </a:solidFill>
              </a:rPr>
              <a:t>rango</a:t>
            </a:r>
            <a:r>
              <a:rPr lang="en-US" sz="1100" dirty="0" smtClean="0">
                <a:solidFill>
                  <a:srgbClr val="CBD5E1"/>
                </a:solidFill>
              </a:rPr>
              <a:t> de </a:t>
            </a:r>
            <a:r>
              <a:rPr lang="en-US" sz="1100" dirty="0" err="1" smtClean="0">
                <a:solidFill>
                  <a:srgbClr val="CBD5E1"/>
                </a:solidFill>
              </a:rPr>
              <a:t>edad</a:t>
            </a:r>
            <a:r>
              <a:rPr lang="en-US" sz="1100" dirty="0" smtClean="0">
                <a:solidFill>
                  <a:srgbClr val="CBD5E1"/>
                </a:solidFill>
              </a:rPr>
              <a:t> con </a:t>
            </a:r>
            <a:r>
              <a:rPr lang="en-US" sz="1100" dirty="0" err="1" smtClean="0">
                <a:solidFill>
                  <a:srgbClr val="CBD5E1"/>
                </a:solidFill>
              </a:rPr>
              <a:t>plenitud</a:t>
            </a:r>
            <a:r>
              <a:rPr lang="en-US" sz="1100" dirty="0" smtClean="0">
                <a:solidFill>
                  <a:srgbClr val="CBD5E1"/>
                </a:solidFill>
              </a:rPr>
              <a:t> </a:t>
            </a:r>
            <a:r>
              <a:rPr lang="en-US" sz="1100" dirty="0" err="1" smtClean="0">
                <a:solidFill>
                  <a:srgbClr val="CBD5E1"/>
                </a:solidFill>
              </a:rPr>
              <a:t>humana</a:t>
            </a:r>
            <a:r>
              <a:rPr lang="en-US" sz="1100" dirty="0" smtClean="0">
                <a:solidFill>
                  <a:srgbClr val="CBD5E1"/>
                </a:solidFill>
              </a:rPr>
              <a:t>.</a:t>
            </a:r>
            <a:endParaRPr lang="en-US" sz="1100" dirty="0"/>
          </a:p>
          <a:p>
            <a:pPr marL="152400" indent="-152400">
              <a:spcAft>
                <a:spcPts val="600"/>
              </a:spcAft>
              <a:buSzPct val="100000"/>
              <a:buChar char="•"/>
            </a:pPr>
            <a:r>
              <a:rPr lang="en-US" sz="1100" b="1" dirty="0" smtClean="0">
                <a:solidFill>
                  <a:srgbClr val="F8FAFC"/>
                </a:solidFill>
              </a:rPr>
              <a:t>30-75+</a:t>
            </a:r>
            <a:r>
              <a:rPr lang="en-US" sz="1100" b="1" dirty="0" smtClean="0">
                <a:solidFill>
                  <a:srgbClr val="F8FAFC"/>
                </a:solidFill>
              </a:rPr>
              <a:t>:</a:t>
            </a:r>
            <a:r>
              <a:rPr lang="en-US" sz="1100" dirty="0" smtClean="0">
                <a:solidFill>
                  <a:srgbClr val="CBD5E1"/>
                </a:solidFill>
              </a:rPr>
              <a:t> La </a:t>
            </a:r>
            <a:r>
              <a:rPr lang="en-US" sz="1100" dirty="0" err="1" smtClean="0">
                <a:solidFill>
                  <a:srgbClr val="CBD5E1"/>
                </a:solidFill>
              </a:rPr>
              <a:t>franjas</a:t>
            </a:r>
            <a:r>
              <a:rPr lang="en-US" sz="1100" dirty="0" smtClean="0">
                <a:solidFill>
                  <a:srgbClr val="CBD5E1"/>
                </a:solidFill>
              </a:rPr>
              <a:t> DE OTROS HALLAZGOS  </a:t>
            </a:r>
            <a:r>
              <a:rPr lang="en-US" sz="1100" dirty="0" err="1" smtClean="0">
                <a:solidFill>
                  <a:srgbClr val="CBD5E1"/>
                </a:solidFill>
              </a:rPr>
              <a:t>aumenta</a:t>
            </a:r>
            <a:r>
              <a:rPr lang="en-US" sz="1100" dirty="0" smtClean="0">
                <a:solidFill>
                  <a:srgbClr val="CBD5E1"/>
                </a:solidFill>
              </a:rPr>
              <a:t> </a:t>
            </a:r>
            <a:r>
              <a:rPr lang="en-US" sz="1100" dirty="0" err="1" smtClean="0">
                <a:solidFill>
                  <a:srgbClr val="CBD5E1"/>
                </a:solidFill>
              </a:rPr>
              <a:t>su</a:t>
            </a:r>
            <a:r>
              <a:rPr lang="en-US" sz="1100" dirty="0" smtClean="0">
                <a:solidFill>
                  <a:srgbClr val="CBD5E1"/>
                </a:solidFill>
              </a:rPr>
              <a:t> </a:t>
            </a:r>
            <a:r>
              <a:rPr lang="en-US" sz="1100" dirty="0" err="1" smtClean="0">
                <a:solidFill>
                  <a:srgbClr val="CBD5E1"/>
                </a:solidFill>
              </a:rPr>
              <a:t>tamaño</a:t>
            </a:r>
            <a:r>
              <a:rPr lang="en-US" sz="1100" dirty="0" smtClean="0">
                <a:solidFill>
                  <a:srgbClr val="CBD5E1"/>
                </a:solidFill>
              </a:rPr>
              <a:t>(</a:t>
            </a:r>
            <a:r>
              <a:rPr lang="en-US" sz="1100" dirty="0" err="1" smtClean="0">
                <a:solidFill>
                  <a:srgbClr val="CBD5E1"/>
                </a:solidFill>
              </a:rPr>
              <a:t>esto</a:t>
            </a:r>
            <a:r>
              <a:rPr lang="en-US" sz="1100" dirty="0" smtClean="0">
                <a:solidFill>
                  <a:srgbClr val="CBD5E1"/>
                </a:solidFill>
              </a:rPr>
              <a:t> </a:t>
            </a:r>
            <a:r>
              <a:rPr lang="en-US" sz="1100" dirty="0" err="1" smtClean="0">
                <a:solidFill>
                  <a:srgbClr val="CBD5E1"/>
                </a:solidFill>
              </a:rPr>
              <a:t>puede</a:t>
            </a:r>
            <a:r>
              <a:rPr lang="en-US" sz="1100" dirty="0" smtClean="0">
                <a:solidFill>
                  <a:srgbClr val="CBD5E1"/>
                </a:solidFill>
              </a:rPr>
              <a:t> </a:t>
            </a:r>
            <a:r>
              <a:rPr lang="en-US" sz="1100" dirty="0" err="1" smtClean="0">
                <a:solidFill>
                  <a:srgbClr val="CBD5E1"/>
                </a:solidFill>
              </a:rPr>
              <a:t>suceder</a:t>
            </a:r>
            <a:r>
              <a:rPr lang="en-US" sz="1100" dirty="0" smtClean="0">
                <a:solidFill>
                  <a:srgbClr val="CBD5E1"/>
                </a:solidFill>
              </a:rPr>
              <a:t> que con la </a:t>
            </a:r>
            <a:r>
              <a:rPr lang="en-US" sz="1100" dirty="0" err="1" smtClean="0">
                <a:solidFill>
                  <a:srgbClr val="CBD5E1"/>
                </a:solidFill>
              </a:rPr>
              <a:t>edad</a:t>
            </a:r>
            <a:r>
              <a:rPr lang="en-US" sz="1100" dirty="0" smtClean="0">
                <a:solidFill>
                  <a:srgbClr val="CBD5E1"/>
                </a:solidFill>
              </a:rPr>
              <a:t> </a:t>
            </a:r>
            <a:r>
              <a:rPr lang="en-US" sz="1100" dirty="0" err="1" smtClean="0">
                <a:solidFill>
                  <a:srgbClr val="CBD5E1"/>
                </a:solidFill>
              </a:rPr>
              <a:t>aparecen</a:t>
            </a:r>
            <a:r>
              <a:rPr lang="en-US" sz="1100" dirty="0" smtClean="0">
                <a:solidFill>
                  <a:srgbClr val="CBD5E1"/>
                </a:solidFill>
              </a:rPr>
              <a:t> </a:t>
            </a:r>
            <a:r>
              <a:rPr lang="en-US" sz="1100" dirty="0" err="1" smtClean="0">
                <a:solidFill>
                  <a:srgbClr val="CBD5E1"/>
                </a:solidFill>
              </a:rPr>
              <a:t>enfermedades</a:t>
            </a:r>
            <a:r>
              <a:rPr lang="en-US" sz="1100" dirty="0" smtClean="0">
                <a:solidFill>
                  <a:srgbClr val="CBD5E1"/>
                </a:solidFill>
              </a:rPr>
              <a:t> </a:t>
            </a:r>
            <a:r>
              <a:rPr lang="en-US" sz="1100" dirty="0" err="1" smtClean="0">
                <a:solidFill>
                  <a:srgbClr val="CBD5E1"/>
                </a:solidFill>
              </a:rPr>
              <a:t>cronicas</a:t>
            </a:r>
            <a:r>
              <a:rPr lang="en-US" sz="1100" dirty="0" smtClean="0">
                <a:solidFill>
                  <a:srgbClr val="CBD5E1"/>
                </a:solidFill>
              </a:rPr>
              <a:t> , </a:t>
            </a:r>
            <a:r>
              <a:rPr lang="en-US" sz="1100" dirty="0" err="1" smtClean="0">
                <a:solidFill>
                  <a:srgbClr val="CBD5E1"/>
                </a:solidFill>
              </a:rPr>
              <a:t>etc</a:t>
            </a:r>
            <a:r>
              <a:rPr lang="en-US" sz="1100" dirty="0" smtClean="0">
                <a:solidFill>
                  <a:srgbClr val="CBD5E1"/>
                </a:solidFill>
              </a:rPr>
              <a:t> y que no </a:t>
            </a:r>
            <a:r>
              <a:rPr lang="en-US" sz="1100" dirty="0" err="1" smtClean="0">
                <a:solidFill>
                  <a:srgbClr val="CBD5E1"/>
                </a:solidFill>
              </a:rPr>
              <a:t>necesariamente</a:t>
            </a:r>
            <a:r>
              <a:rPr lang="en-US" sz="1100" dirty="0" smtClean="0">
                <a:solidFill>
                  <a:srgbClr val="CBD5E1"/>
                </a:solidFill>
              </a:rPr>
              <a:t> </a:t>
            </a:r>
            <a:r>
              <a:rPr lang="en-US" sz="1100" dirty="0" err="1" smtClean="0">
                <a:solidFill>
                  <a:srgbClr val="CBD5E1"/>
                </a:solidFill>
              </a:rPr>
              <a:t>estan</a:t>
            </a:r>
            <a:r>
              <a:rPr lang="en-US" sz="1100" dirty="0" smtClean="0">
                <a:solidFill>
                  <a:srgbClr val="CBD5E1"/>
                </a:solidFill>
              </a:rPr>
              <a:t> </a:t>
            </a:r>
            <a:r>
              <a:rPr lang="en-US" sz="1100" dirty="0" err="1" smtClean="0">
                <a:solidFill>
                  <a:srgbClr val="CBD5E1"/>
                </a:solidFill>
              </a:rPr>
              <a:t>vincualdas</a:t>
            </a:r>
            <a:r>
              <a:rPr lang="en-US" sz="1100" dirty="0" smtClean="0">
                <a:solidFill>
                  <a:srgbClr val="CBD5E1"/>
                </a:solidFill>
              </a:rPr>
              <a:t> al </a:t>
            </a:r>
            <a:r>
              <a:rPr lang="en-US" sz="1100" dirty="0" err="1" smtClean="0">
                <a:solidFill>
                  <a:srgbClr val="CBD5E1"/>
                </a:solidFill>
              </a:rPr>
              <a:t>estudio</a:t>
            </a:r>
            <a:r>
              <a:rPr lang="en-US" sz="1100" dirty="0" smtClean="0">
                <a:solidFill>
                  <a:srgbClr val="CBD5E1"/>
                </a:solidFill>
              </a:rPr>
              <a:t>)</a:t>
            </a:r>
            <a:endParaRPr lang="en-US" sz="1100" dirty="0"/>
          </a:p>
        </p:txBody>
      </p:sp>
      <p:sp>
        <p:nvSpPr>
          <p:cNvPr id="25" name="Slide Number Placeholder 0"/>
          <p:cNvSpPr>
            <a:spLocks noGrp="1"/>
          </p:cNvSpPr>
          <p:nvPr>
            <p:ph type="sldNum" sz="quarter" idx="4294967295"/>
          </p:nvPr>
        </p:nvSpPr>
        <p:spPr>
          <a:xfrm>
            <a:off x="8229600" y="4727448"/>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7C8BA1"/>
                </a:solidFill>
                <a:latin typeface="Consolas"/>
                <a:ea typeface="Consolas"/>
                <a:cs typeface="Consolas"/>
              </a:defRPr>
            </a:lvl1pPr>
          </a:lstStyle>
          <a:p>
            <a:pPr algn="r"/>
            <a:fld id="{F7021451-1387-4CA6-816F-3879F97B5CBC}" type="slidenum">
              <a:rPr lang="en-US" b="0"/>
              <a:t>25</a:t>
            </a:fld>
            <a:endParaRPr lang="en-US"/>
          </a:p>
        </p:txBody>
      </p:sp>
      <p:pic>
        <p:nvPicPr>
          <p:cNvPr id="9" name="Imagen 8"/>
          <p:cNvPicPr/>
          <p:nvPr/>
        </p:nvPicPr>
        <p:blipFill>
          <a:blip r:embed="rId3"/>
          <a:stretch>
            <a:fillRect/>
          </a:stretch>
        </p:blipFill>
        <p:spPr>
          <a:xfrm>
            <a:off x="457200" y="1769496"/>
            <a:ext cx="5186454" cy="2161842"/>
          </a:xfrm>
          <a:prstGeom prst="rect">
            <a:avLst/>
          </a:prstGeom>
        </p:spPr>
      </p:pic>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9"/>
          <p:cNvSpPr>
            <a:spLocks noGrp="1"/>
          </p:cNvSpPr>
          <p:nvPr>
            <p:ph type="title" idx="109" hasCustomPrompt="1"/>
          </p:nvPr>
        </p:nvSpPr>
        <p:spPr>
          <a:xfrm>
            <a:off x="457200" y="320040"/>
            <a:ext cx="7040880" cy="685800"/>
          </a:xfrm>
          <a:prstGeom prst="rect">
            <a:avLst/>
          </a:prstGeom>
          <a:noFill/>
          <a:ln/>
        </p:spPr>
        <p:txBody>
          <a:bodyPr wrap="square" lIns="0" tIns="0" rIns="0" bIns="0" rtlCol="0" anchor="ctr"/>
          <a:lstStyle/>
          <a:p>
            <a:pPr marL="0" indent="0" algn="l">
              <a:buNone/>
            </a:pPr>
            <a:r>
              <a:rPr lang="en-US" sz="2400" b="1" dirty="0">
                <a:solidFill>
                  <a:srgbClr val="F8FAFC"/>
                </a:solidFill>
              </a:rPr>
              <a:t>Relación entre estudio y sexo</a:t>
            </a:r>
            <a:endParaRPr lang="en-US" sz="2400" dirty="0"/>
          </a:p>
        </p:txBody>
      </p:sp>
      <p:sp>
        <p:nvSpPr>
          <p:cNvPr id="3" name="Text 1"/>
          <p:cNvSpPr txBox="1"/>
          <p:nvPr/>
        </p:nvSpPr>
        <p:spPr>
          <a:xfrm>
            <a:off x="7589520" y="457200"/>
            <a:ext cx="1097280" cy="228600"/>
          </a:xfrm>
          <a:prstGeom prst="rect">
            <a:avLst/>
          </a:prstGeom>
          <a:noFill/>
          <a:ln/>
        </p:spPr>
        <p:txBody>
          <a:bodyPr wrap="square" lIns="0" tIns="0" rIns="0" bIns="0" rtlCol="0" anchor="ctr"/>
          <a:lstStyle/>
          <a:p>
            <a:pPr marL="0" indent="0" algn="r">
              <a:buNone/>
            </a:pPr>
            <a:r>
              <a:rPr lang="en-US" sz="1000" dirty="0">
                <a:solidFill>
                  <a:srgbClr val="22D3EE"/>
                </a:solidFill>
                <a:latin typeface="Consolas" pitchFamily="34" charset="0"/>
                <a:ea typeface="Consolas" pitchFamily="34" charset="-122"/>
                <a:cs typeface="Consolas" pitchFamily="34" charset="-120"/>
              </a:rPr>
              <a:t>FIG. 12</a:t>
            </a:r>
            <a:endParaRPr lang="en-US" sz="1000" dirty="0"/>
          </a:p>
        </p:txBody>
      </p:sp>
      <p:sp>
        <p:nvSpPr>
          <p:cNvPr id="4" name="Marco figura"/>
          <p:cNvSpPr/>
          <p:nvPr/>
        </p:nvSpPr>
        <p:spPr>
          <a:xfrm>
            <a:off x="411480" y="1508761"/>
            <a:ext cx="5532120" cy="2563036"/>
          </a:xfrm>
          <a:prstGeom prst="rect">
            <a:avLst/>
          </a:prstGeom>
          <a:solidFill>
            <a:srgbClr val="0F1720"/>
          </a:solidFill>
          <a:ln w="12700">
            <a:solidFill>
              <a:srgbClr val="1F2D3A"/>
            </a:solidFill>
            <a:prstDash val="solid"/>
          </a:ln>
        </p:spPr>
      </p:sp>
      <p:sp>
        <p:nvSpPr>
          <p:cNvPr id="6" name="Text 3"/>
          <p:cNvSpPr txBox="1"/>
          <p:nvPr/>
        </p:nvSpPr>
        <p:spPr>
          <a:xfrm>
            <a:off x="5943600" y="1188720"/>
            <a:ext cx="1828800" cy="228600"/>
          </a:xfrm>
          <a:prstGeom prst="rect">
            <a:avLst/>
          </a:prstGeom>
          <a:noFill/>
          <a:ln/>
        </p:spPr>
        <p:txBody>
          <a:bodyPr wrap="square" lIns="0" tIns="0" rIns="0" bIns="0" rtlCol="0" anchor="ctr"/>
          <a:lstStyle/>
          <a:p>
            <a:pPr marL="0" indent="0" algn="l">
              <a:buNone/>
            </a:pPr>
            <a:r>
              <a:rPr lang="en-US" sz="1000" dirty="0">
                <a:solidFill>
                  <a:srgbClr val="22D3EE"/>
                </a:solidFill>
                <a:latin typeface="Consolas" pitchFamily="34" charset="0"/>
                <a:ea typeface="Consolas" pitchFamily="34" charset="-122"/>
                <a:cs typeface="Consolas" pitchFamily="34" charset="-120"/>
              </a:rPr>
              <a:t>LECTURA</a:t>
            </a:r>
            <a:endParaRPr lang="en-US" sz="1000" dirty="0"/>
          </a:p>
        </p:txBody>
      </p:sp>
      <p:sp>
        <p:nvSpPr>
          <p:cNvPr id="7" name="Text 4"/>
          <p:cNvSpPr txBox="1"/>
          <p:nvPr/>
        </p:nvSpPr>
        <p:spPr>
          <a:xfrm>
            <a:off x="6088879" y="1508761"/>
            <a:ext cx="2743200" cy="3200400"/>
          </a:xfrm>
          <a:prstGeom prst="rect">
            <a:avLst/>
          </a:prstGeom>
          <a:noFill/>
          <a:ln/>
        </p:spPr>
        <p:txBody>
          <a:bodyPr wrap="square" lIns="0" tIns="0" rIns="0" bIns="0" rtlCol="0" anchor="t"/>
          <a:lstStyle/>
          <a:p>
            <a:pPr marL="171450" indent="-171450">
              <a:buFont typeface="Arial" panose="020B0604020202020204" pitchFamily="34" charset="0"/>
              <a:buChar char="•"/>
            </a:pPr>
            <a:r>
              <a:rPr lang="es-ES" sz="1000" b="1" dirty="0" smtClean="0">
                <a:solidFill>
                  <a:schemeClr val="bg1"/>
                </a:solidFill>
              </a:rPr>
              <a:t>SIN DAT0( no se tiene la edad) </a:t>
            </a:r>
            <a:r>
              <a:rPr lang="es-ES" sz="1000" dirty="0" smtClean="0">
                <a:solidFill>
                  <a:schemeClr val="bg1"/>
                </a:solidFill>
              </a:rPr>
              <a:t>está </a:t>
            </a:r>
            <a:r>
              <a:rPr lang="es-ES" sz="1000" dirty="0">
                <a:solidFill>
                  <a:schemeClr val="bg1"/>
                </a:solidFill>
              </a:rPr>
              <a:t>concentrada de forma masiva en estudios radiológicos específicos</a:t>
            </a:r>
            <a:r>
              <a:rPr lang="es-ES" sz="1000" dirty="0" smtClean="0">
                <a:solidFill>
                  <a:schemeClr val="bg1"/>
                </a:solidFill>
              </a:rPr>
              <a:t>:</a:t>
            </a:r>
            <a:endParaRPr lang="es-ES" sz="1000" b="1" dirty="0" smtClean="0">
              <a:solidFill>
                <a:schemeClr val="bg1"/>
              </a:solidFill>
            </a:endParaRPr>
          </a:p>
          <a:p>
            <a:endParaRPr lang="es-ES" sz="1000" b="1" dirty="0" smtClean="0">
              <a:solidFill>
                <a:schemeClr val="bg1"/>
              </a:solidFill>
            </a:endParaRPr>
          </a:p>
          <a:p>
            <a:r>
              <a:rPr lang="es-ES" sz="1000" b="1" dirty="0" smtClean="0">
                <a:solidFill>
                  <a:schemeClr val="bg1"/>
                </a:solidFill>
              </a:rPr>
              <a:t>Radiografía </a:t>
            </a:r>
            <a:r>
              <a:rPr lang="es-ES" sz="1000" b="1" dirty="0">
                <a:solidFill>
                  <a:schemeClr val="bg1"/>
                </a:solidFill>
              </a:rPr>
              <a:t>de Columna Dorsal:</a:t>
            </a:r>
            <a:r>
              <a:rPr lang="es-ES" sz="1000" dirty="0">
                <a:solidFill>
                  <a:schemeClr val="bg1"/>
                </a:solidFill>
              </a:rPr>
              <a:t> Es el caso más alarmante del sistema, registrando un </a:t>
            </a:r>
            <a:r>
              <a:rPr lang="es-ES" sz="1000" b="1" dirty="0">
                <a:solidFill>
                  <a:schemeClr val="bg1"/>
                </a:solidFill>
              </a:rPr>
              <a:t>66% </a:t>
            </a:r>
            <a:r>
              <a:rPr lang="es-ES" sz="1000" b="1" dirty="0" smtClean="0">
                <a:solidFill>
                  <a:schemeClr val="bg1"/>
                </a:solidFill>
              </a:rPr>
              <a:t>.</a:t>
            </a:r>
            <a:endParaRPr lang="es-ES" sz="1000" dirty="0">
              <a:solidFill>
                <a:schemeClr val="bg1"/>
              </a:solidFill>
            </a:endParaRPr>
          </a:p>
          <a:p>
            <a:r>
              <a:rPr lang="es-ES" sz="1000" b="1" dirty="0">
                <a:solidFill>
                  <a:schemeClr val="bg1"/>
                </a:solidFill>
              </a:rPr>
              <a:t>Radiografía de Columna Cervical:</a:t>
            </a:r>
            <a:r>
              <a:rPr lang="es-ES" sz="1000" dirty="0">
                <a:solidFill>
                  <a:schemeClr val="bg1"/>
                </a:solidFill>
              </a:rPr>
              <a:t> Acumula un </a:t>
            </a:r>
            <a:r>
              <a:rPr lang="es-ES" sz="1000" b="1" dirty="0">
                <a:solidFill>
                  <a:schemeClr val="bg1"/>
                </a:solidFill>
              </a:rPr>
              <a:t>48</a:t>
            </a:r>
            <a:r>
              <a:rPr lang="es-ES" sz="1000" b="1" dirty="0" smtClean="0">
                <a:solidFill>
                  <a:schemeClr val="bg1"/>
                </a:solidFill>
              </a:rPr>
              <a:t>%.</a:t>
            </a:r>
            <a:endParaRPr lang="es-ES" sz="1000" dirty="0">
              <a:solidFill>
                <a:schemeClr val="bg1"/>
              </a:solidFill>
            </a:endParaRPr>
          </a:p>
          <a:p>
            <a:r>
              <a:rPr lang="es-ES" sz="1000" b="1" dirty="0">
                <a:solidFill>
                  <a:schemeClr val="bg1"/>
                </a:solidFill>
              </a:rPr>
              <a:t>Radiografía de Columna Lumbar:</a:t>
            </a:r>
            <a:r>
              <a:rPr lang="es-ES" sz="1000" dirty="0">
                <a:solidFill>
                  <a:schemeClr val="bg1"/>
                </a:solidFill>
              </a:rPr>
              <a:t> Presenta un </a:t>
            </a:r>
            <a:r>
              <a:rPr lang="es-ES" sz="1000" b="1" dirty="0">
                <a:solidFill>
                  <a:schemeClr val="bg1"/>
                </a:solidFill>
              </a:rPr>
              <a:t>45</a:t>
            </a:r>
            <a:r>
              <a:rPr lang="es-ES" sz="1000" b="1" dirty="0" smtClean="0">
                <a:solidFill>
                  <a:schemeClr val="bg1"/>
                </a:solidFill>
              </a:rPr>
              <a:t>%.</a:t>
            </a:r>
            <a:endParaRPr lang="es-ES" sz="1000" dirty="0">
              <a:solidFill>
                <a:schemeClr val="bg1"/>
              </a:solidFill>
            </a:endParaRPr>
          </a:p>
          <a:p>
            <a:r>
              <a:rPr lang="es-ES" sz="1000" b="1" dirty="0">
                <a:solidFill>
                  <a:schemeClr val="bg1"/>
                </a:solidFill>
              </a:rPr>
              <a:t>Radiografía de Tórax:</a:t>
            </a:r>
            <a:r>
              <a:rPr lang="es-ES" sz="1000" dirty="0">
                <a:solidFill>
                  <a:schemeClr val="bg1"/>
                </a:solidFill>
              </a:rPr>
              <a:t> Muestra un </a:t>
            </a:r>
            <a:r>
              <a:rPr lang="es-ES" sz="1000" b="1" dirty="0">
                <a:solidFill>
                  <a:schemeClr val="bg1"/>
                </a:solidFill>
              </a:rPr>
              <a:t>37</a:t>
            </a:r>
            <a:r>
              <a:rPr lang="es-ES" sz="1000" b="1" dirty="0" smtClean="0">
                <a:solidFill>
                  <a:schemeClr val="bg1"/>
                </a:solidFill>
              </a:rPr>
              <a:t>%</a:t>
            </a:r>
            <a:r>
              <a:rPr lang="es-ES" sz="1000" dirty="0" smtClean="0">
                <a:solidFill>
                  <a:schemeClr val="bg1"/>
                </a:solidFill>
              </a:rPr>
              <a:t>.</a:t>
            </a:r>
          </a:p>
          <a:p>
            <a:pPr marL="171450" indent="-171450">
              <a:buFont typeface="Arial" panose="020B0604020202020204" pitchFamily="34" charset="0"/>
              <a:buChar char="•"/>
            </a:pPr>
            <a:r>
              <a:rPr lang="es-ES" sz="1000" dirty="0" smtClean="0">
                <a:solidFill>
                  <a:schemeClr val="bg1"/>
                </a:solidFill>
              </a:rPr>
              <a:t>CON DATO(rango de edad)</a:t>
            </a:r>
            <a:endParaRPr lang="es-ES" sz="1000" dirty="0">
              <a:solidFill>
                <a:schemeClr val="bg1"/>
              </a:solidFill>
            </a:endParaRPr>
          </a:p>
          <a:p>
            <a:r>
              <a:rPr lang="es-ES" sz="1000" b="1" dirty="0">
                <a:solidFill>
                  <a:schemeClr val="bg1"/>
                </a:solidFill>
              </a:rPr>
              <a:t>Mamografía (Concentración Máxima en 45-59 </a:t>
            </a:r>
            <a:r>
              <a:rPr lang="es-ES" sz="1000" b="1" dirty="0" smtClean="0">
                <a:solidFill>
                  <a:schemeClr val="bg1"/>
                </a:solidFill>
              </a:rPr>
              <a:t>años) y </a:t>
            </a:r>
            <a:r>
              <a:rPr lang="es-ES" sz="1000" dirty="0" smtClean="0">
                <a:solidFill>
                  <a:schemeClr val="bg1"/>
                </a:solidFill>
              </a:rPr>
              <a:t> </a:t>
            </a:r>
            <a:r>
              <a:rPr lang="es-ES" sz="1000" dirty="0">
                <a:solidFill>
                  <a:schemeClr val="bg1"/>
                </a:solidFill>
              </a:rPr>
              <a:t>valor de 0% en los grupos de 00-17 y 18-29 años, </a:t>
            </a:r>
            <a:r>
              <a:rPr lang="es-ES" sz="1000" dirty="0" smtClean="0">
                <a:solidFill>
                  <a:schemeClr val="bg1"/>
                </a:solidFill>
              </a:rPr>
              <a:t>donde casi </a:t>
            </a:r>
            <a:r>
              <a:rPr lang="es-ES" sz="1000" dirty="0">
                <a:solidFill>
                  <a:schemeClr val="bg1"/>
                </a:solidFill>
              </a:rPr>
              <a:t>no se prescribe </a:t>
            </a:r>
            <a:r>
              <a:rPr lang="es-ES" sz="1000" dirty="0" smtClean="0">
                <a:solidFill>
                  <a:schemeClr val="bg1"/>
                </a:solidFill>
              </a:rPr>
              <a:t>este estudio.</a:t>
            </a:r>
            <a:endParaRPr lang="es-ES" sz="1000" dirty="0">
              <a:solidFill>
                <a:schemeClr val="bg1"/>
              </a:solidFill>
            </a:endParaRPr>
          </a:p>
          <a:p>
            <a:r>
              <a:rPr lang="es-ES" sz="1000" b="1" dirty="0">
                <a:solidFill>
                  <a:schemeClr val="bg1"/>
                </a:solidFill>
              </a:rPr>
              <a:t>Resonancia Magnética de Columna Lumbar y Hombro:</a:t>
            </a:r>
            <a:r>
              <a:rPr lang="es-ES" sz="1000" dirty="0">
                <a:solidFill>
                  <a:schemeClr val="bg1"/>
                </a:solidFill>
              </a:rPr>
              <a:t> Tienen sus picos de máxima frecuencia en los tramos de </a:t>
            </a:r>
            <a:r>
              <a:rPr lang="es-ES" sz="1000" b="1" dirty="0">
                <a:solidFill>
                  <a:schemeClr val="bg1"/>
                </a:solidFill>
              </a:rPr>
              <a:t>45-59 años (29% y 28% respectivamente)</a:t>
            </a:r>
            <a:r>
              <a:rPr lang="es-ES" sz="1000" dirty="0">
                <a:solidFill>
                  <a:schemeClr val="bg1"/>
                </a:solidFill>
              </a:rPr>
              <a:t> y </a:t>
            </a:r>
            <a:r>
              <a:rPr lang="es-ES" sz="1000" b="1" dirty="0">
                <a:solidFill>
                  <a:schemeClr val="bg1"/>
                </a:solidFill>
              </a:rPr>
              <a:t>60-74 años (23% en ambos casos)</a:t>
            </a:r>
            <a:r>
              <a:rPr lang="es-ES" sz="1000" dirty="0">
                <a:solidFill>
                  <a:schemeClr val="bg1"/>
                </a:solidFill>
              </a:rPr>
              <a:t>. Esto </a:t>
            </a:r>
            <a:r>
              <a:rPr lang="es-ES" sz="1000" dirty="0" smtClean="0">
                <a:solidFill>
                  <a:schemeClr val="bg1"/>
                </a:solidFill>
              </a:rPr>
              <a:t>pudiera describir las </a:t>
            </a:r>
            <a:r>
              <a:rPr lang="es-ES" sz="1000" dirty="0">
                <a:solidFill>
                  <a:schemeClr val="bg1"/>
                </a:solidFill>
              </a:rPr>
              <a:t>patologías </a:t>
            </a:r>
            <a:r>
              <a:rPr lang="es-ES" sz="1000" dirty="0" err="1">
                <a:solidFill>
                  <a:schemeClr val="bg1"/>
                </a:solidFill>
              </a:rPr>
              <a:t>musculoesqueléticas</a:t>
            </a:r>
            <a:r>
              <a:rPr lang="es-ES" sz="1000" dirty="0">
                <a:solidFill>
                  <a:schemeClr val="bg1"/>
                </a:solidFill>
              </a:rPr>
              <a:t> degenerativas y laborales en la adultez media y avanzada.</a:t>
            </a:r>
          </a:p>
        </p:txBody>
      </p:sp>
      <p:sp>
        <p:nvSpPr>
          <p:cNvPr id="25" name="Slide Number Placeholder 0"/>
          <p:cNvSpPr>
            <a:spLocks noGrp="1"/>
          </p:cNvSpPr>
          <p:nvPr>
            <p:ph type="sldNum" sz="quarter" idx="4294967295"/>
          </p:nvPr>
        </p:nvSpPr>
        <p:spPr>
          <a:xfrm>
            <a:off x="8229600" y="4727448"/>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7C8BA1"/>
                </a:solidFill>
                <a:latin typeface="Consolas"/>
                <a:ea typeface="Consolas"/>
                <a:cs typeface="Consolas"/>
              </a:defRPr>
            </a:lvl1pPr>
          </a:lstStyle>
          <a:p>
            <a:pPr algn="r"/>
            <a:fld id="{F7021451-1387-4CA6-816F-3879F97B5CBC}" type="slidenum">
              <a:rPr lang="en-US" b="0"/>
              <a:t>26</a:t>
            </a:fld>
            <a:endParaRPr lang="en-US"/>
          </a:p>
        </p:txBody>
      </p:sp>
      <p:pic>
        <p:nvPicPr>
          <p:cNvPr id="9" name="Imagen 8"/>
          <p:cNvPicPr/>
          <p:nvPr/>
        </p:nvPicPr>
        <p:blipFill>
          <a:blip r:embed="rId3"/>
          <a:stretch>
            <a:fillRect/>
          </a:stretch>
        </p:blipFill>
        <p:spPr>
          <a:xfrm>
            <a:off x="480496" y="1560887"/>
            <a:ext cx="5400040" cy="2457813"/>
          </a:xfrm>
          <a:prstGeom prst="rect">
            <a:avLst/>
          </a:prstGeom>
        </p:spPr>
      </p:pic>
    </p:spTree>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9"/>
          <p:cNvSpPr>
            <a:spLocks noGrp="1"/>
          </p:cNvSpPr>
          <p:nvPr>
            <p:ph type="title" idx="109" hasCustomPrompt="1"/>
          </p:nvPr>
        </p:nvSpPr>
        <p:spPr>
          <a:xfrm>
            <a:off x="457200" y="320040"/>
            <a:ext cx="7040880" cy="685800"/>
          </a:xfrm>
          <a:prstGeom prst="rect">
            <a:avLst/>
          </a:prstGeom>
          <a:noFill/>
          <a:ln/>
        </p:spPr>
        <p:txBody>
          <a:bodyPr wrap="square" lIns="0" tIns="0" rIns="0" bIns="0" rtlCol="0" anchor="ctr"/>
          <a:lstStyle/>
          <a:p>
            <a:pPr marL="0" indent="0" algn="l">
              <a:buNone/>
            </a:pPr>
            <a:r>
              <a:rPr lang="en-US" sz="2400" b="1" dirty="0">
                <a:solidFill>
                  <a:srgbClr val="F8FAFC"/>
                </a:solidFill>
              </a:rPr>
              <a:t>Estudios que se solicitan juntos</a:t>
            </a:r>
            <a:endParaRPr lang="en-US" sz="2400" dirty="0"/>
          </a:p>
        </p:txBody>
      </p:sp>
      <p:sp>
        <p:nvSpPr>
          <p:cNvPr id="3" name="Text 1"/>
          <p:cNvSpPr txBox="1"/>
          <p:nvPr/>
        </p:nvSpPr>
        <p:spPr>
          <a:xfrm>
            <a:off x="7589520" y="457200"/>
            <a:ext cx="1097280" cy="228600"/>
          </a:xfrm>
          <a:prstGeom prst="rect">
            <a:avLst/>
          </a:prstGeom>
          <a:noFill/>
          <a:ln/>
        </p:spPr>
        <p:txBody>
          <a:bodyPr wrap="square" lIns="0" tIns="0" rIns="0" bIns="0" rtlCol="0" anchor="ctr"/>
          <a:lstStyle/>
          <a:p>
            <a:pPr marL="0" indent="0" algn="r">
              <a:buNone/>
            </a:pPr>
            <a:r>
              <a:rPr lang="en-US" sz="1000" dirty="0">
                <a:solidFill>
                  <a:srgbClr val="22D3EE"/>
                </a:solidFill>
                <a:latin typeface="Consolas" pitchFamily="34" charset="0"/>
                <a:ea typeface="Consolas" pitchFamily="34" charset="-122"/>
                <a:cs typeface="Consolas" pitchFamily="34" charset="-120"/>
              </a:rPr>
              <a:t>FIG. 13</a:t>
            </a:r>
            <a:endParaRPr lang="en-US" sz="1000" dirty="0"/>
          </a:p>
        </p:txBody>
      </p:sp>
      <p:sp>
        <p:nvSpPr>
          <p:cNvPr id="4" name="Marco figura"/>
          <p:cNvSpPr/>
          <p:nvPr/>
        </p:nvSpPr>
        <p:spPr>
          <a:xfrm>
            <a:off x="340456" y="1573545"/>
            <a:ext cx="5532120" cy="2613631"/>
          </a:xfrm>
          <a:prstGeom prst="rect">
            <a:avLst/>
          </a:prstGeom>
          <a:solidFill>
            <a:srgbClr val="0F1720"/>
          </a:solidFill>
          <a:ln w="12700">
            <a:solidFill>
              <a:srgbClr val="1F2D3A"/>
            </a:solidFill>
            <a:prstDash val="solid"/>
          </a:ln>
        </p:spPr>
      </p:sp>
      <p:sp>
        <p:nvSpPr>
          <p:cNvPr id="6" name="Text 3"/>
          <p:cNvSpPr txBox="1"/>
          <p:nvPr/>
        </p:nvSpPr>
        <p:spPr>
          <a:xfrm>
            <a:off x="5943600" y="1188720"/>
            <a:ext cx="1828800" cy="228600"/>
          </a:xfrm>
          <a:prstGeom prst="rect">
            <a:avLst/>
          </a:prstGeom>
          <a:noFill/>
          <a:ln/>
        </p:spPr>
        <p:txBody>
          <a:bodyPr wrap="square" lIns="0" tIns="0" rIns="0" bIns="0" rtlCol="0" anchor="ctr"/>
          <a:lstStyle/>
          <a:p>
            <a:pPr marL="0" indent="0" algn="l">
              <a:buNone/>
            </a:pPr>
            <a:r>
              <a:rPr lang="en-US" sz="1000" dirty="0">
                <a:solidFill>
                  <a:srgbClr val="22D3EE"/>
                </a:solidFill>
                <a:latin typeface="Consolas" pitchFamily="34" charset="0"/>
                <a:ea typeface="Consolas" pitchFamily="34" charset="-122"/>
                <a:cs typeface="Consolas" pitchFamily="34" charset="-120"/>
              </a:rPr>
              <a:t>LECTURA</a:t>
            </a:r>
            <a:endParaRPr lang="en-US" sz="1000" dirty="0"/>
          </a:p>
        </p:txBody>
      </p:sp>
      <p:sp>
        <p:nvSpPr>
          <p:cNvPr id="7" name="Text 4"/>
          <p:cNvSpPr txBox="1"/>
          <p:nvPr/>
        </p:nvSpPr>
        <p:spPr>
          <a:xfrm>
            <a:off x="5943600" y="1463040"/>
            <a:ext cx="2743200" cy="2602254"/>
          </a:xfrm>
          <a:prstGeom prst="rect">
            <a:avLst/>
          </a:prstGeom>
          <a:noFill/>
          <a:ln/>
        </p:spPr>
        <p:txBody>
          <a:bodyPr wrap="square" lIns="0" tIns="0" rIns="0" bIns="0" rtlCol="0" anchor="t"/>
          <a:lstStyle/>
          <a:p>
            <a:r>
              <a:rPr lang="es-ES" sz="1000" b="1" dirty="0">
                <a:solidFill>
                  <a:schemeClr val="bg1"/>
                </a:solidFill>
              </a:rPr>
              <a:t>Radiografía de Columna Cervical + Radiografía de Columna Lumbar:</a:t>
            </a:r>
            <a:r>
              <a:rPr lang="es-ES" sz="1000" dirty="0">
                <a:solidFill>
                  <a:schemeClr val="bg1"/>
                </a:solidFill>
              </a:rPr>
              <a:t> Registra una coincidencia recíproca del </a:t>
            </a:r>
            <a:r>
              <a:rPr lang="es-ES" sz="1000" b="1" dirty="0">
                <a:solidFill>
                  <a:schemeClr val="bg1"/>
                </a:solidFill>
              </a:rPr>
              <a:t>8.4%</a:t>
            </a:r>
            <a:r>
              <a:rPr lang="es-ES" sz="1000" dirty="0">
                <a:solidFill>
                  <a:schemeClr val="bg1"/>
                </a:solidFill>
              </a:rPr>
              <a:t>. </a:t>
            </a:r>
            <a:endParaRPr lang="es-ES" sz="1000" dirty="0" smtClean="0">
              <a:solidFill>
                <a:schemeClr val="bg1"/>
              </a:solidFill>
            </a:endParaRPr>
          </a:p>
          <a:p>
            <a:endParaRPr lang="es-ES" sz="1000" dirty="0" smtClean="0">
              <a:solidFill>
                <a:schemeClr val="bg1"/>
              </a:solidFill>
            </a:endParaRPr>
          </a:p>
          <a:p>
            <a:r>
              <a:rPr lang="es-ES" sz="1000" b="1" dirty="0" smtClean="0">
                <a:solidFill>
                  <a:schemeClr val="bg1"/>
                </a:solidFill>
              </a:rPr>
              <a:t>Radiografía </a:t>
            </a:r>
            <a:r>
              <a:rPr lang="es-ES" sz="1000" b="1" dirty="0">
                <a:solidFill>
                  <a:schemeClr val="bg1"/>
                </a:solidFill>
              </a:rPr>
              <a:t>de Columna Cervical + Ecografía de Cráneo:</a:t>
            </a:r>
            <a:r>
              <a:rPr lang="es-ES" sz="1000" dirty="0">
                <a:solidFill>
                  <a:schemeClr val="bg1"/>
                </a:solidFill>
              </a:rPr>
              <a:t> Presenta una correlación del </a:t>
            </a:r>
            <a:r>
              <a:rPr lang="es-ES" sz="1000" b="1" dirty="0">
                <a:solidFill>
                  <a:schemeClr val="bg1"/>
                </a:solidFill>
              </a:rPr>
              <a:t>6.9</a:t>
            </a:r>
            <a:r>
              <a:rPr lang="es-ES" sz="1000" b="1" dirty="0" smtClean="0">
                <a:solidFill>
                  <a:schemeClr val="bg1"/>
                </a:solidFill>
              </a:rPr>
              <a:t>%</a:t>
            </a:r>
            <a:r>
              <a:rPr lang="es-ES" sz="1000" dirty="0" smtClean="0">
                <a:solidFill>
                  <a:schemeClr val="bg1"/>
                </a:solidFill>
              </a:rPr>
              <a:t>.</a:t>
            </a:r>
          </a:p>
          <a:p>
            <a:endParaRPr lang="es-ES" sz="1000" dirty="0">
              <a:solidFill>
                <a:schemeClr val="bg1"/>
              </a:solidFill>
            </a:endParaRPr>
          </a:p>
          <a:p>
            <a:r>
              <a:rPr lang="es-ES" sz="1000" b="1" dirty="0">
                <a:solidFill>
                  <a:schemeClr val="bg1"/>
                </a:solidFill>
              </a:rPr>
              <a:t>Radiografía de Columna Cervical + Radiografía de Columna Vertebral:</a:t>
            </a:r>
            <a:r>
              <a:rPr lang="es-ES" sz="1000" dirty="0">
                <a:solidFill>
                  <a:schemeClr val="bg1"/>
                </a:solidFill>
              </a:rPr>
              <a:t> Muestra un </a:t>
            </a:r>
            <a:r>
              <a:rPr lang="es-ES" sz="1000" b="1" dirty="0">
                <a:solidFill>
                  <a:schemeClr val="bg1"/>
                </a:solidFill>
              </a:rPr>
              <a:t>5.4</a:t>
            </a:r>
            <a:r>
              <a:rPr lang="es-ES" sz="1000" b="1" dirty="0" smtClean="0">
                <a:solidFill>
                  <a:schemeClr val="bg1"/>
                </a:solidFill>
              </a:rPr>
              <a:t>%</a:t>
            </a:r>
            <a:r>
              <a:rPr lang="es-ES" sz="1000" dirty="0" smtClean="0">
                <a:solidFill>
                  <a:schemeClr val="bg1"/>
                </a:solidFill>
              </a:rPr>
              <a:t>.</a:t>
            </a:r>
          </a:p>
          <a:p>
            <a:endParaRPr lang="es-ES" sz="1000" dirty="0">
              <a:solidFill>
                <a:schemeClr val="bg1"/>
              </a:solidFill>
            </a:endParaRPr>
          </a:p>
          <a:p>
            <a:r>
              <a:rPr lang="es-ES" sz="1000" b="1" dirty="0">
                <a:solidFill>
                  <a:schemeClr val="bg1"/>
                </a:solidFill>
              </a:rPr>
              <a:t>Radiografía de Columna Lumbar + Radiografía de Columna Dorsal:</a:t>
            </a:r>
            <a:r>
              <a:rPr lang="es-ES" sz="1000" dirty="0">
                <a:solidFill>
                  <a:schemeClr val="bg1"/>
                </a:solidFill>
              </a:rPr>
              <a:t> Coinciden en el </a:t>
            </a:r>
            <a:r>
              <a:rPr lang="es-ES" sz="1000" b="1" dirty="0">
                <a:solidFill>
                  <a:schemeClr val="bg1"/>
                </a:solidFill>
              </a:rPr>
              <a:t>3.9</a:t>
            </a:r>
            <a:r>
              <a:rPr lang="es-ES" sz="1000" b="1" dirty="0" smtClean="0">
                <a:solidFill>
                  <a:schemeClr val="bg1"/>
                </a:solidFill>
              </a:rPr>
              <a:t>%.</a:t>
            </a:r>
            <a:endParaRPr lang="en-US" sz="1100" dirty="0"/>
          </a:p>
        </p:txBody>
      </p:sp>
      <p:sp>
        <p:nvSpPr>
          <p:cNvPr id="25" name="Slide Number Placeholder 0"/>
          <p:cNvSpPr>
            <a:spLocks noGrp="1"/>
          </p:cNvSpPr>
          <p:nvPr>
            <p:ph type="sldNum" sz="quarter" idx="4294967295"/>
          </p:nvPr>
        </p:nvSpPr>
        <p:spPr>
          <a:xfrm>
            <a:off x="8229600" y="4727448"/>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7C8BA1"/>
                </a:solidFill>
                <a:latin typeface="Consolas"/>
                <a:ea typeface="Consolas"/>
                <a:cs typeface="Consolas"/>
              </a:defRPr>
            </a:lvl1pPr>
          </a:lstStyle>
          <a:p>
            <a:pPr algn="r"/>
            <a:fld id="{F7021451-1387-4CA6-816F-3879F97B5CBC}" type="slidenum">
              <a:rPr lang="en-US" b="0"/>
              <a:t>27</a:t>
            </a:fld>
            <a:endParaRPr lang="en-US"/>
          </a:p>
        </p:txBody>
      </p:sp>
      <p:pic>
        <p:nvPicPr>
          <p:cNvPr id="9" name="Imagen 8"/>
          <p:cNvPicPr/>
          <p:nvPr/>
        </p:nvPicPr>
        <p:blipFill>
          <a:blip r:embed="rId3"/>
          <a:stretch>
            <a:fillRect/>
          </a:stretch>
        </p:blipFill>
        <p:spPr>
          <a:xfrm>
            <a:off x="411480" y="1616170"/>
            <a:ext cx="5400040" cy="2499981"/>
          </a:xfrm>
          <a:prstGeom prst="rect">
            <a:avLst/>
          </a:prstGeom>
        </p:spPr>
      </p:pic>
    </p:spTree>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9"/>
          <p:cNvSpPr>
            <a:spLocks noGrp="1"/>
          </p:cNvSpPr>
          <p:nvPr>
            <p:ph type="title" idx="109" hasCustomPrompt="1"/>
          </p:nvPr>
        </p:nvSpPr>
        <p:spPr>
          <a:xfrm>
            <a:off x="457200" y="320040"/>
            <a:ext cx="7040880" cy="685800"/>
          </a:xfrm>
          <a:prstGeom prst="rect">
            <a:avLst/>
          </a:prstGeom>
          <a:noFill/>
          <a:ln/>
        </p:spPr>
        <p:txBody>
          <a:bodyPr wrap="square" lIns="0" tIns="0" rIns="0" bIns="0" rtlCol="0" anchor="ctr"/>
          <a:lstStyle/>
          <a:p>
            <a:pPr marL="0" indent="0" algn="l">
              <a:buNone/>
            </a:pPr>
            <a:r>
              <a:rPr lang="en-US" sz="2400" b="1" dirty="0">
                <a:solidFill>
                  <a:srgbClr val="F8FAFC"/>
                </a:solidFill>
              </a:rPr>
              <a:t>Inferencia: asociación entre estudio y clasificación</a:t>
            </a:r>
            <a:endParaRPr lang="en-US" sz="2400" dirty="0"/>
          </a:p>
        </p:txBody>
      </p:sp>
      <p:sp>
        <p:nvSpPr>
          <p:cNvPr id="3" name="Text 1"/>
          <p:cNvSpPr txBox="1"/>
          <p:nvPr/>
        </p:nvSpPr>
        <p:spPr>
          <a:xfrm>
            <a:off x="7589520" y="457200"/>
            <a:ext cx="1097280" cy="228600"/>
          </a:xfrm>
          <a:prstGeom prst="rect">
            <a:avLst/>
          </a:prstGeom>
          <a:noFill/>
          <a:ln/>
        </p:spPr>
        <p:txBody>
          <a:bodyPr wrap="square" lIns="0" tIns="0" rIns="0" bIns="0" rtlCol="0" anchor="ctr"/>
          <a:lstStyle/>
          <a:p>
            <a:pPr marL="0" indent="0" algn="r">
              <a:buNone/>
            </a:pPr>
            <a:r>
              <a:rPr lang="en-US" sz="1000" dirty="0">
                <a:solidFill>
                  <a:srgbClr val="22D3EE"/>
                </a:solidFill>
                <a:latin typeface="Consolas" pitchFamily="34" charset="0"/>
                <a:ea typeface="Consolas" pitchFamily="34" charset="-122"/>
                <a:cs typeface="Consolas" pitchFamily="34" charset="-120"/>
              </a:rPr>
              <a:t>FIG. 14</a:t>
            </a:r>
            <a:endParaRPr lang="en-US" sz="1000" dirty="0"/>
          </a:p>
        </p:txBody>
      </p:sp>
      <p:sp>
        <p:nvSpPr>
          <p:cNvPr id="4" name="Marco figura"/>
          <p:cNvSpPr/>
          <p:nvPr/>
        </p:nvSpPr>
        <p:spPr>
          <a:xfrm>
            <a:off x="1179181" y="1051560"/>
            <a:ext cx="6785637" cy="2514600"/>
          </a:xfrm>
          <a:prstGeom prst="rect">
            <a:avLst/>
          </a:prstGeom>
          <a:solidFill>
            <a:srgbClr val="0F1720"/>
          </a:solidFill>
          <a:ln w="12700">
            <a:solidFill>
              <a:srgbClr val="1F2D3A"/>
            </a:solidFill>
            <a:prstDash val="solid"/>
          </a:ln>
        </p:spPr>
      </p:sp>
      <p:sp>
        <p:nvSpPr>
          <p:cNvPr id="6" name="Text 3"/>
          <p:cNvSpPr txBox="1"/>
          <p:nvPr/>
        </p:nvSpPr>
        <p:spPr>
          <a:xfrm>
            <a:off x="457200" y="3630168"/>
            <a:ext cx="1828800" cy="228600"/>
          </a:xfrm>
          <a:prstGeom prst="rect">
            <a:avLst/>
          </a:prstGeom>
          <a:noFill/>
          <a:ln/>
        </p:spPr>
        <p:txBody>
          <a:bodyPr wrap="square" lIns="0" tIns="0" rIns="0" bIns="0" rtlCol="0" anchor="ctr"/>
          <a:lstStyle/>
          <a:p>
            <a:pPr marL="0" indent="0" algn="l">
              <a:buNone/>
            </a:pPr>
            <a:r>
              <a:rPr lang="en-US" sz="1000" dirty="0">
                <a:solidFill>
                  <a:srgbClr val="22D3EE"/>
                </a:solidFill>
                <a:latin typeface="Consolas" pitchFamily="34" charset="0"/>
                <a:ea typeface="Consolas" pitchFamily="34" charset="-122"/>
                <a:cs typeface="Consolas" pitchFamily="34" charset="-120"/>
              </a:rPr>
              <a:t>LECTURA</a:t>
            </a:r>
            <a:endParaRPr lang="en-US" sz="1000" dirty="0"/>
          </a:p>
        </p:txBody>
      </p:sp>
      <p:sp>
        <p:nvSpPr>
          <p:cNvPr id="7" name="Text 4"/>
          <p:cNvSpPr txBox="1"/>
          <p:nvPr/>
        </p:nvSpPr>
        <p:spPr>
          <a:xfrm>
            <a:off x="381485" y="3867912"/>
            <a:ext cx="8229600" cy="795528"/>
          </a:xfrm>
          <a:prstGeom prst="rect">
            <a:avLst/>
          </a:prstGeom>
          <a:noFill/>
          <a:ln/>
        </p:spPr>
        <p:txBody>
          <a:bodyPr wrap="square" lIns="0" tIns="0" rIns="0" bIns="0" rtlCol="0" anchor="t"/>
          <a:lstStyle/>
          <a:p>
            <a:pPr marL="152400" indent="-152400">
              <a:spcAft>
                <a:spcPts val="300"/>
              </a:spcAft>
              <a:buSzPct val="100000"/>
              <a:buChar char="•"/>
            </a:pPr>
            <a:r>
              <a:rPr lang="en-US" sz="1100" b="1" dirty="0">
                <a:solidFill>
                  <a:srgbClr val="F8FAFC"/>
                </a:solidFill>
              </a:rPr>
              <a:t>Hipótesis:</a:t>
            </a:r>
            <a:r>
              <a:rPr lang="en-US" sz="1100" dirty="0">
                <a:solidFill>
                  <a:srgbClr val="CBD5E1"/>
                </a:solidFill>
              </a:rPr>
              <a:t> H₀ las variables son independientes; H₁ están asociadas.</a:t>
            </a:r>
            <a:endParaRPr lang="en-US" sz="1100" dirty="0"/>
          </a:p>
          <a:p>
            <a:pPr marL="152400" indent="-152400">
              <a:spcAft>
                <a:spcPts val="300"/>
              </a:spcAft>
              <a:buSzPct val="100000"/>
              <a:buChar char="•"/>
            </a:pPr>
            <a:r>
              <a:rPr lang="en-US" sz="1100" b="1" dirty="0">
                <a:solidFill>
                  <a:srgbClr val="F8FAFC"/>
                </a:solidFill>
              </a:rPr>
              <a:t>Resultado:</a:t>
            </a:r>
            <a:r>
              <a:rPr lang="en-US" sz="1100" dirty="0">
                <a:solidFill>
                  <a:srgbClr val="CBD5E1"/>
                </a:solidFill>
              </a:rPr>
              <a:t> χ² = </a:t>
            </a:r>
            <a:r>
              <a:rPr lang="en-US" sz="1100" dirty="0" smtClean="0">
                <a:solidFill>
                  <a:srgbClr val="CBD5E1"/>
                </a:solidFill>
              </a:rPr>
              <a:t>30.652,5 </a:t>
            </a:r>
            <a:r>
              <a:rPr lang="en-US" sz="1100" dirty="0">
                <a:solidFill>
                  <a:srgbClr val="CBD5E1"/>
                </a:solidFill>
              </a:rPr>
              <a:t>(gl = 120), p &lt; 0,0001 y V de Cramér = </a:t>
            </a:r>
            <a:r>
              <a:rPr lang="en-US" sz="1100" dirty="0" smtClean="0">
                <a:solidFill>
                  <a:srgbClr val="CBD5E1"/>
                </a:solidFill>
              </a:rPr>
              <a:t>0,227 (</a:t>
            </a:r>
            <a:r>
              <a:rPr lang="en-US" sz="1100" dirty="0" err="1" smtClean="0">
                <a:solidFill>
                  <a:srgbClr val="CBD5E1"/>
                </a:solidFill>
              </a:rPr>
              <a:t>pequeña</a:t>
            </a:r>
            <a:r>
              <a:rPr lang="en-US" sz="1100" dirty="0" smtClean="0">
                <a:solidFill>
                  <a:srgbClr val="CBD5E1"/>
                </a:solidFill>
              </a:rPr>
              <a:t>) </a:t>
            </a:r>
            <a:r>
              <a:rPr lang="en-US" sz="1100" dirty="0" err="1">
                <a:solidFill>
                  <a:srgbClr val="CBD5E1"/>
                </a:solidFill>
              </a:rPr>
              <a:t>sobre</a:t>
            </a:r>
            <a:r>
              <a:rPr lang="en-US" sz="1100" dirty="0">
                <a:solidFill>
                  <a:srgbClr val="CBD5E1"/>
                </a:solidFill>
              </a:rPr>
              <a:t> </a:t>
            </a:r>
            <a:r>
              <a:rPr lang="es-ES" sz="1050" dirty="0" smtClean="0">
                <a:solidFill>
                  <a:schemeClr val="bg1"/>
                </a:solidFill>
              </a:rPr>
              <a:t>99.471</a:t>
            </a:r>
            <a:r>
              <a:rPr lang="en-US" sz="1100" dirty="0" smtClean="0">
                <a:solidFill>
                  <a:srgbClr val="CBD5E1"/>
                </a:solidFill>
              </a:rPr>
              <a:t> </a:t>
            </a:r>
            <a:r>
              <a:rPr lang="en-US" sz="1100" dirty="0" err="1">
                <a:solidFill>
                  <a:srgbClr val="CBD5E1"/>
                </a:solidFill>
              </a:rPr>
              <a:t>estudios</a:t>
            </a:r>
            <a:r>
              <a:rPr lang="en-US" sz="1100" dirty="0" smtClean="0">
                <a:solidFill>
                  <a:srgbClr val="CBD5E1"/>
                </a:solidFill>
              </a:rPr>
              <a:t>.</a:t>
            </a:r>
            <a:endParaRPr lang="en-US" sz="1100" dirty="0"/>
          </a:p>
          <a:p>
            <a:pPr marL="152400" indent="-152400">
              <a:spcAft>
                <a:spcPts val="300"/>
              </a:spcAft>
              <a:buSzPct val="100000"/>
              <a:buChar char="•"/>
            </a:pPr>
            <a:r>
              <a:rPr lang="en-US" sz="1100" b="1" dirty="0">
                <a:solidFill>
                  <a:srgbClr val="F8FAFC"/>
                </a:solidFill>
              </a:rPr>
              <a:t>Lectura:</a:t>
            </a:r>
            <a:r>
              <a:rPr lang="en-US" sz="1100" dirty="0">
                <a:solidFill>
                  <a:srgbClr val="CBD5E1"/>
                </a:solidFill>
              </a:rPr>
              <a:t> </a:t>
            </a:r>
            <a:r>
              <a:rPr lang="es-ES" sz="1000" dirty="0" smtClean="0">
                <a:solidFill>
                  <a:schemeClr val="bg1"/>
                </a:solidFill>
              </a:rPr>
              <a:t>Al ser el  </a:t>
            </a:r>
            <a:r>
              <a:rPr lang="es-ES" sz="1000" dirty="0" err="1" smtClean="0">
                <a:solidFill>
                  <a:schemeClr val="bg1"/>
                </a:solidFill>
              </a:rPr>
              <a:t>p_valor</a:t>
            </a:r>
            <a:r>
              <a:rPr lang="es-ES" sz="1000" dirty="0" smtClean="0">
                <a:solidFill>
                  <a:schemeClr val="bg1"/>
                </a:solidFill>
              </a:rPr>
              <a:t> sustancialmente menor que el nivel de significación configurado (</a:t>
            </a:r>
            <a:r>
              <a:rPr lang="es-ES" sz="1000" dirty="0" err="1" smtClean="0">
                <a:solidFill>
                  <a:schemeClr val="bg1"/>
                </a:solidFill>
              </a:rPr>
              <a:t>alpha</a:t>
            </a:r>
            <a:r>
              <a:rPr lang="es-ES" sz="1000" dirty="0" smtClean="0">
                <a:solidFill>
                  <a:schemeClr val="bg1"/>
                </a:solidFill>
              </a:rPr>
              <a:t> = 0,05)), </a:t>
            </a:r>
            <a:r>
              <a:rPr lang="es-ES" sz="1000" b="1" dirty="0" smtClean="0">
                <a:solidFill>
                  <a:schemeClr val="bg1"/>
                </a:solidFill>
              </a:rPr>
              <a:t>se rechaza formalmente la hipótesis nula </a:t>
            </a:r>
            <a:r>
              <a:rPr lang="es-ES" sz="1000" dirty="0" smtClean="0">
                <a:solidFill>
                  <a:schemeClr val="bg1"/>
                </a:solidFill>
              </a:rPr>
              <a:t> de independencia. Queda </a:t>
            </a:r>
            <a:r>
              <a:rPr lang="es-ES" sz="1000" dirty="0">
                <a:solidFill>
                  <a:schemeClr val="bg1"/>
                </a:solidFill>
              </a:rPr>
              <a:t>demostrado </a:t>
            </a:r>
            <a:r>
              <a:rPr lang="es-ES" sz="1000" dirty="0" smtClean="0">
                <a:solidFill>
                  <a:schemeClr val="bg1"/>
                </a:solidFill>
              </a:rPr>
              <a:t> </a:t>
            </a:r>
            <a:r>
              <a:rPr lang="es-ES" sz="1000" dirty="0">
                <a:solidFill>
                  <a:schemeClr val="bg1"/>
                </a:solidFill>
              </a:rPr>
              <a:t>que el tipo de estudio solicitado (Variable A) y el grupo de edad del paciente (Variable B) están fuertemente asociados y no distribuidos de forma azarosa.</a:t>
            </a:r>
          </a:p>
          <a:p>
            <a:pPr marL="152400" indent="-152400">
              <a:spcAft>
                <a:spcPts val="300"/>
              </a:spcAft>
              <a:buSzPct val="100000"/>
              <a:buChar char="•"/>
            </a:pPr>
            <a:endParaRPr lang="en-US" sz="1100" dirty="0"/>
          </a:p>
        </p:txBody>
      </p:sp>
      <p:sp>
        <p:nvSpPr>
          <p:cNvPr id="25" name="Slide Number Placeholder 0"/>
          <p:cNvSpPr>
            <a:spLocks noGrp="1"/>
          </p:cNvSpPr>
          <p:nvPr>
            <p:ph type="sldNum" sz="quarter" idx="4294967295"/>
          </p:nvPr>
        </p:nvSpPr>
        <p:spPr>
          <a:xfrm>
            <a:off x="8229600" y="4727448"/>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7C8BA1"/>
                </a:solidFill>
                <a:latin typeface="Consolas"/>
                <a:ea typeface="Consolas"/>
                <a:cs typeface="Consolas"/>
              </a:defRPr>
            </a:lvl1pPr>
          </a:lstStyle>
          <a:p>
            <a:pPr algn="r"/>
            <a:fld id="{F7021451-1387-4CA6-816F-3879F97B5CBC}" type="slidenum">
              <a:rPr lang="en-US" b="0"/>
              <a:t>28</a:t>
            </a:fld>
            <a:endParaRPr lang="en-US"/>
          </a:p>
        </p:txBody>
      </p:sp>
      <p:pic>
        <p:nvPicPr>
          <p:cNvPr id="9" name="Imagen 8"/>
          <p:cNvPicPr/>
          <p:nvPr/>
        </p:nvPicPr>
        <p:blipFill rotWithShape="1">
          <a:blip r:embed="rId3"/>
          <a:srcRect t="23021"/>
          <a:stretch/>
        </p:blipFill>
        <p:spPr>
          <a:xfrm>
            <a:off x="1275501" y="1106600"/>
            <a:ext cx="6616296" cy="2421233"/>
          </a:xfrm>
          <a:prstGeom prst="rect">
            <a:avLst/>
          </a:prstGeom>
        </p:spPr>
      </p:pic>
    </p:spTree>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9"/>
          <p:cNvSpPr>
            <a:spLocks noGrp="1"/>
          </p:cNvSpPr>
          <p:nvPr>
            <p:ph type="title" idx="109" hasCustomPrompt="1"/>
          </p:nvPr>
        </p:nvSpPr>
        <p:spPr>
          <a:xfrm>
            <a:off x="457200" y="226856"/>
            <a:ext cx="7040880" cy="685800"/>
          </a:xfrm>
          <a:prstGeom prst="rect">
            <a:avLst/>
          </a:prstGeom>
          <a:noFill/>
          <a:ln/>
        </p:spPr>
        <p:txBody>
          <a:bodyPr wrap="square" lIns="0" tIns="0" rIns="0" bIns="0" rtlCol="0" anchor="ctr"/>
          <a:lstStyle/>
          <a:p>
            <a:pPr marL="0" indent="0" algn="l">
              <a:buNone/>
            </a:pPr>
            <a:r>
              <a:rPr lang="en-US" sz="2400" b="1" dirty="0">
                <a:solidFill>
                  <a:srgbClr val="F8FAFC"/>
                </a:solidFill>
              </a:rPr>
              <a:t>Residuos ajustados estudio × clasificación (1/2)</a:t>
            </a:r>
            <a:endParaRPr lang="en-US" sz="2400" dirty="0"/>
          </a:p>
        </p:txBody>
      </p:sp>
      <p:sp>
        <p:nvSpPr>
          <p:cNvPr id="3" name="Text 1"/>
          <p:cNvSpPr txBox="1"/>
          <p:nvPr/>
        </p:nvSpPr>
        <p:spPr>
          <a:xfrm>
            <a:off x="7589520" y="457200"/>
            <a:ext cx="1097280" cy="228600"/>
          </a:xfrm>
          <a:prstGeom prst="rect">
            <a:avLst/>
          </a:prstGeom>
          <a:noFill/>
          <a:ln/>
        </p:spPr>
        <p:txBody>
          <a:bodyPr wrap="square" lIns="0" tIns="0" rIns="0" bIns="0" rtlCol="0" anchor="ctr"/>
          <a:lstStyle/>
          <a:p>
            <a:pPr marL="0" indent="0" algn="r">
              <a:buNone/>
            </a:pPr>
            <a:r>
              <a:rPr lang="en-US" sz="1000" dirty="0">
                <a:solidFill>
                  <a:srgbClr val="22D3EE"/>
                </a:solidFill>
                <a:latin typeface="Consolas" pitchFamily="34" charset="0"/>
                <a:ea typeface="Consolas" pitchFamily="34" charset="-122"/>
                <a:cs typeface="Consolas" pitchFamily="34" charset="-120"/>
              </a:rPr>
              <a:t>FIG. 15</a:t>
            </a:r>
            <a:endParaRPr lang="en-US" sz="1000" dirty="0"/>
          </a:p>
        </p:txBody>
      </p:sp>
      <p:sp>
        <p:nvSpPr>
          <p:cNvPr id="4" name="Marco figura"/>
          <p:cNvSpPr/>
          <p:nvPr/>
        </p:nvSpPr>
        <p:spPr>
          <a:xfrm>
            <a:off x="308683" y="859075"/>
            <a:ext cx="5543477" cy="3159626"/>
          </a:xfrm>
          <a:prstGeom prst="rect">
            <a:avLst/>
          </a:prstGeom>
          <a:solidFill>
            <a:srgbClr val="0F1720"/>
          </a:solidFill>
          <a:ln w="12700">
            <a:solidFill>
              <a:srgbClr val="1F2D3A"/>
            </a:solidFill>
            <a:prstDash val="solid"/>
          </a:ln>
        </p:spPr>
      </p:sp>
      <p:sp>
        <p:nvSpPr>
          <p:cNvPr id="6" name="Text 3"/>
          <p:cNvSpPr txBox="1"/>
          <p:nvPr/>
        </p:nvSpPr>
        <p:spPr>
          <a:xfrm>
            <a:off x="5943600" y="932456"/>
            <a:ext cx="1828800" cy="228600"/>
          </a:xfrm>
          <a:prstGeom prst="rect">
            <a:avLst/>
          </a:prstGeom>
          <a:noFill/>
          <a:ln/>
        </p:spPr>
        <p:txBody>
          <a:bodyPr wrap="square" lIns="0" tIns="0" rIns="0" bIns="0" rtlCol="0" anchor="ctr"/>
          <a:lstStyle/>
          <a:p>
            <a:pPr marL="0" indent="0" algn="l">
              <a:buNone/>
            </a:pPr>
            <a:r>
              <a:rPr lang="en-US" sz="1000" dirty="0">
                <a:solidFill>
                  <a:srgbClr val="22D3EE"/>
                </a:solidFill>
                <a:latin typeface="Consolas" pitchFamily="34" charset="0"/>
                <a:ea typeface="Consolas" pitchFamily="34" charset="-122"/>
                <a:cs typeface="Consolas" pitchFamily="34" charset="-120"/>
              </a:rPr>
              <a:t>LECTURA</a:t>
            </a:r>
            <a:endParaRPr lang="en-US" sz="1000" dirty="0"/>
          </a:p>
        </p:txBody>
      </p:sp>
      <p:sp>
        <p:nvSpPr>
          <p:cNvPr id="7" name="Text 4"/>
          <p:cNvSpPr txBox="1"/>
          <p:nvPr/>
        </p:nvSpPr>
        <p:spPr>
          <a:xfrm>
            <a:off x="5943600" y="1189303"/>
            <a:ext cx="2743200" cy="3200400"/>
          </a:xfrm>
          <a:prstGeom prst="rect">
            <a:avLst/>
          </a:prstGeom>
          <a:noFill/>
          <a:ln/>
        </p:spPr>
        <p:txBody>
          <a:bodyPr wrap="square" lIns="0" tIns="0" rIns="0" bIns="0" rtlCol="0" anchor="t"/>
          <a:lstStyle/>
          <a:p>
            <a:pPr marL="152400" indent="-152400">
              <a:spcAft>
                <a:spcPts val="600"/>
              </a:spcAft>
              <a:buSzPct val="100000"/>
              <a:buChar char="•"/>
            </a:pPr>
            <a:r>
              <a:rPr lang="es-ES" sz="1000" b="1" dirty="0">
                <a:solidFill>
                  <a:schemeClr val="bg1"/>
                </a:solidFill>
              </a:rPr>
              <a:t>Mamografía en el grupo 45-59 años (z = +72.9):</a:t>
            </a:r>
            <a:r>
              <a:rPr lang="es-ES" sz="1000" dirty="0">
                <a:solidFill>
                  <a:schemeClr val="bg1"/>
                </a:solidFill>
              </a:rPr>
              <a:t> Es el valor más alto y extremo de todo el panel. Un residuo de +72.9 es estadísticamente monumental (en ciencias de la salud, un valor mayor a +3 ya se considera altamente significativo</a:t>
            </a:r>
            <a:r>
              <a:rPr lang="es-ES" sz="1000" dirty="0" smtClean="0">
                <a:solidFill>
                  <a:schemeClr val="bg1"/>
                </a:solidFill>
              </a:rPr>
              <a:t>)</a:t>
            </a:r>
          </a:p>
          <a:p>
            <a:pPr marL="171450" indent="-171450">
              <a:buFont typeface="Arial" panose="020B0604020202020204" pitchFamily="34" charset="0"/>
              <a:buChar char="•"/>
            </a:pPr>
            <a:r>
              <a:rPr lang="es-ES" sz="1000" b="1" dirty="0">
                <a:solidFill>
                  <a:schemeClr val="bg1"/>
                </a:solidFill>
              </a:rPr>
              <a:t>Otros en el grupo 00-17 años (z = +51.1):</a:t>
            </a:r>
            <a:r>
              <a:rPr lang="es-ES" sz="1000" dirty="0">
                <a:solidFill>
                  <a:schemeClr val="bg1"/>
                </a:solidFill>
              </a:rPr>
              <a:t> La categoría de "Otros" estudios tiene una concentración masiva en la población pediátrica y juvenil. Esto </a:t>
            </a:r>
            <a:r>
              <a:rPr lang="es-ES" sz="1000" dirty="0" smtClean="0">
                <a:solidFill>
                  <a:schemeClr val="bg1"/>
                </a:solidFill>
              </a:rPr>
              <a:t>pudiera ocurrir  </a:t>
            </a:r>
            <a:r>
              <a:rPr lang="es-ES" sz="1000" dirty="0">
                <a:solidFill>
                  <a:schemeClr val="bg1"/>
                </a:solidFill>
              </a:rPr>
              <a:t>porque en niños y adolescentes se solicitan estudios muy específicos y menos estandarizados que no entran en las categorías principales de la adultez.</a:t>
            </a:r>
          </a:p>
          <a:p>
            <a:pPr marL="171450" indent="-171450">
              <a:buFont typeface="Arial" panose="020B0604020202020204" pitchFamily="34" charset="0"/>
              <a:buChar char="•"/>
            </a:pPr>
            <a:r>
              <a:rPr lang="es-ES" sz="1000" b="1" dirty="0">
                <a:solidFill>
                  <a:schemeClr val="bg1"/>
                </a:solidFill>
              </a:rPr>
              <a:t>Tomografía Computarizada de Senos Paranasales en 00-17 años (z = +27.6):</a:t>
            </a:r>
            <a:r>
              <a:rPr lang="es-ES" sz="1000" dirty="0">
                <a:solidFill>
                  <a:schemeClr val="bg1"/>
                </a:solidFill>
              </a:rPr>
              <a:t> Hay una fuerte asociación en menores, vinculada frecuentemente al diagnóstico clínico de sinusitis crónicas o malformaciones en el desarrollo de los senos faciales durante la infancia.</a:t>
            </a:r>
          </a:p>
          <a:p>
            <a:pPr marL="152400" indent="-152400">
              <a:spcAft>
                <a:spcPts val="600"/>
              </a:spcAft>
              <a:buSzPct val="100000"/>
              <a:buChar char="•"/>
            </a:pPr>
            <a:endParaRPr lang="en-US" sz="1100" dirty="0"/>
          </a:p>
        </p:txBody>
      </p:sp>
      <p:sp>
        <p:nvSpPr>
          <p:cNvPr id="25" name="Slide Number Placeholder 0"/>
          <p:cNvSpPr>
            <a:spLocks noGrp="1"/>
          </p:cNvSpPr>
          <p:nvPr>
            <p:ph type="sldNum" sz="quarter" idx="4294967295"/>
          </p:nvPr>
        </p:nvSpPr>
        <p:spPr>
          <a:xfrm>
            <a:off x="8229600" y="4727448"/>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7C8BA1"/>
                </a:solidFill>
                <a:latin typeface="Consolas"/>
                <a:ea typeface="Consolas"/>
                <a:cs typeface="Consolas"/>
              </a:defRPr>
            </a:lvl1pPr>
          </a:lstStyle>
          <a:p>
            <a:pPr algn="r"/>
            <a:fld id="{F7021451-1387-4CA6-816F-3879F97B5CBC}" type="slidenum">
              <a:rPr lang="en-US" b="0"/>
              <a:t>29</a:t>
            </a:fld>
            <a:endParaRPr lang="en-US"/>
          </a:p>
        </p:txBody>
      </p:sp>
      <p:pic>
        <p:nvPicPr>
          <p:cNvPr id="9" name="Imagen 8"/>
          <p:cNvPicPr/>
          <p:nvPr/>
        </p:nvPicPr>
        <p:blipFill>
          <a:blip r:embed="rId3"/>
          <a:stretch>
            <a:fillRect/>
          </a:stretch>
        </p:blipFill>
        <p:spPr>
          <a:xfrm>
            <a:off x="363220" y="963034"/>
            <a:ext cx="5400040" cy="2971165"/>
          </a:xfrm>
          <a:prstGeom prst="rect">
            <a:avLst/>
          </a:prstGeom>
        </p:spPr>
      </p:pic>
      <p:sp>
        <p:nvSpPr>
          <p:cNvPr id="8" name="CuadroTexto 7"/>
          <p:cNvSpPr txBox="1"/>
          <p:nvPr/>
        </p:nvSpPr>
        <p:spPr>
          <a:xfrm>
            <a:off x="363220" y="4216098"/>
            <a:ext cx="8274074" cy="677108"/>
          </a:xfrm>
          <a:prstGeom prst="rect">
            <a:avLst/>
          </a:prstGeom>
          <a:noFill/>
        </p:spPr>
        <p:txBody>
          <a:bodyPr wrap="square" rtlCol="0">
            <a:spAutoFit/>
          </a:bodyPr>
          <a:lstStyle/>
          <a:p>
            <a:r>
              <a:rPr lang="es-ES" sz="1000" b="1" dirty="0">
                <a:solidFill>
                  <a:schemeClr val="bg1"/>
                </a:solidFill>
              </a:rPr>
              <a:t>L</a:t>
            </a:r>
            <a:r>
              <a:rPr lang="es-ES" sz="1000" b="1" dirty="0" smtClean="0">
                <a:solidFill>
                  <a:schemeClr val="bg1"/>
                </a:solidFill>
              </a:rPr>
              <a:t>os </a:t>
            </a:r>
            <a:r>
              <a:rPr lang="es-ES" sz="1000" b="1" dirty="0">
                <a:solidFill>
                  <a:schemeClr val="bg1"/>
                </a:solidFill>
              </a:rPr>
              <a:t>valores absolutos mayores a 2 (|z| &gt; 2) indican que esa combinación ocurre más (rojo) o menos (azul) de lo esperado si todo fuera puramente aleatorio</a:t>
            </a:r>
            <a:r>
              <a:rPr lang="es-ES" sz="1000" dirty="0">
                <a:solidFill>
                  <a:schemeClr val="bg1"/>
                </a:solidFill>
              </a:rPr>
              <a:t>.</a:t>
            </a:r>
          </a:p>
          <a:p>
            <a:endParaRPr lang="es-ES" dirty="0"/>
          </a:p>
        </p:txBody>
      </p:sp>
    </p:spTree>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9"/>
          <p:cNvSpPr>
            <a:spLocks noGrp="1"/>
          </p:cNvSpPr>
          <p:nvPr>
            <p:ph type="title" idx="109" hasCustomPrompt="1"/>
          </p:nvPr>
        </p:nvSpPr>
        <p:spPr>
          <a:xfrm>
            <a:off x="457200" y="320040"/>
            <a:ext cx="7040880" cy="685800"/>
          </a:xfrm>
          <a:prstGeom prst="rect">
            <a:avLst/>
          </a:prstGeom>
          <a:noFill/>
          <a:ln/>
        </p:spPr>
        <p:txBody>
          <a:bodyPr wrap="square" lIns="0" tIns="0" rIns="0" bIns="0" rtlCol="0" anchor="ctr"/>
          <a:lstStyle/>
          <a:p>
            <a:pPr marL="0" indent="0" algn="l">
              <a:buNone/>
            </a:pPr>
            <a:r>
              <a:rPr lang="en-US" sz="2400" b="1" dirty="0">
                <a:solidFill>
                  <a:srgbClr val="F8FAFC"/>
                </a:solidFill>
              </a:rPr>
              <a:t>Residuos ajustados estudio × clasificación (1/2)</a:t>
            </a:r>
            <a:endParaRPr lang="en-US" sz="2400" dirty="0"/>
          </a:p>
        </p:txBody>
      </p:sp>
      <p:sp>
        <p:nvSpPr>
          <p:cNvPr id="3" name="Text 1"/>
          <p:cNvSpPr txBox="1"/>
          <p:nvPr/>
        </p:nvSpPr>
        <p:spPr>
          <a:xfrm>
            <a:off x="7589520" y="457200"/>
            <a:ext cx="1097280" cy="228600"/>
          </a:xfrm>
          <a:prstGeom prst="rect">
            <a:avLst/>
          </a:prstGeom>
          <a:noFill/>
          <a:ln/>
        </p:spPr>
        <p:txBody>
          <a:bodyPr wrap="square" lIns="0" tIns="0" rIns="0" bIns="0" rtlCol="0" anchor="ctr"/>
          <a:lstStyle/>
          <a:p>
            <a:pPr marL="0" indent="0" algn="r">
              <a:buNone/>
            </a:pPr>
            <a:r>
              <a:rPr lang="en-US" sz="1000" dirty="0">
                <a:solidFill>
                  <a:srgbClr val="22D3EE"/>
                </a:solidFill>
                <a:latin typeface="Consolas" pitchFamily="34" charset="0"/>
                <a:ea typeface="Consolas" pitchFamily="34" charset="-122"/>
                <a:cs typeface="Consolas" pitchFamily="34" charset="-120"/>
              </a:rPr>
              <a:t>FIG. 15</a:t>
            </a:r>
            <a:endParaRPr lang="en-US" sz="1000" dirty="0"/>
          </a:p>
        </p:txBody>
      </p:sp>
      <p:sp>
        <p:nvSpPr>
          <p:cNvPr id="4" name="Marco figura"/>
          <p:cNvSpPr/>
          <p:nvPr/>
        </p:nvSpPr>
        <p:spPr>
          <a:xfrm>
            <a:off x="411480" y="1389076"/>
            <a:ext cx="5303520" cy="2982568"/>
          </a:xfrm>
          <a:prstGeom prst="rect">
            <a:avLst/>
          </a:prstGeom>
          <a:solidFill>
            <a:srgbClr val="0F1720"/>
          </a:solidFill>
          <a:ln w="12700">
            <a:solidFill>
              <a:srgbClr val="1F2D3A"/>
            </a:solidFill>
            <a:prstDash val="solid"/>
          </a:ln>
        </p:spPr>
      </p:sp>
      <p:sp>
        <p:nvSpPr>
          <p:cNvPr id="6" name="Text 3"/>
          <p:cNvSpPr txBox="1"/>
          <p:nvPr/>
        </p:nvSpPr>
        <p:spPr>
          <a:xfrm>
            <a:off x="5943600" y="1188720"/>
            <a:ext cx="1828800" cy="228600"/>
          </a:xfrm>
          <a:prstGeom prst="rect">
            <a:avLst/>
          </a:prstGeom>
          <a:noFill/>
          <a:ln/>
        </p:spPr>
        <p:txBody>
          <a:bodyPr wrap="square" lIns="0" tIns="0" rIns="0" bIns="0" rtlCol="0" anchor="ctr"/>
          <a:lstStyle/>
          <a:p>
            <a:pPr marL="0" indent="0" algn="l">
              <a:buNone/>
            </a:pPr>
            <a:r>
              <a:rPr lang="en-US" sz="1000" dirty="0">
                <a:solidFill>
                  <a:srgbClr val="22D3EE"/>
                </a:solidFill>
                <a:latin typeface="Consolas" pitchFamily="34" charset="0"/>
                <a:ea typeface="Consolas" pitchFamily="34" charset="-122"/>
                <a:cs typeface="Consolas" pitchFamily="34" charset="-120"/>
              </a:rPr>
              <a:t>LECTURA</a:t>
            </a:r>
            <a:endParaRPr lang="en-US" sz="1000" dirty="0"/>
          </a:p>
        </p:txBody>
      </p:sp>
      <p:sp>
        <p:nvSpPr>
          <p:cNvPr id="7" name="Text 4"/>
          <p:cNvSpPr txBox="1"/>
          <p:nvPr/>
        </p:nvSpPr>
        <p:spPr>
          <a:xfrm>
            <a:off x="5943600" y="1463040"/>
            <a:ext cx="2743200" cy="3200400"/>
          </a:xfrm>
          <a:prstGeom prst="rect">
            <a:avLst/>
          </a:prstGeom>
          <a:noFill/>
          <a:ln/>
        </p:spPr>
        <p:txBody>
          <a:bodyPr wrap="square" lIns="0" tIns="0" rIns="0" bIns="0" rtlCol="0" anchor="t"/>
          <a:lstStyle/>
          <a:p>
            <a:r>
              <a:rPr lang="es-ES" sz="1000" dirty="0" smtClean="0">
                <a:solidFill>
                  <a:schemeClr val="bg1"/>
                </a:solidFill>
              </a:rPr>
              <a:t>Las </a:t>
            </a:r>
            <a:r>
              <a:rPr lang="es-ES" sz="1000" dirty="0">
                <a:solidFill>
                  <a:schemeClr val="bg1"/>
                </a:solidFill>
              </a:rPr>
              <a:t>celdas azules indican combinaciones que ocurren </a:t>
            </a:r>
            <a:r>
              <a:rPr lang="es-ES" sz="1000" b="1" dirty="0">
                <a:solidFill>
                  <a:schemeClr val="bg1"/>
                </a:solidFill>
              </a:rPr>
              <a:t>mucho menos</a:t>
            </a:r>
            <a:r>
              <a:rPr lang="es-ES" sz="1000" dirty="0">
                <a:solidFill>
                  <a:schemeClr val="bg1"/>
                </a:solidFill>
              </a:rPr>
              <a:t> de lo que dictaría el </a:t>
            </a:r>
            <a:r>
              <a:rPr lang="es-ES" sz="1000" dirty="0" smtClean="0">
                <a:solidFill>
                  <a:schemeClr val="bg1"/>
                </a:solidFill>
              </a:rPr>
              <a:t>azar:</a:t>
            </a:r>
          </a:p>
          <a:p>
            <a:endParaRPr lang="es-ES" sz="1000" dirty="0">
              <a:solidFill>
                <a:schemeClr val="bg1"/>
              </a:solidFill>
            </a:endParaRPr>
          </a:p>
          <a:p>
            <a:r>
              <a:rPr lang="es-ES" sz="1000" b="1" dirty="0">
                <a:solidFill>
                  <a:schemeClr val="bg1"/>
                </a:solidFill>
              </a:rPr>
              <a:t>Mamografía en "SIN DATO" (z = -64.2) y grupos jóvenes (z = -33.3 y -27.2):</a:t>
            </a:r>
            <a:r>
              <a:rPr lang="es-ES" sz="1000" dirty="0">
                <a:solidFill>
                  <a:schemeClr val="bg1"/>
                </a:solidFill>
              </a:rPr>
              <a:t> Es el bloque azul más denso de la matriz. Confirma que el sistema casi no registra mamografías en pacientes sin edad mapeada o en menores de 30 </a:t>
            </a:r>
            <a:r>
              <a:rPr lang="es-ES" sz="1000" dirty="0" smtClean="0">
                <a:solidFill>
                  <a:schemeClr val="bg1"/>
                </a:solidFill>
              </a:rPr>
              <a:t>años</a:t>
            </a:r>
          </a:p>
          <a:p>
            <a:endParaRPr lang="es-ES" sz="1000" dirty="0">
              <a:solidFill>
                <a:schemeClr val="bg1"/>
              </a:solidFill>
            </a:endParaRPr>
          </a:p>
          <a:p>
            <a:r>
              <a:rPr lang="es-ES" sz="1000" b="1" dirty="0">
                <a:solidFill>
                  <a:schemeClr val="bg1"/>
                </a:solidFill>
              </a:rPr>
              <a:t>Tomografía Computarizada de Cráneo en "SIN DATO" (z = -46.8):</a:t>
            </a:r>
            <a:r>
              <a:rPr lang="es-ES" sz="1000" dirty="0">
                <a:solidFill>
                  <a:schemeClr val="bg1"/>
                </a:solidFill>
              </a:rPr>
              <a:t> Muestra una tasa muy baja de datos perdidos, lo que sugiere que al ser un estudio de urgencia neurológica o alta complejidad, los administrativos y técnicos se aseguran de registrar rigurosamente la edad del paciente en la cabecera del informe.</a:t>
            </a:r>
          </a:p>
          <a:p>
            <a:pPr marL="152400" indent="-152400">
              <a:spcAft>
                <a:spcPts val="600"/>
              </a:spcAft>
              <a:buSzPct val="100000"/>
              <a:buChar char="•"/>
            </a:pPr>
            <a:endParaRPr lang="en-US" sz="1100" dirty="0"/>
          </a:p>
        </p:txBody>
      </p:sp>
      <p:sp>
        <p:nvSpPr>
          <p:cNvPr id="25" name="Slide Number Placeholder 0"/>
          <p:cNvSpPr>
            <a:spLocks noGrp="1"/>
          </p:cNvSpPr>
          <p:nvPr>
            <p:ph type="sldNum" sz="quarter" idx="4294967295"/>
          </p:nvPr>
        </p:nvSpPr>
        <p:spPr>
          <a:xfrm>
            <a:off x="8229600" y="4727448"/>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7C8BA1"/>
                </a:solidFill>
                <a:latin typeface="Consolas"/>
                <a:ea typeface="Consolas"/>
                <a:cs typeface="Consolas"/>
              </a:defRPr>
            </a:lvl1pPr>
          </a:lstStyle>
          <a:p>
            <a:pPr algn="r"/>
            <a:fld id="{F7021451-1387-4CA6-816F-3879F97B5CBC}" type="slidenum">
              <a:rPr lang="en-US" b="0"/>
              <a:t>30</a:t>
            </a:fld>
            <a:endParaRPr lang="en-US"/>
          </a:p>
        </p:txBody>
      </p:sp>
      <p:pic>
        <p:nvPicPr>
          <p:cNvPr id="9" name="Imagen 8"/>
          <p:cNvPicPr/>
          <p:nvPr/>
        </p:nvPicPr>
        <p:blipFill>
          <a:blip r:embed="rId3"/>
          <a:stretch>
            <a:fillRect/>
          </a:stretch>
        </p:blipFill>
        <p:spPr>
          <a:xfrm>
            <a:off x="363220" y="1417320"/>
            <a:ext cx="5400040" cy="2971165"/>
          </a:xfrm>
          <a:prstGeom prst="rect">
            <a:avLst/>
          </a:prstGeom>
        </p:spPr>
      </p:pic>
    </p:spTree>
    <p:extLst>
      <p:ext uri="{BB962C8B-B14F-4D97-AF65-F5344CB8AC3E}">
        <p14:creationId xmlns:p14="http://schemas.microsoft.com/office/powerpoint/2010/main" val="727532491"/>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9"/>
          <p:cNvSpPr>
            <a:spLocks noGrp="1"/>
          </p:cNvSpPr>
          <p:nvPr>
            <p:ph type="title" idx="109" hasCustomPrompt="1"/>
          </p:nvPr>
        </p:nvSpPr>
        <p:spPr>
          <a:xfrm>
            <a:off x="457200" y="320040"/>
            <a:ext cx="7040880" cy="685800"/>
          </a:xfrm>
          <a:prstGeom prst="rect">
            <a:avLst/>
          </a:prstGeom>
          <a:noFill/>
          <a:ln/>
        </p:spPr>
        <p:txBody>
          <a:bodyPr wrap="square" lIns="0" tIns="0" rIns="0" bIns="0" rtlCol="0" anchor="ctr"/>
          <a:lstStyle/>
          <a:p>
            <a:pPr marL="0" indent="0" algn="l">
              <a:buNone/>
            </a:pPr>
            <a:r>
              <a:rPr lang="en-US" sz="2400" b="1" dirty="0">
                <a:solidFill>
                  <a:srgbClr val="F8FAFC"/>
                </a:solidFill>
              </a:rPr>
              <a:t>Tasa de RELEVANTES por estudio: contraste</a:t>
            </a:r>
            <a:endParaRPr lang="en-US" sz="2400" dirty="0"/>
          </a:p>
        </p:txBody>
      </p:sp>
      <p:sp>
        <p:nvSpPr>
          <p:cNvPr id="3" name="Text 1"/>
          <p:cNvSpPr txBox="1"/>
          <p:nvPr/>
        </p:nvSpPr>
        <p:spPr>
          <a:xfrm>
            <a:off x="7589520" y="457200"/>
            <a:ext cx="1097280" cy="228600"/>
          </a:xfrm>
          <a:prstGeom prst="rect">
            <a:avLst/>
          </a:prstGeom>
          <a:noFill/>
          <a:ln/>
        </p:spPr>
        <p:txBody>
          <a:bodyPr wrap="square" lIns="0" tIns="0" rIns="0" bIns="0" rtlCol="0" anchor="ctr"/>
          <a:lstStyle/>
          <a:p>
            <a:pPr marL="0" indent="0" algn="r">
              <a:buNone/>
            </a:pPr>
            <a:r>
              <a:rPr lang="en-US" sz="1000" dirty="0">
                <a:solidFill>
                  <a:srgbClr val="22D3EE"/>
                </a:solidFill>
                <a:latin typeface="Consolas" pitchFamily="34" charset="0"/>
                <a:ea typeface="Consolas" pitchFamily="34" charset="-122"/>
                <a:cs typeface="Consolas" pitchFamily="34" charset="-120"/>
              </a:rPr>
              <a:t>FIG. 17</a:t>
            </a:r>
            <a:endParaRPr lang="en-US" sz="1000" dirty="0"/>
          </a:p>
        </p:txBody>
      </p:sp>
      <p:sp>
        <p:nvSpPr>
          <p:cNvPr id="4" name="Marco figura"/>
          <p:cNvSpPr/>
          <p:nvPr/>
        </p:nvSpPr>
        <p:spPr>
          <a:xfrm>
            <a:off x="678089" y="1060704"/>
            <a:ext cx="6984081" cy="2514600"/>
          </a:xfrm>
          <a:prstGeom prst="rect">
            <a:avLst/>
          </a:prstGeom>
          <a:solidFill>
            <a:srgbClr val="0F1720"/>
          </a:solidFill>
          <a:ln w="12700">
            <a:solidFill>
              <a:srgbClr val="1F2D3A"/>
            </a:solidFill>
            <a:prstDash val="solid"/>
          </a:ln>
        </p:spPr>
      </p:sp>
      <p:sp>
        <p:nvSpPr>
          <p:cNvPr id="6" name="Text 3"/>
          <p:cNvSpPr txBox="1"/>
          <p:nvPr/>
        </p:nvSpPr>
        <p:spPr>
          <a:xfrm>
            <a:off x="457200" y="3630168"/>
            <a:ext cx="1828800" cy="228600"/>
          </a:xfrm>
          <a:prstGeom prst="rect">
            <a:avLst/>
          </a:prstGeom>
          <a:noFill/>
          <a:ln/>
        </p:spPr>
        <p:txBody>
          <a:bodyPr wrap="square" lIns="0" tIns="0" rIns="0" bIns="0" rtlCol="0" anchor="ctr"/>
          <a:lstStyle/>
          <a:p>
            <a:pPr marL="0" indent="0" algn="l">
              <a:buNone/>
            </a:pPr>
            <a:r>
              <a:rPr lang="en-US" sz="1000" dirty="0">
                <a:solidFill>
                  <a:srgbClr val="22D3EE"/>
                </a:solidFill>
                <a:latin typeface="Consolas" pitchFamily="34" charset="0"/>
                <a:ea typeface="Consolas" pitchFamily="34" charset="-122"/>
                <a:cs typeface="Consolas" pitchFamily="34" charset="-120"/>
              </a:rPr>
              <a:t>LECTURA</a:t>
            </a:r>
            <a:endParaRPr lang="en-US" sz="1000" dirty="0"/>
          </a:p>
        </p:txBody>
      </p:sp>
      <p:sp>
        <p:nvSpPr>
          <p:cNvPr id="7" name="Text 4"/>
          <p:cNvSpPr txBox="1"/>
          <p:nvPr/>
        </p:nvSpPr>
        <p:spPr>
          <a:xfrm>
            <a:off x="457200" y="3867912"/>
            <a:ext cx="8229600" cy="795528"/>
          </a:xfrm>
          <a:prstGeom prst="rect">
            <a:avLst/>
          </a:prstGeom>
          <a:noFill/>
          <a:ln/>
        </p:spPr>
        <p:txBody>
          <a:bodyPr wrap="square" lIns="0" tIns="0" rIns="0" bIns="0" rtlCol="0" anchor="t"/>
          <a:lstStyle/>
          <a:p>
            <a:pPr marL="152400" indent="-152400">
              <a:spcAft>
                <a:spcPts val="300"/>
              </a:spcAft>
              <a:buSzPct val="100000"/>
              <a:buChar char="•"/>
            </a:pPr>
            <a:r>
              <a:rPr lang="es-ES" sz="1000" b="1" dirty="0">
                <a:solidFill>
                  <a:schemeClr val="bg1"/>
                </a:solidFill>
              </a:rPr>
              <a:t>Tasa Global de Relevantes (18.13%):</a:t>
            </a:r>
            <a:r>
              <a:rPr lang="es-ES" sz="1000" dirty="0">
                <a:solidFill>
                  <a:schemeClr val="bg1"/>
                </a:solidFill>
              </a:rPr>
              <a:t> Establece la línea de base general del sistema. Significa que, de manera consolidada, aproximadamente </a:t>
            </a:r>
            <a:r>
              <a:rPr lang="es-ES" sz="1000" b="1" dirty="0">
                <a:solidFill>
                  <a:schemeClr val="bg1"/>
                </a:solidFill>
              </a:rPr>
              <a:t>1 de cada 5 estudios procesados</a:t>
            </a:r>
            <a:r>
              <a:rPr lang="es-ES" sz="1000" dirty="0">
                <a:solidFill>
                  <a:schemeClr val="bg1"/>
                </a:solidFill>
              </a:rPr>
              <a:t> por la IA local arroja un hallazgo patológico activo (marcado en rojo mediante las heurísticas de términos médicos). El intervalo de confianza (IC) global es muy estrecho (</a:t>
            </a:r>
            <a:r>
              <a:rPr lang="es-ES" sz="1000" b="1" dirty="0">
                <a:solidFill>
                  <a:schemeClr val="bg1"/>
                </a:solidFill>
              </a:rPr>
              <a:t>17.89% - 18.37%</a:t>
            </a:r>
            <a:r>
              <a:rPr lang="es-ES" sz="1000" dirty="0">
                <a:solidFill>
                  <a:schemeClr val="bg1"/>
                </a:solidFill>
              </a:rPr>
              <a:t>), lo que certifica la enorme estabilidad estadística otorgada por el gran volumen de la muestra (N ≈ 99.471</a:t>
            </a:r>
            <a:r>
              <a:rPr lang="es-ES" sz="1000" dirty="0" smtClean="0">
                <a:solidFill>
                  <a:schemeClr val="bg1"/>
                </a:solidFill>
              </a:rPr>
              <a:t>).</a:t>
            </a:r>
          </a:p>
          <a:p>
            <a:pPr marL="152400" indent="-152400">
              <a:spcAft>
                <a:spcPts val="300"/>
              </a:spcAft>
              <a:buSzPct val="100000"/>
              <a:buChar char="•"/>
            </a:pPr>
            <a:r>
              <a:rPr lang="es-ES" sz="1000" dirty="0">
                <a:solidFill>
                  <a:schemeClr val="bg1"/>
                </a:solidFill>
              </a:rPr>
              <a:t>Tras aplicar la </a:t>
            </a:r>
            <a:r>
              <a:rPr lang="es-ES" sz="1000" b="1" dirty="0">
                <a:solidFill>
                  <a:schemeClr val="bg1"/>
                </a:solidFill>
              </a:rPr>
              <a:t>corrección de </a:t>
            </a:r>
            <a:r>
              <a:rPr lang="es-ES" sz="1000" b="1" dirty="0" err="1">
                <a:solidFill>
                  <a:schemeClr val="bg1"/>
                </a:solidFill>
              </a:rPr>
              <a:t>Holm</a:t>
            </a:r>
            <a:r>
              <a:rPr lang="es-ES" sz="1000" dirty="0">
                <a:solidFill>
                  <a:schemeClr val="bg1"/>
                </a:solidFill>
              </a:rPr>
              <a:t> para comparaciones múltiples, el sistema determina que </a:t>
            </a:r>
            <a:r>
              <a:rPr lang="es-ES" sz="1000" b="1" dirty="0">
                <a:solidFill>
                  <a:schemeClr val="bg1"/>
                </a:solidFill>
              </a:rPr>
              <a:t>6 de los 7 segmentos difieren significativamente del resto</a:t>
            </a:r>
            <a:endParaRPr lang="en-US" sz="1000" dirty="0">
              <a:solidFill>
                <a:schemeClr val="bg1"/>
              </a:solidFill>
            </a:endParaRPr>
          </a:p>
        </p:txBody>
      </p:sp>
      <p:sp>
        <p:nvSpPr>
          <p:cNvPr id="25" name="Slide Number Placeholder 0"/>
          <p:cNvSpPr>
            <a:spLocks noGrp="1"/>
          </p:cNvSpPr>
          <p:nvPr>
            <p:ph type="sldNum" sz="quarter" idx="4294967295"/>
          </p:nvPr>
        </p:nvSpPr>
        <p:spPr>
          <a:xfrm>
            <a:off x="8229600" y="4727448"/>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7C8BA1"/>
                </a:solidFill>
                <a:latin typeface="Consolas"/>
                <a:ea typeface="Consolas"/>
                <a:cs typeface="Consolas"/>
              </a:defRPr>
            </a:lvl1pPr>
          </a:lstStyle>
          <a:p>
            <a:pPr algn="r"/>
            <a:fld id="{F7021451-1387-4CA6-816F-3879F97B5CBC}" type="slidenum">
              <a:rPr lang="en-US" b="0"/>
              <a:t>31</a:t>
            </a:fld>
            <a:endParaRPr lang="en-US"/>
          </a:p>
        </p:txBody>
      </p:sp>
      <p:pic>
        <p:nvPicPr>
          <p:cNvPr id="9" name="Imagen 8"/>
          <p:cNvPicPr/>
          <p:nvPr/>
        </p:nvPicPr>
        <p:blipFill>
          <a:blip r:embed="rId3"/>
          <a:stretch>
            <a:fillRect/>
          </a:stretch>
        </p:blipFill>
        <p:spPr>
          <a:xfrm>
            <a:off x="1143954" y="1082104"/>
            <a:ext cx="5400040" cy="2389505"/>
          </a:xfrm>
          <a:prstGeom prst="rect">
            <a:avLst/>
          </a:prstGeom>
        </p:spPr>
      </p:pic>
    </p:spTree>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9"/>
          <p:cNvSpPr>
            <a:spLocks noGrp="1"/>
          </p:cNvSpPr>
          <p:nvPr>
            <p:ph type="title" idx="109" hasCustomPrompt="1"/>
          </p:nvPr>
        </p:nvSpPr>
        <p:spPr>
          <a:xfrm>
            <a:off x="457200" y="320040"/>
            <a:ext cx="7040880" cy="685800"/>
          </a:xfrm>
          <a:prstGeom prst="rect">
            <a:avLst/>
          </a:prstGeom>
          <a:noFill/>
          <a:ln/>
        </p:spPr>
        <p:txBody>
          <a:bodyPr wrap="square" lIns="0" tIns="0" rIns="0" bIns="0" rtlCol="0" anchor="ctr"/>
          <a:lstStyle/>
          <a:p>
            <a:pPr marL="0" indent="0" algn="l">
              <a:buNone/>
            </a:pPr>
            <a:r>
              <a:rPr lang="en-US" sz="2400" b="1" dirty="0">
                <a:solidFill>
                  <a:srgbClr val="F8FAFC"/>
                </a:solidFill>
              </a:rPr>
              <a:t>Estudios por encima y por debajo de la media</a:t>
            </a:r>
            <a:endParaRPr lang="en-US" sz="2400" dirty="0"/>
          </a:p>
        </p:txBody>
      </p:sp>
      <p:sp>
        <p:nvSpPr>
          <p:cNvPr id="3" name="Text 1"/>
          <p:cNvSpPr txBox="1"/>
          <p:nvPr/>
        </p:nvSpPr>
        <p:spPr>
          <a:xfrm>
            <a:off x="7589520" y="457200"/>
            <a:ext cx="1097280" cy="228600"/>
          </a:xfrm>
          <a:prstGeom prst="rect">
            <a:avLst/>
          </a:prstGeom>
          <a:noFill/>
          <a:ln/>
        </p:spPr>
        <p:txBody>
          <a:bodyPr wrap="square" lIns="0" tIns="0" rIns="0" bIns="0" rtlCol="0" anchor="ctr"/>
          <a:lstStyle/>
          <a:p>
            <a:pPr marL="0" indent="0" algn="r">
              <a:buNone/>
            </a:pPr>
            <a:r>
              <a:rPr lang="en-US" sz="1000" dirty="0">
                <a:solidFill>
                  <a:srgbClr val="22D3EE"/>
                </a:solidFill>
                <a:latin typeface="Consolas" pitchFamily="34" charset="0"/>
                <a:ea typeface="Consolas" pitchFamily="34" charset="-122"/>
                <a:cs typeface="Consolas" pitchFamily="34" charset="-120"/>
              </a:rPr>
              <a:t>FIG. 18</a:t>
            </a:r>
            <a:endParaRPr lang="en-US" sz="1000" dirty="0"/>
          </a:p>
        </p:txBody>
      </p:sp>
      <p:sp>
        <p:nvSpPr>
          <p:cNvPr id="4" name="Marco figura"/>
          <p:cNvSpPr/>
          <p:nvPr/>
        </p:nvSpPr>
        <p:spPr>
          <a:xfrm>
            <a:off x="411480" y="1635460"/>
            <a:ext cx="5303520" cy="2489801"/>
          </a:xfrm>
          <a:prstGeom prst="rect">
            <a:avLst/>
          </a:prstGeom>
          <a:solidFill>
            <a:srgbClr val="0F1720"/>
          </a:solidFill>
          <a:ln w="12700">
            <a:solidFill>
              <a:srgbClr val="1F2D3A"/>
            </a:solidFill>
            <a:prstDash val="solid"/>
          </a:ln>
        </p:spPr>
      </p:sp>
      <p:pic>
        <p:nvPicPr>
          <p:cNvPr id="5" name="Image 0" descr="Estudios por encima y por debajo de la media"/>
          <p:cNvPicPr>
            <a:picLocks noChangeAspect="1"/>
          </p:cNvPicPr>
          <p:nvPr/>
        </p:nvPicPr>
        <p:blipFill>
          <a:blip r:embed="rId3"/>
          <a:stretch>
            <a:fillRect/>
          </a:stretch>
        </p:blipFill>
        <p:spPr>
          <a:xfrm>
            <a:off x="457200" y="1681180"/>
            <a:ext cx="5212080" cy="2398361"/>
          </a:xfrm>
          <a:prstGeom prst="rect">
            <a:avLst/>
          </a:prstGeom>
        </p:spPr>
      </p:pic>
      <p:sp>
        <p:nvSpPr>
          <p:cNvPr id="6" name="Text 3"/>
          <p:cNvSpPr txBox="1"/>
          <p:nvPr/>
        </p:nvSpPr>
        <p:spPr>
          <a:xfrm>
            <a:off x="5943600" y="1188720"/>
            <a:ext cx="1828800" cy="228600"/>
          </a:xfrm>
          <a:prstGeom prst="rect">
            <a:avLst/>
          </a:prstGeom>
          <a:noFill/>
          <a:ln/>
        </p:spPr>
        <p:txBody>
          <a:bodyPr wrap="square" lIns="0" tIns="0" rIns="0" bIns="0" rtlCol="0" anchor="ctr"/>
          <a:lstStyle/>
          <a:p>
            <a:pPr marL="0" indent="0" algn="l">
              <a:buNone/>
            </a:pPr>
            <a:r>
              <a:rPr lang="en-US" sz="1000" dirty="0">
                <a:solidFill>
                  <a:srgbClr val="22D3EE"/>
                </a:solidFill>
                <a:latin typeface="Consolas" pitchFamily="34" charset="0"/>
                <a:ea typeface="Consolas" pitchFamily="34" charset="-122"/>
                <a:cs typeface="Consolas" pitchFamily="34" charset="-120"/>
              </a:rPr>
              <a:t>LECTURA</a:t>
            </a:r>
            <a:endParaRPr lang="en-US" sz="1000" dirty="0"/>
          </a:p>
        </p:txBody>
      </p:sp>
      <p:sp>
        <p:nvSpPr>
          <p:cNvPr id="7" name="Text 4"/>
          <p:cNvSpPr txBox="1"/>
          <p:nvPr/>
        </p:nvSpPr>
        <p:spPr>
          <a:xfrm>
            <a:off x="5943600" y="1463040"/>
            <a:ext cx="2743200" cy="3200400"/>
          </a:xfrm>
          <a:prstGeom prst="rect">
            <a:avLst/>
          </a:prstGeom>
          <a:noFill/>
          <a:ln/>
        </p:spPr>
        <p:txBody>
          <a:bodyPr wrap="square" lIns="0" tIns="0" rIns="0" bIns="0" rtlCol="0" anchor="t"/>
          <a:lstStyle/>
          <a:p>
            <a:pPr marL="152400" indent="-152400">
              <a:spcAft>
                <a:spcPts val="600"/>
              </a:spcAft>
              <a:buSzPct val="100000"/>
              <a:buChar char="•"/>
            </a:pPr>
            <a:r>
              <a:rPr lang="en-US" sz="1100" b="1" dirty="0">
                <a:solidFill>
                  <a:srgbClr val="F8FAFC"/>
                </a:solidFill>
              </a:rPr>
              <a:t>Cerca de la media (gris, no significativos):</a:t>
            </a:r>
            <a:r>
              <a:rPr lang="en-US" sz="1100" dirty="0">
                <a:solidFill>
                  <a:srgbClr val="CBD5E1"/>
                </a:solidFill>
              </a:rPr>
              <a:t> columna cervical y lumbar, mamografía rutinaria, TAC de cráneo.</a:t>
            </a:r>
            <a:endParaRPr lang="en-US" sz="1100" dirty="0"/>
          </a:p>
          <a:p>
            <a:pPr marL="152400" indent="-152400">
              <a:spcAft>
                <a:spcPts val="600"/>
              </a:spcAft>
              <a:buSzPct val="100000"/>
              <a:buChar char="•"/>
            </a:pPr>
            <a:r>
              <a:rPr lang="en-US" sz="1100" b="1" dirty="0">
                <a:solidFill>
                  <a:srgbClr val="F8FAFC"/>
                </a:solidFill>
              </a:rPr>
              <a:t>Muy por encima (rojo):</a:t>
            </a:r>
            <a:r>
              <a:rPr lang="en-US" sz="1100" dirty="0">
                <a:solidFill>
                  <a:srgbClr val="CBD5E1"/>
                </a:solidFill>
              </a:rPr>
              <a:t> radiografía de tórax PA, RM de rodilla, tórax PA, RM de hombro y mamografía bilateral con proyecciones.</a:t>
            </a:r>
            <a:endParaRPr lang="en-US" sz="1100" dirty="0"/>
          </a:p>
          <a:p>
            <a:pPr marL="152400" indent="-152400">
              <a:spcAft>
                <a:spcPts val="600"/>
              </a:spcAft>
              <a:buSzPct val="100000"/>
              <a:buChar char="•"/>
            </a:pPr>
            <a:r>
              <a:rPr lang="en-US" sz="1100" b="1" dirty="0">
                <a:solidFill>
                  <a:srgbClr val="F8FAFC"/>
                </a:solidFill>
              </a:rPr>
              <a:t>Por debajo:</a:t>
            </a:r>
            <a:r>
              <a:rPr lang="en-US" sz="1100" dirty="0">
                <a:solidFill>
                  <a:srgbClr val="CBD5E1"/>
                </a:solidFill>
              </a:rPr>
              <a:t> TC de cráneo técnica y mamografía, con tasas inferiores a la global.</a:t>
            </a:r>
            <a:endParaRPr lang="en-US" sz="1100" dirty="0"/>
          </a:p>
        </p:txBody>
      </p:sp>
      <p:sp>
        <p:nvSpPr>
          <p:cNvPr id="25" name="Slide Number Placeholder 0"/>
          <p:cNvSpPr>
            <a:spLocks noGrp="1"/>
          </p:cNvSpPr>
          <p:nvPr>
            <p:ph type="sldNum" sz="quarter" idx="4294967295"/>
          </p:nvPr>
        </p:nvSpPr>
        <p:spPr>
          <a:xfrm>
            <a:off x="8229600" y="4727448"/>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7C8BA1"/>
                </a:solidFill>
                <a:latin typeface="Consolas"/>
                <a:ea typeface="Consolas"/>
                <a:cs typeface="Consolas"/>
              </a:defRPr>
            </a:lvl1pPr>
          </a:lstStyle>
          <a:p>
            <a:pPr algn="r"/>
            <a:fld id="{F7021451-1387-4CA6-816F-3879F97B5CBC}" type="slidenum">
              <a:rPr lang="en-US" b="0"/>
              <a:t>32</a:t>
            </a:fld>
            <a:endParaRPr lang="en-US"/>
          </a:p>
        </p:txBody>
      </p:sp>
    </p:spTree>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9"/>
          <p:cNvSpPr>
            <a:spLocks noGrp="1"/>
          </p:cNvSpPr>
          <p:nvPr>
            <p:ph type="title" idx="109" hasCustomPrompt="1"/>
          </p:nvPr>
        </p:nvSpPr>
        <p:spPr>
          <a:xfrm>
            <a:off x="457200" y="320040"/>
            <a:ext cx="7040880" cy="685800"/>
          </a:xfrm>
          <a:prstGeom prst="rect">
            <a:avLst/>
          </a:prstGeom>
          <a:noFill/>
          <a:ln/>
        </p:spPr>
        <p:txBody>
          <a:bodyPr wrap="square" lIns="0" tIns="0" rIns="0" bIns="0" rtlCol="0" anchor="ctr"/>
          <a:lstStyle/>
          <a:p>
            <a:pPr marL="0" indent="0" algn="l">
              <a:buNone/>
            </a:pPr>
            <a:r>
              <a:rPr lang="en-US" sz="2400" b="1" dirty="0" err="1">
                <a:solidFill>
                  <a:srgbClr val="F8FAFC"/>
                </a:solidFill>
              </a:rPr>
              <a:t>Estudios</a:t>
            </a:r>
            <a:r>
              <a:rPr lang="en-US" sz="2400" b="1" dirty="0">
                <a:solidFill>
                  <a:srgbClr val="F8FAFC"/>
                </a:solidFill>
              </a:rPr>
              <a:t> </a:t>
            </a:r>
            <a:r>
              <a:rPr lang="en-US" sz="2400" b="1" dirty="0" smtClean="0">
                <a:solidFill>
                  <a:srgbClr val="F8FAFC"/>
                </a:solidFill>
              </a:rPr>
              <a:t> </a:t>
            </a:r>
            <a:r>
              <a:rPr lang="en-US" sz="2400" b="1" dirty="0" err="1" smtClean="0">
                <a:solidFill>
                  <a:srgbClr val="F8FAFC"/>
                </a:solidFill>
              </a:rPr>
              <a:t>Edad</a:t>
            </a:r>
            <a:r>
              <a:rPr lang="en-US" sz="2400" b="1" dirty="0" smtClean="0">
                <a:solidFill>
                  <a:srgbClr val="F8FAFC"/>
                </a:solidFill>
              </a:rPr>
              <a:t>(ANOVA)</a:t>
            </a:r>
            <a:endParaRPr lang="en-US" sz="2400" dirty="0"/>
          </a:p>
        </p:txBody>
      </p:sp>
      <p:sp>
        <p:nvSpPr>
          <p:cNvPr id="3" name="Text 1"/>
          <p:cNvSpPr txBox="1"/>
          <p:nvPr/>
        </p:nvSpPr>
        <p:spPr>
          <a:xfrm>
            <a:off x="7589520" y="457200"/>
            <a:ext cx="1097280" cy="228600"/>
          </a:xfrm>
          <a:prstGeom prst="rect">
            <a:avLst/>
          </a:prstGeom>
          <a:noFill/>
          <a:ln/>
        </p:spPr>
        <p:txBody>
          <a:bodyPr wrap="square" lIns="0" tIns="0" rIns="0" bIns="0" rtlCol="0" anchor="ctr"/>
          <a:lstStyle/>
          <a:p>
            <a:pPr marL="0" indent="0" algn="r">
              <a:buNone/>
            </a:pPr>
            <a:r>
              <a:rPr lang="en-US" sz="1000" dirty="0">
                <a:solidFill>
                  <a:srgbClr val="22D3EE"/>
                </a:solidFill>
                <a:latin typeface="Consolas" pitchFamily="34" charset="0"/>
                <a:ea typeface="Consolas" pitchFamily="34" charset="-122"/>
                <a:cs typeface="Consolas" pitchFamily="34" charset="-120"/>
              </a:rPr>
              <a:t>FIG. 19</a:t>
            </a:r>
            <a:endParaRPr lang="en-US" sz="1000" dirty="0"/>
          </a:p>
        </p:txBody>
      </p:sp>
      <p:sp>
        <p:nvSpPr>
          <p:cNvPr id="4" name="Marco figura"/>
          <p:cNvSpPr/>
          <p:nvPr/>
        </p:nvSpPr>
        <p:spPr>
          <a:xfrm>
            <a:off x="221320" y="1005840"/>
            <a:ext cx="5608707" cy="2989564"/>
          </a:xfrm>
          <a:prstGeom prst="rect">
            <a:avLst/>
          </a:prstGeom>
          <a:solidFill>
            <a:srgbClr val="0F1720"/>
          </a:solidFill>
          <a:ln w="12700">
            <a:solidFill>
              <a:srgbClr val="1F2D3A"/>
            </a:solidFill>
            <a:prstDash val="solid"/>
          </a:ln>
        </p:spPr>
      </p:sp>
      <p:sp>
        <p:nvSpPr>
          <p:cNvPr id="6" name="Text 3"/>
          <p:cNvSpPr txBox="1"/>
          <p:nvPr/>
        </p:nvSpPr>
        <p:spPr>
          <a:xfrm>
            <a:off x="5934360" y="730477"/>
            <a:ext cx="1828800" cy="228600"/>
          </a:xfrm>
          <a:prstGeom prst="rect">
            <a:avLst/>
          </a:prstGeom>
          <a:noFill/>
          <a:ln/>
        </p:spPr>
        <p:txBody>
          <a:bodyPr wrap="square" lIns="0" tIns="0" rIns="0" bIns="0" rtlCol="0" anchor="ctr"/>
          <a:lstStyle/>
          <a:p>
            <a:pPr marL="0" indent="0" algn="l">
              <a:buNone/>
            </a:pPr>
            <a:r>
              <a:rPr lang="en-US" sz="1000" dirty="0">
                <a:solidFill>
                  <a:srgbClr val="22D3EE"/>
                </a:solidFill>
                <a:latin typeface="Consolas" pitchFamily="34" charset="0"/>
                <a:ea typeface="Consolas" pitchFamily="34" charset="-122"/>
                <a:cs typeface="Consolas" pitchFamily="34" charset="-120"/>
              </a:rPr>
              <a:t>LECTURA</a:t>
            </a:r>
            <a:endParaRPr lang="en-US" sz="1000" dirty="0"/>
          </a:p>
        </p:txBody>
      </p:sp>
      <p:sp>
        <p:nvSpPr>
          <p:cNvPr id="7" name="Text 4"/>
          <p:cNvSpPr txBox="1"/>
          <p:nvPr/>
        </p:nvSpPr>
        <p:spPr>
          <a:xfrm>
            <a:off x="5943600" y="974737"/>
            <a:ext cx="2743200" cy="3023985"/>
          </a:xfrm>
          <a:prstGeom prst="rect">
            <a:avLst/>
          </a:prstGeom>
          <a:noFill/>
          <a:ln/>
        </p:spPr>
        <p:txBody>
          <a:bodyPr wrap="square" lIns="0" tIns="0" rIns="0" bIns="0" rtlCol="0" anchor="t"/>
          <a:lstStyle/>
          <a:p>
            <a:r>
              <a:rPr lang="es-ES" sz="1000" i="1" dirty="0">
                <a:solidFill>
                  <a:schemeClr val="bg1"/>
                </a:solidFill>
              </a:rPr>
              <a:t>¿La edad promedio de los pacientes es la misma para hombres, mujeres y registros "No especificados", o el sexo realmente marca una diferencia en la edad</a:t>
            </a:r>
            <a:r>
              <a:rPr lang="es-ES" sz="1000" i="1" dirty="0" smtClean="0">
                <a:solidFill>
                  <a:schemeClr val="bg1"/>
                </a:solidFill>
              </a:rPr>
              <a:t>?</a:t>
            </a:r>
          </a:p>
          <a:p>
            <a:endParaRPr lang="es-ES" sz="1000" i="1" dirty="0" smtClean="0">
              <a:solidFill>
                <a:schemeClr val="bg1"/>
              </a:solidFill>
            </a:endParaRPr>
          </a:p>
          <a:p>
            <a:pPr lvl="0"/>
            <a:r>
              <a:rPr lang="es-ES" sz="1000" b="1" dirty="0">
                <a:solidFill>
                  <a:schemeClr val="bg1"/>
                </a:solidFill>
              </a:rPr>
              <a:t>Muestra Analizada y Segmentación (3 / 70.965):</a:t>
            </a:r>
            <a:r>
              <a:rPr lang="es-ES" sz="1000" dirty="0">
                <a:solidFill>
                  <a:schemeClr val="bg1"/>
                </a:solidFill>
              </a:rPr>
              <a:t> Se evalúan </a:t>
            </a:r>
            <a:r>
              <a:rPr lang="es-ES" sz="1000" b="1" dirty="0">
                <a:solidFill>
                  <a:schemeClr val="bg1"/>
                </a:solidFill>
              </a:rPr>
              <a:t>3 grupos definidos</a:t>
            </a:r>
            <a:r>
              <a:rPr lang="es-ES" sz="1000" dirty="0">
                <a:solidFill>
                  <a:schemeClr val="bg1"/>
                </a:solidFill>
              </a:rPr>
              <a:t> (</a:t>
            </a:r>
            <a:r>
              <a:rPr lang="es-ES" sz="1000" i="1" dirty="0">
                <a:solidFill>
                  <a:schemeClr val="bg1"/>
                </a:solidFill>
              </a:rPr>
              <a:t>Femenino</a:t>
            </a:r>
            <a:r>
              <a:rPr lang="es-ES" sz="1000" dirty="0">
                <a:solidFill>
                  <a:schemeClr val="bg1"/>
                </a:solidFill>
              </a:rPr>
              <a:t>, </a:t>
            </a:r>
            <a:r>
              <a:rPr lang="es-ES" sz="1000" i="1" dirty="0">
                <a:solidFill>
                  <a:schemeClr val="bg1"/>
                </a:solidFill>
              </a:rPr>
              <a:t>Masculino</a:t>
            </a:r>
            <a:r>
              <a:rPr lang="es-ES" sz="1000" dirty="0">
                <a:solidFill>
                  <a:schemeClr val="bg1"/>
                </a:solidFill>
              </a:rPr>
              <a:t> y </a:t>
            </a:r>
            <a:r>
              <a:rPr lang="es-ES" sz="1000" i="1" dirty="0">
                <a:solidFill>
                  <a:schemeClr val="bg1"/>
                </a:solidFill>
              </a:rPr>
              <a:t>No Especificado</a:t>
            </a:r>
            <a:r>
              <a:rPr lang="es-ES" sz="1000" dirty="0">
                <a:solidFill>
                  <a:schemeClr val="bg1"/>
                </a:solidFill>
              </a:rPr>
              <a:t>) sobre un volumen masivo de </a:t>
            </a:r>
            <a:r>
              <a:rPr lang="es-ES" sz="1000" b="1" dirty="0">
                <a:solidFill>
                  <a:schemeClr val="bg1"/>
                </a:solidFill>
              </a:rPr>
              <a:t>70.965 registros válidos</a:t>
            </a:r>
            <a:r>
              <a:rPr lang="es-ES" sz="1000" dirty="0" smtClean="0">
                <a:solidFill>
                  <a:schemeClr val="bg1"/>
                </a:solidFill>
              </a:rPr>
              <a:t>.</a:t>
            </a:r>
          </a:p>
          <a:p>
            <a:pPr lvl="0"/>
            <a:endParaRPr lang="es-ES" sz="1000" dirty="0">
              <a:solidFill>
                <a:schemeClr val="bg1"/>
              </a:solidFill>
            </a:endParaRPr>
          </a:p>
          <a:p>
            <a:pPr lvl="0"/>
            <a:r>
              <a:rPr lang="es-ES" sz="1000" b="1" dirty="0">
                <a:solidFill>
                  <a:schemeClr val="bg1"/>
                </a:solidFill>
              </a:rPr>
              <a:t>Significación Estadística Extrema (ANOVA F = 804,1 / </a:t>
            </a:r>
            <a:r>
              <a:rPr lang="es-ES" sz="1000" b="1" dirty="0" err="1">
                <a:solidFill>
                  <a:schemeClr val="bg1"/>
                </a:solidFill>
              </a:rPr>
              <a:t>Welch</a:t>
            </a:r>
            <a:r>
              <a:rPr lang="es-ES" sz="1000" b="1" dirty="0">
                <a:solidFill>
                  <a:schemeClr val="bg1"/>
                </a:solidFill>
              </a:rPr>
              <a:t> F = 834,7):</a:t>
            </a:r>
            <a:r>
              <a:rPr lang="es-ES" sz="1000" dirty="0">
                <a:solidFill>
                  <a:schemeClr val="bg1"/>
                </a:solidFill>
              </a:rPr>
              <a:t> Los valores de los estadísticos F son excepcionalmente altos. Al arrojar un </a:t>
            </a:r>
            <a:r>
              <a:rPr lang="es-ES" sz="1000" b="1" dirty="0">
                <a:solidFill>
                  <a:schemeClr val="bg1"/>
                </a:solidFill>
              </a:rPr>
              <a:t>p-valor &lt; 0.0001</a:t>
            </a:r>
            <a:r>
              <a:rPr lang="es-ES" sz="1000" dirty="0">
                <a:solidFill>
                  <a:schemeClr val="bg1"/>
                </a:solidFill>
              </a:rPr>
              <a:t>, se sitúa de forma contundente por debajo del umbral α = 0,05. </a:t>
            </a:r>
            <a:r>
              <a:rPr lang="es-ES" sz="1000" b="1" dirty="0">
                <a:solidFill>
                  <a:schemeClr val="bg1"/>
                </a:solidFill>
              </a:rPr>
              <a:t>Se rechaza formalmente la hipótesis nula (H₀)</a:t>
            </a:r>
            <a:r>
              <a:rPr lang="es-ES" sz="1000" dirty="0">
                <a:solidFill>
                  <a:schemeClr val="bg1"/>
                </a:solidFill>
              </a:rPr>
              <a:t>. </a:t>
            </a:r>
            <a:endParaRPr lang="es-ES" sz="1000" dirty="0" smtClean="0">
              <a:solidFill>
                <a:schemeClr val="bg1"/>
              </a:solidFill>
            </a:endParaRPr>
          </a:p>
          <a:p>
            <a:pPr lvl="0"/>
            <a:endParaRPr lang="es-ES" sz="1000" dirty="0">
              <a:solidFill>
                <a:schemeClr val="bg1"/>
              </a:solidFill>
            </a:endParaRPr>
          </a:p>
          <a:p>
            <a:pPr lvl="0"/>
            <a:r>
              <a:rPr lang="es-ES" sz="1000" b="1" dirty="0">
                <a:solidFill>
                  <a:schemeClr val="bg1"/>
                </a:solidFill>
              </a:rPr>
              <a:t>Uso del Estadístico </a:t>
            </a:r>
            <a:r>
              <a:rPr lang="es-ES" sz="1000" b="1" dirty="0" err="1">
                <a:solidFill>
                  <a:schemeClr val="bg1"/>
                </a:solidFill>
              </a:rPr>
              <a:t>Welch</a:t>
            </a:r>
            <a:r>
              <a:rPr lang="es-ES" sz="1000" b="1" dirty="0">
                <a:solidFill>
                  <a:schemeClr val="bg1"/>
                </a:solidFill>
              </a:rPr>
              <a:t> F:</a:t>
            </a:r>
            <a:r>
              <a:rPr lang="es-ES" sz="1000" dirty="0">
                <a:solidFill>
                  <a:schemeClr val="bg1"/>
                </a:solidFill>
              </a:rPr>
              <a:t> La coincidencia en significación de la prueba robusta de </a:t>
            </a:r>
            <a:r>
              <a:rPr lang="es-ES" sz="1000" dirty="0" err="1">
                <a:solidFill>
                  <a:schemeClr val="bg1"/>
                </a:solidFill>
              </a:rPr>
              <a:t>Welch</a:t>
            </a:r>
            <a:r>
              <a:rPr lang="es-ES" sz="1000" dirty="0">
                <a:solidFill>
                  <a:schemeClr val="bg1"/>
                </a:solidFill>
              </a:rPr>
              <a:t> confirma que, aun existiendo </a:t>
            </a:r>
            <a:r>
              <a:rPr lang="es-ES" sz="1000" dirty="0" smtClean="0">
                <a:solidFill>
                  <a:schemeClr val="bg1"/>
                </a:solidFill>
              </a:rPr>
              <a:t>varianzas desiguales </a:t>
            </a:r>
            <a:r>
              <a:rPr lang="es-ES" sz="1000" dirty="0">
                <a:solidFill>
                  <a:schemeClr val="bg1"/>
                </a:solidFill>
              </a:rPr>
              <a:t>o diferencias marcadas en el tamaño </a:t>
            </a:r>
            <a:r>
              <a:rPr lang="es-ES" sz="1000" dirty="0" err="1">
                <a:solidFill>
                  <a:schemeClr val="bg1"/>
                </a:solidFill>
              </a:rPr>
              <a:t>muestral</a:t>
            </a:r>
            <a:r>
              <a:rPr lang="es-ES" sz="1000" dirty="0">
                <a:solidFill>
                  <a:schemeClr val="bg1"/>
                </a:solidFill>
              </a:rPr>
              <a:t> de cada sexo, los resultados mantienen una validez científica absoluta.</a:t>
            </a:r>
          </a:p>
          <a:p>
            <a:endParaRPr lang="es-ES" sz="1000" i="1" dirty="0" smtClean="0">
              <a:solidFill>
                <a:schemeClr val="bg1"/>
              </a:solidFill>
            </a:endParaRPr>
          </a:p>
          <a:p>
            <a:endParaRPr lang="es-ES" sz="1000" i="1" dirty="0">
              <a:solidFill>
                <a:schemeClr val="bg1"/>
              </a:solidFill>
            </a:endParaRPr>
          </a:p>
          <a:p>
            <a:endParaRPr lang="es-ES" sz="1000" i="1" dirty="0" smtClean="0">
              <a:solidFill>
                <a:schemeClr val="bg1"/>
              </a:solidFill>
            </a:endParaRPr>
          </a:p>
          <a:p>
            <a:endParaRPr lang="es-ES" sz="1000" dirty="0">
              <a:solidFill>
                <a:schemeClr val="bg1"/>
              </a:solidFill>
            </a:endParaRPr>
          </a:p>
          <a:p>
            <a:pPr marL="152400" indent="-152400">
              <a:spcAft>
                <a:spcPts val="600"/>
              </a:spcAft>
              <a:buSzPct val="100000"/>
              <a:buChar char="•"/>
            </a:pPr>
            <a:endParaRPr lang="en-US" sz="1100" dirty="0"/>
          </a:p>
        </p:txBody>
      </p:sp>
      <p:sp>
        <p:nvSpPr>
          <p:cNvPr id="25" name="Slide Number Placeholder 0"/>
          <p:cNvSpPr>
            <a:spLocks noGrp="1"/>
          </p:cNvSpPr>
          <p:nvPr>
            <p:ph type="sldNum" sz="quarter" idx="4294967295"/>
          </p:nvPr>
        </p:nvSpPr>
        <p:spPr>
          <a:xfrm>
            <a:off x="8229600" y="4727448"/>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7C8BA1"/>
                </a:solidFill>
                <a:latin typeface="Consolas"/>
                <a:ea typeface="Consolas"/>
                <a:cs typeface="Consolas"/>
              </a:defRPr>
            </a:lvl1pPr>
          </a:lstStyle>
          <a:p>
            <a:pPr algn="r"/>
            <a:fld id="{F7021451-1387-4CA6-816F-3879F97B5CBC}" type="slidenum">
              <a:rPr lang="en-US" b="0"/>
              <a:t>33</a:t>
            </a:fld>
            <a:endParaRPr lang="en-US"/>
          </a:p>
        </p:txBody>
      </p:sp>
      <p:pic>
        <p:nvPicPr>
          <p:cNvPr id="10" name="Imagen 9"/>
          <p:cNvPicPr/>
          <p:nvPr/>
        </p:nvPicPr>
        <p:blipFill>
          <a:blip r:embed="rId3"/>
          <a:stretch>
            <a:fillRect/>
          </a:stretch>
        </p:blipFill>
        <p:spPr>
          <a:xfrm>
            <a:off x="325653" y="1062200"/>
            <a:ext cx="5400040" cy="2822543"/>
          </a:xfrm>
          <a:prstGeom prst="rect">
            <a:avLst/>
          </a:prstGeom>
        </p:spPr>
      </p:pic>
      <p:sp>
        <p:nvSpPr>
          <p:cNvPr id="8" name="CuadroTexto 7"/>
          <p:cNvSpPr txBox="1"/>
          <p:nvPr/>
        </p:nvSpPr>
        <p:spPr>
          <a:xfrm>
            <a:off x="375660" y="4342349"/>
            <a:ext cx="8311140" cy="400110"/>
          </a:xfrm>
          <a:prstGeom prst="rect">
            <a:avLst/>
          </a:prstGeom>
          <a:noFill/>
        </p:spPr>
        <p:txBody>
          <a:bodyPr wrap="square" rtlCol="0">
            <a:spAutoFit/>
          </a:bodyPr>
          <a:lstStyle/>
          <a:p>
            <a:r>
              <a:rPr lang="es-ES" sz="1000" dirty="0">
                <a:solidFill>
                  <a:schemeClr val="bg1"/>
                </a:solidFill>
              </a:rPr>
              <a:t>El </a:t>
            </a:r>
            <a:r>
              <a:rPr lang="es-ES" sz="1000" b="1" dirty="0">
                <a:solidFill>
                  <a:schemeClr val="bg1"/>
                </a:solidFill>
              </a:rPr>
              <a:t>ANOVA</a:t>
            </a:r>
            <a:r>
              <a:rPr lang="es-ES" sz="1000" dirty="0">
                <a:solidFill>
                  <a:schemeClr val="bg1"/>
                </a:solidFill>
              </a:rPr>
              <a:t> (cuyas siglas en inglés significan </a:t>
            </a:r>
            <a:r>
              <a:rPr lang="es-ES" sz="1000" i="1" dirty="0" err="1">
                <a:solidFill>
                  <a:schemeClr val="bg1"/>
                </a:solidFill>
              </a:rPr>
              <a:t>Analysis</a:t>
            </a:r>
            <a:r>
              <a:rPr lang="es-ES" sz="1000" i="1" dirty="0">
                <a:solidFill>
                  <a:schemeClr val="bg1"/>
                </a:solidFill>
              </a:rPr>
              <a:t> of </a:t>
            </a:r>
            <a:r>
              <a:rPr lang="es-ES" sz="1000" i="1" dirty="0" err="1">
                <a:solidFill>
                  <a:schemeClr val="bg1"/>
                </a:solidFill>
              </a:rPr>
              <a:t>Variance</a:t>
            </a:r>
            <a:r>
              <a:rPr lang="es-ES" sz="1000" dirty="0">
                <a:solidFill>
                  <a:schemeClr val="bg1"/>
                </a:solidFill>
              </a:rPr>
              <a:t>, o </a:t>
            </a:r>
            <a:r>
              <a:rPr lang="es-ES" sz="1000" b="1" dirty="0">
                <a:solidFill>
                  <a:schemeClr val="bg1"/>
                </a:solidFill>
              </a:rPr>
              <a:t>Análisis de Varianza</a:t>
            </a:r>
            <a:r>
              <a:rPr lang="es-ES" sz="1000" dirty="0">
                <a:solidFill>
                  <a:schemeClr val="bg1"/>
                </a:solidFill>
              </a:rPr>
              <a:t> en español) es un método estadístico que se utiliza para </a:t>
            </a:r>
            <a:r>
              <a:rPr lang="es-ES" sz="1000" dirty="0">
                <a:solidFill>
                  <a:schemeClr val="bg1"/>
                </a:solidFill>
              </a:rPr>
              <a:t>comparar las medias (los promedios) de tres o más grupos de datos</a:t>
            </a:r>
            <a:r>
              <a:rPr lang="es-ES" sz="1000" dirty="0">
                <a:solidFill>
                  <a:schemeClr val="bg1"/>
                </a:solidFill>
              </a:rPr>
              <a:t> y determinar si las diferencias entre ellos son estadísticamente reales o si son simple fruto del azar.</a:t>
            </a:r>
          </a:p>
        </p:txBody>
      </p:sp>
    </p:spTree>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9"/>
          <p:cNvSpPr>
            <a:spLocks noGrp="1"/>
          </p:cNvSpPr>
          <p:nvPr>
            <p:ph type="title" idx="109" hasCustomPrompt="1"/>
          </p:nvPr>
        </p:nvSpPr>
        <p:spPr>
          <a:xfrm>
            <a:off x="457200" y="320040"/>
            <a:ext cx="7040880" cy="685800"/>
          </a:xfrm>
          <a:prstGeom prst="rect">
            <a:avLst/>
          </a:prstGeom>
          <a:noFill/>
          <a:ln/>
        </p:spPr>
        <p:txBody>
          <a:bodyPr wrap="square" lIns="0" tIns="0" rIns="0" bIns="0" rtlCol="0" anchor="ctr"/>
          <a:lstStyle/>
          <a:p>
            <a:pPr marL="0" indent="0" algn="l">
              <a:buNone/>
            </a:pPr>
            <a:r>
              <a:rPr lang="en-US" sz="2400" b="1" dirty="0" err="1">
                <a:solidFill>
                  <a:srgbClr val="F8FAFC"/>
                </a:solidFill>
              </a:rPr>
              <a:t>Estudios</a:t>
            </a:r>
            <a:r>
              <a:rPr lang="en-US" sz="2400" b="1" dirty="0">
                <a:solidFill>
                  <a:srgbClr val="F8FAFC"/>
                </a:solidFill>
              </a:rPr>
              <a:t> </a:t>
            </a:r>
            <a:r>
              <a:rPr lang="en-US" sz="2400" b="1" dirty="0" smtClean="0">
                <a:solidFill>
                  <a:srgbClr val="F8FAFC"/>
                </a:solidFill>
              </a:rPr>
              <a:t> </a:t>
            </a:r>
            <a:r>
              <a:rPr lang="en-US" sz="2400" b="1" dirty="0" err="1" smtClean="0">
                <a:solidFill>
                  <a:srgbClr val="F8FAFC"/>
                </a:solidFill>
              </a:rPr>
              <a:t>Edad</a:t>
            </a:r>
            <a:r>
              <a:rPr lang="en-US" sz="2400" b="1" dirty="0" smtClean="0">
                <a:solidFill>
                  <a:srgbClr val="F8FAFC"/>
                </a:solidFill>
              </a:rPr>
              <a:t>(ANOVA)</a:t>
            </a:r>
            <a:endParaRPr lang="en-US" sz="2400" dirty="0"/>
          </a:p>
        </p:txBody>
      </p:sp>
      <p:sp>
        <p:nvSpPr>
          <p:cNvPr id="3" name="Text 1"/>
          <p:cNvSpPr txBox="1"/>
          <p:nvPr/>
        </p:nvSpPr>
        <p:spPr>
          <a:xfrm>
            <a:off x="7589520" y="457200"/>
            <a:ext cx="1097280" cy="228600"/>
          </a:xfrm>
          <a:prstGeom prst="rect">
            <a:avLst/>
          </a:prstGeom>
          <a:noFill/>
          <a:ln/>
        </p:spPr>
        <p:txBody>
          <a:bodyPr wrap="square" lIns="0" tIns="0" rIns="0" bIns="0" rtlCol="0" anchor="ctr"/>
          <a:lstStyle/>
          <a:p>
            <a:pPr marL="0" indent="0" algn="r">
              <a:buNone/>
            </a:pPr>
            <a:r>
              <a:rPr lang="en-US" sz="1000" dirty="0">
                <a:solidFill>
                  <a:srgbClr val="22D3EE"/>
                </a:solidFill>
                <a:latin typeface="Consolas" pitchFamily="34" charset="0"/>
                <a:ea typeface="Consolas" pitchFamily="34" charset="-122"/>
                <a:cs typeface="Consolas" pitchFamily="34" charset="-120"/>
              </a:rPr>
              <a:t>FIG. 19</a:t>
            </a:r>
            <a:endParaRPr lang="en-US" sz="1000" dirty="0"/>
          </a:p>
        </p:txBody>
      </p:sp>
      <p:sp>
        <p:nvSpPr>
          <p:cNvPr id="4" name="Marco figura"/>
          <p:cNvSpPr/>
          <p:nvPr/>
        </p:nvSpPr>
        <p:spPr>
          <a:xfrm>
            <a:off x="221320" y="1005840"/>
            <a:ext cx="5608707" cy="2989564"/>
          </a:xfrm>
          <a:prstGeom prst="rect">
            <a:avLst/>
          </a:prstGeom>
          <a:solidFill>
            <a:srgbClr val="0F1720"/>
          </a:solidFill>
          <a:ln w="12700">
            <a:solidFill>
              <a:srgbClr val="1F2D3A"/>
            </a:solidFill>
            <a:prstDash val="solid"/>
          </a:ln>
        </p:spPr>
      </p:sp>
      <p:sp>
        <p:nvSpPr>
          <p:cNvPr id="6" name="Text 3"/>
          <p:cNvSpPr txBox="1"/>
          <p:nvPr/>
        </p:nvSpPr>
        <p:spPr>
          <a:xfrm>
            <a:off x="5934360" y="782893"/>
            <a:ext cx="1828800" cy="228600"/>
          </a:xfrm>
          <a:prstGeom prst="rect">
            <a:avLst/>
          </a:prstGeom>
          <a:noFill/>
          <a:ln/>
        </p:spPr>
        <p:txBody>
          <a:bodyPr wrap="square" lIns="0" tIns="0" rIns="0" bIns="0" rtlCol="0" anchor="ctr"/>
          <a:lstStyle/>
          <a:p>
            <a:pPr marL="0" indent="0" algn="l">
              <a:buNone/>
            </a:pPr>
            <a:r>
              <a:rPr lang="en-US" sz="1000" dirty="0">
                <a:solidFill>
                  <a:srgbClr val="22D3EE"/>
                </a:solidFill>
                <a:latin typeface="Consolas" pitchFamily="34" charset="0"/>
                <a:ea typeface="Consolas" pitchFamily="34" charset="-122"/>
                <a:cs typeface="Consolas" pitchFamily="34" charset="-120"/>
              </a:rPr>
              <a:t>LECTURA</a:t>
            </a:r>
            <a:endParaRPr lang="en-US" sz="1000" dirty="0"/>
          </a:p>
        </p:txBody>
      </p:sp>
      <p:sp>
        <p:nvSpPr>
          <p:cNvPr id="7" name="Text 4"/>
          <p:cNvSpPr txBox="1"/>
          <p:nvPr/>
        </p:nvSpPr>
        <p:spPr>
          <a:xfrm>
            <a:off x="5943600" y="1009684"/>
            <a:ext cx="2743200" cy="3023985"/>
          </a:xfrm>
          <a:prstGeom prst="rect">
            <a:avLst/>
          </a:prstGeom>
          <a:noFill/>
          <a:ln/>
        </p:spPr>
        <p:txBody>
          <a:bodyPr wrap="square" lIns="0" tIns="0" rIns="0" bIns="0" rtlCol="0" anchor="t"/>
          <a:lstStyle/>
          <a:p>
            <a:pPr lvl="0"/>
            <a:r>
              <a:rPr lang="es-ES" sz="1000" b="1" dirty="0" smtClean="0">
                <a:solidFill>
                  <a:schemeClr val="bg1"/>
                </a:solidFill>
              </a:rPr>
              <a:t>Interpretación </a:t>
            </a:r>
            <a:r>
              <a:rPr lang="es-ES" sz="1000" b="1" dirty="0">
                <a:solidFill>
                  <a:schemeClr val="bg1"/>
                </a:solidFill>
              </a:rPr>
              <a:t>de la Eta al cuadrado:</a:t>
            </a:r>
            <a:r>
              <a:rPr lang="es-ES" sz="1000" dirty="0">
                <a:solidFill>
                  <a:schemeClr val="bg1"/>
                </a:solidFill>
              </a:rPr>
              <a:t> El panel tipifica el tamaño del efecto como </a:t>
            </a:r>
            <a:r>
              <a:rPr lang="es-ES" sz="1000" b="1" dirty="0">
                <a:solidFill>
                  <a:schemeClr val="bg1"/>
                </a:solidFill>
              </a:rPr>
              <a:t>pequeño</a:t>
            </a:r>
            <a:r>
              <a:rPr lang="es-ES" sz="1000" dirty="0">
                <a:solidFill>
                  <a:schemeClr val="bg1"/>
                </a:solidFill>
              </a:rPr>
              <a:t>. El estadístico η² de 0,022 indica matemáticamente que </a:t>
            </a:r>
            <a:r>
              <a:rPr lang="es-ES" sz="1000" b="1" dirty="0">
                <a:solidFill>
                  <a:schemeClr val="bg1"/>
                </a:solidFill>
              </a:rPr>
              <a:t>el sexo del paciente explica el 2,2% de la variación total observada en la </a:t>
            </a:r>
            <a:r>
              <a:rPr lang="es-ES" sz="1000" b="1" dirty="0" smtClean="0">
                <a:solidFill>
                  <a:schemeClr val="bg1"/>
                </a:solidFill>
              </a:rPr>
              <a:t>edad</a:t>
            </a:r>
          </a:p>
          <a:p>
            <a:pPr lvl="0"/>
            <a:endParaRPr lang="es-ES" dirty="0" smtClean="0"/>
          </a:p>
          <a:p>
            <a:pPr lvl="0"/>
            <a:r>
              <a:rPr lang="es-ES" sz="1000" b="1" dirty="0">
                <a:solidFill>
                  <a:schemeClr val="bg1"/>
                </a:solidFill>
              </a:rPr>
              <a:t>Femenino </a:t>
            </a:r>
            <a:r>
              <a:rPr lang="es-ES" sz="1000" b="1" dirty="0" smtClean="0">
                <a:solidFill>
                  <a:schemeClr val="bg1"/>
                </a:solidFill>
              </a:rPr>
              <a:t>:</a:t>
            </a:r>
            <a:r>
              <a:rPr lang="es-ES" sz="1000" dirty="0" smtClean="0">
                <a:solidFill>
                  <a:schemeClr val="bg1"/>
                </a:solidFill>
              </a:rPr>
              <a:t> </a:t>
            </a:r>
            <a:r>
              <a:rPr lang="es-ES" sz="1000" dirty="0">
                <a:solidFill>
                  <a:schemeClr val="bg1"/>
                </a:solidFill>
              </a:rPr>
              <a:t>Se </a:t>
            </a:r>
            <a:r>
              <a:rPr lang="es-ES" sz="1000" dirty="0" err="1" smtClean="0">
                <a:solidFill>
                  <a:schemeClr val="bg1"/>
                </a:solidFill>
              </a:rPr>
              <a:t>situá</a:t>
            </a:r>
            <a:r>
              <a:rPr lang="es-ES" sz="1000" dirty="0" smtClean="0">
                <a:solidFill>
                  <a:schemeClr val="bg1"/>
                </a:solidFill>
              </a:rPr>
              <a:t> </a:t>
            </a:r>
            <a:r>
              <a:rPr lang="es-ES" sz="1000" dirty="0">
                <a:solidFill>
                  <a:schemeClr val="bg1"/>
                </a:solidFill>
              </a:rPr>
              <a:t>de forma muy estrecha en el intervalo de los </a:t>
            </a:r>
            <a:r>
              <a:rPr lang="es-ES" sz="1000" b="1" dirty="0">
                <a:solidFill>
                  <a:schemeClr val="bg1"/>
                </a:solidFill>
              </a:rPr>
              <a:t>47 a 48 años</a:t>
            </a:r>
            <a:r>
              <a:rPr lang="es-ES" sz="1000" dirty="0">
                <a:solidFill>
                  <a:schemeClr val="bg1"/>
                </a:solidFill>
              </a:rPr>
              <a:t>. Esto demuestra que la demanda de estudios de alta complejidad o preventivos por parte del sexo femenino (como las mamografías observadas previamente) </a:t>
            </a:r>
            <a:endParaRPr lang="es-ES" sz="1000" dirty="0" smtClean="0">
              <a:solidFill>
                <a:schemeClr val="bg1"/>
              </a:solidFill>
            </a:endParaRPr>
          </a:p>
          <a:p>
            <a:pPr lvl="0"/>
            <a:endParaRPr lang="es-ES" sz="1000" dirty="0" smtClean="0">
              <a:solidFill>
                <a:schemeClr val="bg1"/>
              </a:solidFill>
            </a:endParaRPr>
          </a:p>
          <a:p>
            <a:pPr lvl="0"/>
            <a:r>
              <a:rPr lang="es-ES" sz="1000" b="1" dirty="0" smtClean="0">
                <a:solidFill>
                  <a:schemeClr val="bg1"/>
                </a:solidFill>
              </a:rPr>
              <a:t>Masculino :</a:t>
            </a:r>
            <a:r>
              <a:rPr lang="es-ES" sz="1000" dirty="0" smtClean="0">
                <a:solidFill>
                  <a:schemeClr val="bg1"/>
                </a:solidFill>
              </a:rPr>
              <a:t> </a:t>
            </a:r>
            <a:r>
              <a:rPr lang="es-ES" sz="1000" dirty="0">
                <a:solidFill>
                  <a:schemeClr val="bg1"/>
                </a:solidFill>
              </a:rPr>
              <a:t>Registra una </a:t>
            </a:r>
            <a:r>
              <a:rPr lang="es-ES" sz="1000" b="1" dirty="0">
                <a:solidFill>
                  <a:schemeClr val="bg1"/>
                </a:solidFill>
              </a:rPr>
              <a:t>edad </a:t>
            </a:r>
            <a:r>
              <a:rPr lang="es-ES" sz="1000" b="1" dirty="0" smtClean="0">
                <a:solidFill>
                  <a:schemeClr val="bg1"/>
                </a:solidFill>
              </a:rPr>
              <a:t>media</a:t>
            </a:r>
            <a:r>
              <a:rPr lang="es-ES" sz="1000" dirty="0" smtClean="0">
                <a:solidFill>
                  <a:schemeClr val="bg1"/>
                </a:solidFill>
              </a:rPr>
              <a:t>  </a:t>
            </a:r>
            <a:r>
              <a:rPr lang="es-ES" sz="1000" dirty="0">
                <a:solidFill>
                  <a:schemeClr val="bg1"/>
                </a:solidFill>
              </a:rPr>
              <a:t>en el intervalo de los </a:t>
            </a:r>
            <a:r>
              <a:rPr lang="es-ES" sz="1000" b="1" dirty="0">
                <a:solidFill>
                  <a:schemeClr val="bg1"/>
                </a:solidFill>
              </a:rPr>
              <a:t>34 a 35 años</a:t>
            </a:r>
            <a:r>
              <a:rPr lang="es-ES" sz="1000" dirty="0">
                <a:solidFill>
                  <a:schemeClr val="bg1"/>
                </a:solidFill>
              </a:rPr>
              <a:t>. </a:t>
            </a:r>
            <a:endParaRPr lang="es-ES" sz="1000" dirty="0" smtClean="0">
              <a:solidFill>
                <a:schemeClr val="bg1"/>
              </a:solidFill>
            </a:endParaRPr>
          </a:p>
          <a:p>
            <a:pPr lvl="0"/>
            <a:endParaRPr lang="es-ES" sz="1000" dirty="0" smtClean="0">
              <a:solidFill>
                <a:schemeClr val="bg1"/>
              </a:solidFill>
            </a:endParaRPr>
          </a:p>
          <a:p>
            <a:pPr lvl="0"/>
            <a:r>
              <a:rPr lang="es-ES" sz="1000" b="1" dirty="0" smtClean="0">
                <a:solidFill>
                  <a:schemeClr val="bg1"/>
                </a:solidFill>
              </a:rPr>
              <a:t>No Especificado: </a:t>
            </a:r>
            <a:r>
              <a:rPr lang="es-ES" sz="1000" dirty="0" smtClean="0">
                <a:solidFill>
                  <a:schemeClr val="bg1"/>
                </a:solidFill>
              </a:rPr>
              <a:t>Presenta </a:t>
            </a:r>
            <a:r>
              <a:rPr lang="es-ES" sz="1000" dirty="0">
                <a:solidFill>
                  <a:schemeClr val="bg1"/>
                </a:solidFill>
              </a:rPr>
              <a:t>una </a:t>
            </a:r>
            <a:r>
              <a:rPr lang="es-ES" sz="1000" b="1" dirty="0">
                <a:solidFill>
                  <a:schemeClr val="bg1"/>
                </a:solidFill>
              </a:rPr>
              <a:t>barra de error notablemente más ancha</a:t>
            </a:r>
            <a:r>
              <a:rPr lang="es-ES" sz="1000" dirty="0">
                <a:solidFill>
                  <a:schemeClr val="bg1"/>
                </a:solidFill>
              </a:rPr>
              <a:t> debido a un menor volumen </a:t>
            </a:r>
            <a:r>
              <a:rPr lang="es-ES" sz="1000" dirty="0" err="1">
                <a:solidFill>
                  <a:schemeClr val="bg1"/>
                </a:solidFill>
              </a:rPr>
              <a:t>muestral</a:t>
            </a:r>
            <a:r>
              <a:rPr lang="es-ES" sz="1000" dirty="0">
                <a:solidFill>
                  <a:schemeClr val="bg1"/>
                </a:solidFill>
              </a:rPr>
              <a:t>, promediando una edad </a:t>
            </a:r>
            <a:r>
              <a:rPr lang="es-ES" sz="1000" dirty="0" smtClean="0">
                <a:solidFill>
                  <a:schemeClr val="bg1"/>
                </a:solidFill>
              </a:rPr>
              <a:t> </a:t>
            </a:r>
            <a:r>
              <a:rPr lang="es-ES" sz="1000" dirty="0">
                <a:solidFill>
                  <a:schemeClr val="bg1"/>
                </a:solidFill>
              </a:rPr>
              <a:t>entre los </a:t>
            </a:r>
            <a:r>
              <a:rPr lang="es-ES" sz="1000" b="1" dirty="0">
                <a:solidFill>
                  <a:schemeClr val="bg1"/>
                </a:solidFill>
              </a:rPr>
              <a:t>25 y 35 años</a:t>
            </a:r>
            <a:r>
              <a:rPr lang="es-ES" sz="1000" dirty="0">
                <a:solidFill>
                  <a:schemeClr val="bg1"/>
                </a:solidFill>
              </a:rPr>
              <a:t>). </a:t>
            </a:r>
            <a:r>
              <a:rPr lang="es-ES" sz="1000" dirty="0" smtClean="0">
                <a:solidFill>
                  <a:schemeClr val="bg1"/>
                </a:solidFill>
              </a:rPr>
              <a:t>con </a:t>
            </a:r>
            <a:r>
              <a:rPr lang="es-ES" sz="1000" dirty="0">
                <a:solidFill>
                  <a:schemeClr val="bg1"/>
                </a:solidFill>
              </a:rPr>
              <a:t>mayor frecuencia, acumulando medias etarias jóvenes.</a:t>
            </a:r>
          </a:p>
          <a:p>
            <a:pPr lvl="0"/>
            <a:endParaRPr lang="es-ES" dirty="0"/>
          </a:p>
          <a:p>
            <a:endParaRPr lang="es-ES" sz="1000" i="1" dirty="0" smtClean="0">
              <a:solidFill>
                <a:schemeClr val="bg1"/>
              </a:solidFill>
            </a:endParaRPr>
          </a:p>
          <a:p>
            <a:endParaRPr lang="es-ES" sz="1000" i="1" dirty="0">
              <a:solidFill>
                <a:schemeClr val="bg1"/>
              </a:solidFill>
            </a:endParaRPr>
          </a:p>
          <a:p>
            <a:endParaRPr lang="es-ES" sz="1000" i="1" dirty="0" smtClean="0">
              <a:solidFill>
                <a:schemeClr val="bg1"/>
              </a:solidFill>
            </a:endParaRPr>
          </a:p>
          <a:p>
            <a:endParaRPr lang="es-ES" sz="1000" dirty="0">
              <a:solidFill>
                <a:schemeClr val="bg1"/>
              </a:solidFill>
            </a:endParaRPr>
          </a:p>
          <a:p>
            <a:pPr marL="152400" indent="-152400">
              <a:spcAft>
                <a:spcPts val="600"/>
              </a:spcAft>
              <a:buSzPct val="100000"/>
              <a:buChar char="•"/>
            </a:pPr>
            <a:endParaRPr lang="en-US" sz="1100" dirty="0"/>
          </a:p>
        </p:txBody>
      </p:sp>
      <p:sp>
        <p:nvSpPr>
          <p:cNvPr id="25" name="Slide Number Placeholder 0"/>
          <p:cNvSpPr>
            <a:spLocks noGrp="1"/>
          </p:cNvSpPr>
          <p:nvPr>
            <p:ph type="sldNum" sz="quarter" idx="4294967295"/>
          </p:nvPr>
        </p:nvSpPr>
        <p:spPr>
          <a:xfrm>
            <a:off x="8229600" y="4727448"/>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7C8BA1"/>
                </a:solidFill>
                <a:latin typeface="Consolas"/>
                <a:ea typeface="Consolas"/>
                <a:cs typeface="Consolas"/>
              </a:defRPr>
            </a:lvl1pPr>
          </a:lstStyle>
          <a:p>
            <a:pPr algn="r"/>
            <a:fld id="{F7021451-1387-4CA6-816F-3879F97B5CBC}" type="slidenum">
              <a:rPr lang="en-US" b="0"/>
              <a:t>34</a:t>
            </a:fld>
            <a:endParaRPr lang="en-US"/>
          </a:p>
        </p:txBody>
      </p:sp>
      <p:pic>
        <p:nvPicPr>
          <p:cNvPr id="10" name="Imagen 9"/>
          <p:cNvPicPr/>
          <p:nvPr/>
        </p:nvPicPr>
        <p:blipFill>
          <a:blip r:embed="rId3"/>
          <a:stretch>
            <a:fillRect/>
          </a:stretch>
        </p:blipFill>
        <p:spPr>
          <a:xfrm>
            <a:off x="325653" y="1062200"/>
            <a:ext cx="5400040" cy="2822543"/>
          </a:xfrm>
          <a:prstGeom prst="rect">
            <a:avLst/>
          </a:prstGeom>
        </p:spPr>
      </p:pic>
      <p:sp>
        <p:nvSpPr>
          <p:cNvPr id="8" name="CuadroTexto 7"/>
          <p:cNvSpPr txBox="1"/>
          <p:nvPr/>
        </p:nvSpPr>
        <p:spPr>
          <a:xfrm>
            <a:off x="375660" y="4173450"/>
            <a:ext cx="8311140" cy="400110"/>
          </a:xfrm>
          <a:prstGeom prst="rect">
            <a:avLst/>
          </a:prstGeom>
          <a:noFill/>
        </p:spPr>
        <p:txBody>
          <a:bodyPr wrap="square" rtlCol="0">
            <a:spAutoFit/>
          </a:bodyPr>
          <a:lstStyle/>
          <a:p>
            <a:r>
              <a:rPr lang="es-ES" sz="1000" dirty="0">
                <a:solidFill>
                  <a:schemeClr val="bg1"/>
                </a:solidFill>
              </a:rPr>
              <a:t>El </a:t>
            </a:r>
            <a:r>
              <a:rPr lang="es-ES" sz="1000" b="1" dirty="0">
                <a:solidFill>
                  <a:schemeClr val="bg1"/>
                </a:solidFill>
              </a:rPr>
              <a:t>ANOVA</a:t>
            </a:r>
            <a:r>
              <a:rPr lang="es-ES" sz="1000" dirty="0">
                <a:solidFill>
                  <a:schemeClr val="bg1"/>
                </a:solidFill>
              </a:rPr>
              <a:t> (cuyas siglas en inglés significan </a:t>
            </a:r>
            <a:r>
              <a:rPr lang="es-ES" sz="1000" i="1" dirty="0" err="1">
                <a:solidFill>
                  <a:schemeClr val="bg1"/>
                </a:solidFill>
              </a:rPr>
              <a:t>Analysis</a:t>
            </a:r>
            <a:r>
              <a:rPr lang="es-ES" sz="1000" i="1" dirty="0">
                <a:solidFill>
                  <a:schemeClr val="bg1"/>
                </a:solidFill>
              </a:rPr>
              <a:t> of </a:t>
            </a:r>
            <a:r>
              <a:rPr lang="es-ES" sz="1000" i="1" dirty="0" err="1">
                <a:solidFill>
                  <a:schemeClr val="bg1"/>
                </a:solidFill>
              </a:rPr>
              <a:t>Variance</a:t>
            </a:r>
            <a:r>
              <a:rPr lang="es-ES" sz="1000" dirty="0">
                <a:solidFill>
                  <a:schemeClr val="bg1"/>
                </a:solidFill>
              </a:rPr>
              <a:t>, o </a:t>
            </a:r>
            <a:r>
              <a:rPr lang="es-ES" sz="1000" b="1" dirty="0">
                <a:solidFill>
                  <a:schemeClr val="bg1"/>
                </a:solidFill>
              </a:rPr>
              <a:t>Análisis de Varianza</a:t>
            </a:r>
            <a:r>
              <a:rPr lang="es-ES" sz="1000" dirty="0">
                <a:solidFill>
                  <a:schemeClr val="bg1"/>
                </a:solidFill>
              </a:rPr>
              <a:t> en español) es un método estadístico que se utiliza para </a:t>
            </a:r>
            <a:r>
              <a:rPr lang="es-ES" sz="1000" dirty="0">
                <a:solidFill>
                  <a:schemeClr val="bg1"/>
                </a:solidFill>
              </a:rPr>
              <a:t>comparar las medias (los promedios) de tres o más grupos de datos</a:t>
            </a:r>
            <a:r>
              <a:rPr lang="es-ES" sz="1000" dirty="0">
                <a:solidFill>
                  <a:schemeClr val="bg1"/>
                </a:solidFill>
              </a:rPr>
              <a:t> y determinar si las diferencias entre ellos son estadísticamente reales o si son simple fruto del azar.</a:t>
            </a:r>
          </a:p>
        </p:txBody>
      </p:sp>
    </p:spTree>
    <p:extLst>
      <p:ext uri="{BB962C8B-B14F-4D97-AF65-F5344CB8AC3E}">
        <p14:creationId xmlns:p14="http://schemas.microsoft.com/office/powerpoint/2010/main" val="3814569571"/>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9"/>
          <p:cNvSpPr>
            <a:spLocks noGrp="1"/>
          </p:cNvSpPr>
          <p:nvPr>
            <p:ph type="title" idx="109" hasCustomPrompt="1"/>
          </p:nvPr>
        </p:nvSpPr>
        <p:spPr>
          <a:xfrm>
            <a:off x="457200" y="320040"/>
            <a:ext cx="7040880" cy="685800"/>
          </a:xfrm>
          <a:prstGeom prst="rect">
            <a:avLst/>
          </a:prstGeom>
          <a:noFill/>
          <a:ln/>
        </p:spPr>
        <p:txBody>
          <a:bodyPr wrap="square" lIns="0" tIns="0" rIns="0" bIns="0" rtlCol="0" anchor="ctr"/>
          <a:lstStyle/>
          <a:p>
            <a:pPr marL="0" indent="0" algn="l">
              <a:buNone/>
            </a:pPr>
            <a:r>
              <a:rPr lang="en-US" sz="2400" b="1" dirty="0">
                <a:solidFill>
                  <a:srgbClr val="F8FAFC"/>
                </a:solidFill>
              </a:rPr>
              <a:t>Conclusiones</a:t>
            </a:r>
            <a:endParaRPr lang="en-US" sz="2400" dirty="0"/>
          </a:p>
        </p:txBody>
      </p:sp>
      <p:sp>
        <p:nvSpPr>
          <p:cNvPr id="3" name="Conclusión 1"/>
          <p:cNvSpPr/>
          <p:nvPr/>
        </p:nvSpPr>
        <p:spPr>
          <a:xfrm>
            <a:off x="457200" y="1188720"/>
            <a:ext cx="8229600" cy="594360"/>
          </a:xfrm>
          <a:prstGeom prst="rect">
            <a:avLst/>
          </a:prstGeom>
          <a:solidFill>
            <a:srgbClr val="111A22"/>
          </a:solidFill>
          <a:ln w="12700">
            <a:solidFill>
              <a:srgbClr val="1F2D3A"/>
            </a:solidFill>
            <a:prstDash val="solid"/>
          </a:ln>
        </p:spPr>
      </p:sp>
      <p:sp>
        <p:nvSpPr>
          <p:cNvPr id="4" name="Text 2"/>
          <p:cNvSpPr txBox="1"/>
          <p:nvPr/>
        </p:nvSpPr>
        <p:spPr>
          <a:xfrm>
            <a:off x="548640" y="1188720"/>
            <a:ext cx="457200" cy="594360"/>
          </a:xfrm>
          <a:prstGeom prst="rect">
            <a:avLst/>
          </a:prstGeom>
          <a:noFill/>
          <a:ln/>
        </p:spPr>
        <p:txBody>
          <a:bodyPr wrap="square" lIns="0" tIns="0" rIns="0" bIns="0" rtlCol="0" anchor="ctr"/>
          <a:lstStyle/>
          <a:p>
            <a:pPr marL="0" indent="0">
              <a:buNone/>
            </a:pPr>
            <a:r>
              <a:rPr lang="en-US" sz="1300" b="1" dirty="0">
                <a:solidFill>
                  <a:srgbClr val="22D3EE"/>
                </a:solidFill>
                <a:latin typeface="Consolas" pitchFamily="34" charset="0"/>
                <a:ea typeface="Consolas" pitchFamily="34" charset="-122"/>
                <a:cs typeface="Consolas" pitchFamily="34" charset="-120"/>
              </a:rPr>
              <a:t>01</a:t>
            </a:r>
            <a:endParaRPr lang="en-US" sz="1300" dirty="0"/>
          </a:p>
        </p:txBody>
      </p:sp>
      <p:sp>
        <p:nvSpPr>
          <p:cNvPr id="5" name="Text 3"/>
          <p:cNvSpPr txBox="1"/>
          <p:nvPr/>
        </p:nvSpPr>
        <p:spPr>
          <a:xfrm>
            <a:off x="1051560" y="1188720"/>
            <a:ext cx="7543800" cy="594360"/>
          </a:xfrm>
          <a:prstGeom prst="rect">
            <a:avLst/>
          </a:prstGeom>
          <a:noFill/>
          <a:ln/>
        </p:spPr>
        <p:txBody>
          <a:bodyPr wrap="square" lIns="0" tIns="0" rIns="0" bIns="0" rtlCol="0" anchor="ctr"/>
          <a:lstStyle/>
          <a:p>
            <a:pPr marL="0" indent="0">
              <a:buNone/>
            </a:pPr>
            <a:r>
              <a:rPr lang="en-US" sz="1150" b="1" dirty="0">
                <a:solidFill>
                  <a:srgbClr val="F8FAFC"/>
                </a:solidFill>
              </a:rPr>
              <a:t>Viabilidad:</a:t>
            </a:r>
            <a:r>
              <a:rPr lang="en-US" sz="1150" dirty="0">
                <a:solidFill>
                  <a:srgbClr val="CBD5E1"/>
                </a:solidFill>
              </a:rPr>
              <a:t> estructurar informes en HTML con un LLM local (Llama 3.2 3B + Ollama) funciona y protege los datos: 95,6 % correcto en lo procesado.</a:t>
            </a:r>
            <a:endParaRPr lang="en-US" sz="1150" dirty="0"/>
          </a:p>
        </p:txBody>
      </p:sp>
      <p:sp>
        <p:nvSpPr>
          <p:cNvPr id="6" name="Conclusión 2"/>
          <p:cNvSpPr/>
          <p:nvPr/>
        </p:nvSpPr>
        <p:spPr>
          <a:xfrm>
            <a:off x="457200" y="1874520"/>
            <a:ext cx="8229600" cy="594360"/>
          </a:xfrm>
          <a:prstGeom prst="rect">
            <a:avLst/>
          </a:prstGeom>
          <a:solidFill>
            <a:srgbClr val="111A22"/>
          </a:solidFill>
          <a:ln w="12700">
            <a:solidFill>
              <a:srgbClr val="1F2D3A"/>
            </a:solidFill>
            <a:prstDash val="solid"/>
          </a:ln>
        </p:spPr>
      </p:sp>
      <p:sp>
        <p:nvSpPr>
          <p:cNvPr id="7" name="Text 5"/>
          <p:cNvSpPr txBox="1"/>
          <p:nvPr/>
        </p:nvSpPr>
        <p:spPr>
          <a:xfrm>
            <a:off x="548640" y="1874520"/>
            <a:ext cx="457200" cy="594360"/>
          </a:xfrm>
          <a:prstGeom prst="rect">
            <a:avLst/>
          </a:prstGeom>
          <a:noFill/>
          <a:ln/>
        </p:spPr>
        <p:txBody>
          <a:bodyPr wrap="square" lIns="0" tIns="0" rIns="0" bIns="0" rtlCol="0" anchor="ctr"/>
          <a:lstStyle/>
          <a:p>
            <a:pPr marL="0" indent="0">
              <a:buNone/>
            </a:pPr>
            <a:r>
              <a:rPr lang="en-US" sz="1300" b="1" dirty="0">
                <a:solidFill>
                  <a:srgbClr val="22D3EE"/>
                </a:solidFill>
                <a:latin typeface="Consolas" pitchFamily="34" charset="0"/>
                <a:ea typeface="Consolas" pitchFamily="34" charset="-122"/>
                <a:cs typeface="Consolas" pitchFamily="34" charset="-120"/>
              </a:rPr>
              <a:t>02</a:t>
            </a:r>
            <a:endParaRPr lang="en-US" sz="1300" dirty="0"/>
          </a:p>
        </p:txBody>
      </p:sp>
      <p:sp>
        <p:nvSpPr>
          <p:cNvPr id="8" name="Text 6"/>
          <p:cNvSpPr txBox="1"/>
          <p:nvPr/>
        </p:nvSpPr>
        <p:spPr>
          <a:xfrm>
            <a:off x="1051560" y="1874520"/>
            <a:ext cx="7543800" cy="594360"/>
          </a:xfrm>
          <a:prstGeom prst="rect">
            <a:avLst/>
          </a:prstGeom>
          <a:noFill/>
          <a:ln/>
        </p:spPr>
        <p:txBody>
          <a:bodyPr wrap="square" lIns="0" tIns="0" rIns="0" bIns="0" rtlCol="0" anchor="ctr"/>
          <a:lstStyle/>
          <a:p>
            <a:r>
              <a:rPr lang="en-US" sz="1150" b="1" dirty="0">
                <a:solidFill>
                  <a:srgbClr val="F8FAFC"/>
                </a:solidFill>
              </a:rPr>
              <a:t>Pendiente:</a:t>
            </a:r>
            <a:r>
              <a:rPr lang="en-US" sz="1150" dirty="0">
                <a:solidFill>
                  <a:srgbClr val="CBD5E1"/>
                </a:solidFill>
              </a:rPr>
              <a:t> </a:t>
            </a:r>
            <a:r>
              <a:rPr lang="en-US" sz="1150" dirty="0" err="1">
                <a:solidFill>
                  <a:srgbClr val="CBD5E1"/>
                </a:solidFill>
              </a:rPr>
              <a:t>faltan</a:t>
            </a:r>
            <a:r>
              <a:rPr lang="en-US" sz="1150" dirty="0">
                <a:solidFill>
                  <a:srgbClr val="CBD5E1"/>
                </a:solidFill>
              </a:rPr>
              <a:t> </a:t>
            </a:r>
            <a:r>
              <a:rPr lang="es-ES" sz="1200" dirty="0">
                <a:solidFill>
                  <a:schemeClr val="bg1"/>
                </a:solidFill>
              </a:rPr>
              <a:t>306,771</a:t>
            </a:r>
            <a:r>
              <a:rPr lang="en-US" sz="1150" dirty="0" smtClean="0">
                <a:solidFill>
                  <a:srgbClr val="CBD5E1"/>
                </a:solidFill>
              </a:rPr>
              <a:t> </a:t>
            </a:r>
            <a:r>
              <a:rPr lang="en-US" sz="1150" dirty="0">
                <a:solidFill>
                  <a:srgbClr val="CBD5E1"/>
                </a:solidFill>
              </a:rPr>
              <a:t>informes (</a:t>
            </a:r>
            <a:r>
              <a:rPr lang="en-US" sz="1150" dirty="0" smtClean="0">
                <a:solidFill>
                  <a:srgbClr val="CBD5E1"/>
                </a:solidFill>
              </a:rPr>
              <a:t>74,7 </a:t>
            </a:r>
            <a:r>
              <a:rPr lang="en-US" sz="1150" dirty="0">
                <a:solidFill>
                  <a:srgbClr val="CBD5E1"/>
                </a:solidFill>
              </a:rPr>
              <a:t>%); el hardware y la configuración del contexto condicionan el avance.</a:t>
            </a:r>
            <a:endParaRPr lang="en-US" sz="1150" dirty="0"/>
          </a:p>
        </p:txBody>
      </p:sp>
      <p:sp>
        <p:nvSpPr>
          <p:cNvPr id="9" name="Conclusión 3"/>
          <p:cNvSpPr/>
          <p:nvPr/>
        </p:nvSpPr>
        <p:spPr>
          <a:xfrm>
            <a:off x="457200" y="2560320"/>
            <a:ext cx="8229600" cy="594360"/>
          </a:xfrm>
          <a:prstGeom prst="rect">
            <a:avLst/>
          </a:prstGeom>
          <a:solidFill>
            <a:srgbClr val="111A22"/>
          </a:solidFill>
          <a:ln w="12700">
            <a:solidFill>
              <a:srgbClr val="1F2D3A"/>
            </a:solidFill>
            <a:prstDash val="solid"/>
          </a:ln>
        </p:spPr>
      </p:sp>
      <p:sp>
        <p:nvSpPr>
          <p:cNvPr id="10" name="Text 8"/>
          <p:cNvSpPr txBox="1"/>
          <p:nvPr/>
        </p:nvSpPr>
        <p:spPr>
          <a:xfrm>
            <a:off x="548640" y="2560320"/>
            <a:ext cx="457200" cy="594360"/>
          </a:xfrm>
          <a:prstGeom prst="rect">
            <a:avLst/>
          </a:prstGeom>
          <a:noFill/>
          <a:ln/>
        </p:spPr>
        <p:txBody>
          <a:bodyPr wrap="square" lIns="0" tIns="0" rIns="0" bIns="0" rtlCol="0" anchor="ctr"/>
          <a:lstStyle/>
          <a:p>
            <a:pPr marL="0" indent="0">
              <a:buNone/>
            </a:pPr>
            <a:r>
              <a:rPr lang="en-US" sz="1300" b="1" dirty="0">
                <a:solidFill>
                  <a:srgbClr val="22D3EE"/>
                </a:solidFill>
                <a:latin typeface="Consolas" pitchFamily="34" charset="0"/>
                <a:ea typeface="Consolas" pitchFamily="34" charset="-122"/>
                <a:cs typeface="Consolas" pitchFamily="34" charset="-120"/>
              </a:rPr>
              <a:t>03</a:t>
            </a:r>
            <a:endParaRPr lang="en-US" sz="1300" dirty="0"/>
          </a:p>
        </p:txBody>
      </p:sp>
      <p:sp>
        <p:nvSpPr>
          <p:cNvPr id="11" name="Text 9"/>
          <p:cNvSpPr txBox="1"/>
          <p:nvPr/>
        </p:nvSpPr>
        <p:spPr>
          <a:xfrm>
            <a:off x="1051560" y="2560320"/>
            <a:ext cx="7543800" cy="594360"/>
          </a:xfrm>
          <a:prstGeom prst="rect">
            <a:avLst/>
          </a:prstGeom>
          <a:noFill/>
          <a:ln/>
        </p:spPr>
        <p:txBody>
          <a:bodyPr wrap="square" lIns="0" tIns="0" rIns="0" bIns="0" rtlCol="0" anchor="ctr"/>
          <a:lstStyle/>
          <a:p>
            <a:pPr marL="0" indent="0">
              <a:buNone/>
            </a:pPr>
            <a:r>
              <a:rPr lang="en-US" sz="1150" b="1" dirty="0">
                <a:solidFill>
                  <a:srgbClr val="F8FAFC"/>
                </a:solidFill>
              </a:rPr>
              <a:t>Fallos:</a:t>
            </a:r>
            <a:r>
              <a:rPr lang="en-US" sz="1150" dirty="0">
                <a:solidFill>
                  <a:srgbClr val="CBD5E1"/>
                </a:solidFill>
              </a:rPr>
              <a:t> la mitad es dato de origen (HTML vacío) y la otra mitad estructura o JSON, ligada a informes largos.</a:t>
            </a:r>
            <a:endParaRPr lang="en-US" sz="1150" dirty="0"/>
          </a:p>
        </p:txBody>
      </p:sp>
      <p:sp>
        <p:nvSpPr>
          <p:cNvPr id="12" name="Conclusión 4"/>
          <p:cNvSpPr/>
          <p:nvPr/>
        </p:nvSpPr>
        <p:spPr>
          <a:xfrm>
            <a:off x="457200" y="3246120"/>
            <a:ext cx="8229600" cy="594360"/>
          </a:xfrm>
          <a:prstGeom prst="rect">
            <a:avLst/>
          </a:prstGeom>
          <a:solidFill>
            <a:srgbClr val="111A22"/>
          </a:solidFill>
          <a:ln w="12700">
            <a:solidFill>
              <a:srgbClr val="1F2D3A"/>
            </a:solidFill>
            <a:prstDash val="solid"/>
          </a:ln>
        </p:spPr>
      </p:sp>
      <p:sp>
        <p:nvSpPr>
          <p:cNvPr id="13" name="Text 11"/>
          <p:cNvSpPr txBox="1"/>
          <p:nvPr/>
        </p:nvSpPr>
        <p:spPr>
          <a:xfrm>
            <a:off x="548640" y="3246120"/>
            <a:ext cx="457200" cy="594360"/>
          </a:xfrm>
          <a:prstGeom prst="rect">
            <a:avLst/>
          </a:prstGeom>
          <a:noFill/>
          <a:ln/>
        </p:spPr>
        <p:txBody>
          <a:bodyPr wrap="square" lIns="0" tIns="0" rIns="0" bIns="0" rtlCol="0" anchor="ctr"/>
          <a:lstStyle/>
          <a:p>
            <a:pPr marL="0" indent="0">
              <a:buNone/>
            </a:pPr>
            <a:r>
              <a:rPr lang="en-US" sz="1300" b="1" dirty="0">
                <a:solidFill>
                  <a:srgbClr val="22D3EE"/>
                </a:solidFill>
                <a:latin typeface="Consolas" pitchFamily="34" charset="0"/>
                <a:ea typeface="Consolas" pitchFamily="34" charset="-122"/>
                <a:cs typeface="Consolas" pitchFamily="34" charset="-120"/>
              </a:rPr>
              <a:t>04</a:t>
            </a:r>
            <a:endParaRPr lang="en-US" sz="1300" dirty="0"/>
          </a:p>
        </p:txBody>
      </p:sp>
      <p:sp>
        <p:nvSpPr>
          <p:cNvPr id="14" name="Text 12"/>
          <p:cNvSpPr txBox="1"/>
          <p:nvPr/>
        </p:nvSpPr>
        <p:spPr>
          <a:xfrm>
            <a:off x="1051560" y="3246120"/>
            <a:ext cx="7543800" cy="594360"/>
          </a:xfrm>
          <a:prstGeom prst="rect">
            <a:avLst/>
          </a:prstGeom>
          <a:noFill/>
          <a:ln/>
        </p:spPr>
        <p:txBody>
          <a:bodyPr wrap="square" lIns="0" tIns="0" rIns="0" bIns="0" rtlCol="0" anchor="ctr"/>
          <a:lstStyle/>
          <a:p>
            <a:pPr marL="0" indent="0">
              <a:buNone/>
            </a:pPr>
            <a:r>
              <a:rPr lang="en-US" sz="1150" b="1" dirty="0">
                <a:solidFill>
                  <a:srgbClr val="F8FAFC"/>
                </a:solidFill>
              </a:rPr>
              <a:t>Perfil:</a:t>
            </a:r>
            <a:r>
              <a:rPr lang="en-US" sz="1150" dirty="0">
                <a:solidFill>
                  <a:srgbClr val="CBD5E1"/>
                </a:solidFill>
              </a:rPr>
              <a:t> </a:t>
            </a:r>
            <a:r>
              <a:rPr lang="en-US" sz="1150" dirty="0" err="1">
                <a:solidFill>
                  <a:srgbClr val="CBD5E1"/>
                </a:solidFill>
              </a:rPr>
              <a:t>R</a:t>
            </a:r>
            <a:r>
              <a:rPr lang="en-US" sz="1150" dirty="0" err="1" smtClean="0">
                <a:solidFill>
                  <a:srgbClr val="CBD5E1"/>
                </a:solidFill>
              </a:rPr>
              <a:t>adiografía</a:t>
            </a:r>
            <a:r>
              <a:rPr lang="en-US" sz="1150" dirty="0">
                <a:solidFill>
                  <a:srgbClr val="CBD5E1"/>
                </a:solidFill>
              </a:rPr>
              <a:t>, TC y RM suman el </a:t>
            </a:r>
            <a:r>
              <a:rPr lang="en-US" sz="1150" dirty="0" smtClean="0">
                <a:solidFill>
                  <a:srgbClr val="CBD5E1"/>
                </a:solidFill>
              </a:rPr>
              <a:t>91,4 </a:t>
            </a:r>
            <a:r>
              <a:rPr lang="en-US" sz="1150" dirty="0">
                <a:solidFill>
                  <a:srgbClr val="CBD5E1"/>
                </a:solidFill>
              </a:rPr>
              <a:t>% de los estudios; </a:t>
            </a:r>
            <a:r>
              <a:rPr lang="en-US" sz="1150" dirty="0" smtClean="0">
                <a:solidFill>
                  <a:srgbClr val="CBD5E1"/>
                </a:solidFill>
              </a:rPr>
              <a:t>66,3 </a:t>
            </a:r>
            <a:r>
              <a:rPr lang="en-US" sz="1150" dirty="0">
                <a:solidFill>
                  <a:srgbClr val="CBD5E1"/>
                </a:solidFill>
              </a:rPr>
              <a:t>% de los pacientes son hombres; edad media </a:t>
            </a:r>
            <a:r>
              <a:rPr lang="en-US" sz="1150" dirty="0" smtClean="0">
                <a:solidFill>
                  <a:srgbClr val="CBD5E1"/>
                </a:solidFill>
              </a:rPr>
              <a:t>46,9 </a:t>
            </a:r>
            <a:r>
              <a:rPr lang="en-US" sz="1150" smtClean="0">
                <a:solidFill>
                  <a:srgbClr val="CBD5E1"/>
                </a:solidFill>
              </a:rPr>
              <a:t>años</a:t>
            </a:r>
            <a:endParaRPr lang="en-US" sz="1150" dirty="0"/>
          </a:p>
        </p:txBody>
      </p:sp>
      <p:sp>
        <p:nvSpPr>
          <p:cNvPr id="15" name="Conclusión 5"/>
          <p:cNvSpPr/>
          <p:nvPr/>
        </p:nvSpPr>
        <p:spPr>
          <a:xfrm>
            <a:off x="457200" y="3931920"/>
            <a:ext cx="8229600" cy="594360"/>
          </a:xfrm>
          <a:prstGeom prst="rect">
            <a:avLst/>
          </a:prstGeom>
          <a:solidFill>
            <a:srgbClr val="111A22"/>
          </a:solidFill>
          <a:ln w="12700">
            <a:solidFill>
              <a:srgbClr val="1F2D3A"/>
            </a:solidFill>
            <a:prstDash val="solid"/>
          </a:ln>
        </p:spPr>
      </p:sp>
      <p:sp>
        <p:nvSpPr>
          <p:cNvPr id="17" name="Text 15"/>
          <p:cNvSpPr txBox="1"/>
          <p:nvPr/>
        </p:nvSpPr>
        <p:spPr>
          <a:xfrm>
            <a:off x="1051560" y="3931920"/>
            <a:ext cx="7543800" cy="594360"/>
          </a:xfrm>
          <a:prstGeom prst="rect">
            <a:avLst/>
          </a:prstGeom>
          <a:noFill/>
          <a:ln/>
        </p:spPr>
        <p:txBody>
          <a:bodyPr wrap="square" lIns="0" tIns="0" rIns="0" bIns="0" rtlCol="0" anchor="ctr"/>
          <a:lstStyle/>
          <a:p>
            <a:pPr marL="0" indent="0">
              <a:buNone/>
            </a:pPr>
            <a:endParaRPr lang="en-US" sz="1150" dirty="0"/>
          </a:p>
        </p:txBody>
      </p:sp>
      <p:sp>
        <p:nvSpPr>
          <p:cNvPr id="25" name="Slide Number Placeholder 0"/>
          <p:cNvSpPr>
            <a:spLocks noGrp="1"/>
          </p:cNvSpPr>
          <p:nvPr>
            <p:ph type="sldNum" sz="quarter" idx="4294967295"/>
          </p:nvPr>
        </p:nvSpPr>
        <p:spPr>
          <a:xfrm>
            <a:off x="8229600" y="4727448"/>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7C8BA1"/>
                </a:solidFill>
                <a:latin typeface="Consolas"/>
                <a:ea typeface="Consolas"/>
                <a:cs typeface="Consolas"/>
              </a:defRPr>
            </a:lvl1pPr>
          </a:lstStyle>
          <a:p>
            <a:pPr algn="r"/>
            <a:fld id="{F7021451-1387-4CA6-816F-3879F97B5CBC}" type="slidenum">
              <a:rPr lang="en-US" b="0"/>
              <a:t>35</a:t>
            </a:fld>
            <a:endParaRPr lang="en-US"/>
          </a:p>
        </p:txBody>
      </p:sp>
    </p:spTree>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9"/>
          <p:cNvSpPr>
            <a:spLocks noGrp="1"/>
          </p:cNvSpPr>
          <p:nvPr>
            <p:ph type="title" idx="109" hasCustomPrompt="1"/>
          </p:nvPr>
        </p:nvSpPr>
        <p:spPr>
          <a:xfrm>
            <a:off x="457200" y="320040"/>
            <a:ext cx="7040880" cy="685800"/>
          </a:xfrm>
          <a:prstGeom prst="rect">
            <a:avLst/>
          </a:prstGeom>
          <a:noFill/>
          <a:ln/>
        </p:spPr>
        <p:txBody>
          <a:bodyPr wrap="square" lIns="0" tIns="0" rIns="0" bIns="0" rtlCol="0" anchor="ctr"/>
          <a:lstStyle/>
          <a:p>
            <a:pPr marL="0" indent="0" algn="l">
              <a:buNone/>
            </a:pPr>
            <a:r>
              <a:rPr lang="en-US" sz="2400" b="1" dirty="0">
                <a:solidFill>
                  <a:srgbClr val="F8FAFC"/>
                </a:solidFill>
              </a:rPr>
              <a:t>Recomendaciones</a:t>
            </a:r>
            <a:endParaRPr lang="en-US" sz="2400" dirty="0"/>
          </a:p>
        </p:txBody>
      </p:sp>
      <p:sp>
        <p:nvSpPr>
          <p:cNvPr id="18" name="Tarjeta 4"/>
          <p:cNvSpPr/>
          <p:nvPr/>
        </p:nvSpPr>
        <p:spPr>
          <a:xfrm>
            <a:off x="457200" y="1005840"/>
            <a:ext cx="8057786" cy="3474720"/>
          </a:xfrm>
          <a:prstGeom prst="rect">
            <a:avLst/>
          </a:prstGeom>
          <a:solidFill>
            <a:srgbClr val="111A22"/>
          </a:solidFill>
          <a:ln w="12700">
            <a:solidFill>
              <a:srgbClr val="1F2D3A"/>
            </a:solidFill>
            <a:prstDash val="solid"/>
          </a:ln>
        </p:spPr>
      </p:sp>
      <p:sp>
        <p:nvSpPr>
          <p:cNvPr id="33" name="Slide Number Placeholder 0"/>
          <p:cNvSpPr>
            <a:spLocks noGrp="1"/>
          </p:cNvSpPr>
          <p:nvPr>
            <p:ph type="sldNum" sz="quarter" idx="4294967295"/>
          </p:nvPr>
        </p:nvSpPr>
        <p:spPr>
          <a:xfrm>
            <a:off x="8229600" y="4727448"/>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7C8BA1"/>
                </a:solidFill>
                <a:latin typeface="Consolas"/>
                <a:ea typeface="Consolas"/>
                <a:cs typeface="Consolas"/>
              </a:defRPr>
            </a:lvl1pPr>
          </a:lstStyle>
          <a:p>
            <a:pPr algn="r"/>
            <a:fld id="{F7021451-1387-4CA6-816F-3879F97B5CBC}" type="slidenum">
              <a:rPr lang="en-US" b="0"/>
              <a:t>36</a:t>
            </a:fld>
            <a:endParaRPr lang="en-US"/>
          </a:p>
        </p:txBody>
      </p:sp>
      <p:sp>
        <p:nvSpPr>
          <p:cNvPr id="34" name="CuadroTexto 33"/>
          <p:cNvSpPr txBox="1"/>
          <p:nvPr/>
        </p:nvSpPr>
        <p:spPr>
          <a:xfrm>
            <a:off x="652312" y="1357038"/>
            <a:ext cx="7653004" cy="2492990"/>
          </a:xfrm>
          <a:prstGeom prst="rect">
            <a:avLst/>
          </a:prstGeom>
          <a:noFill/>
        </p:spPr>
        <p:txBody>
          <a:bodyPr wrap="square" rtlCol="0">
            <a:spAutoFit/>
          </a:bodyPr>
          <a:lstStyle/>
          <a:p>
            <a:pPr lvl="0"/>
            <a:r>
              <a:rPr lang="es-ES" sz="1200" b="1" dirty="0">
                <a:solidFill>
                  <a:schemeClr val="bg1"/>
                </a:solidFill>
              </a:rPr>
              <a:t>Revisar la información sin datos:</a:t>
            </a:r>
            <a:r>
              <a:rPr lang="es-ES" sz="1200" dirty="0">
                <a:solidFill>
                  <a:schemeClr val="bg1"/>
                </a:solidFill>
              </a:rPr>
              <a:t> Es imperativo revisar que se puede recuperar ese ~21% de la edad de registros faltantes, el bloque "SIN DATO". </a:t>
            </a:r>
            <a:endParaRPr lang="es-ES" sz="1200" dirty="0" smtClean="0">
              <a:solidFill>
                <a:schemeClr val="bg1"/>
              </a:solidFill>
            </a:endParaRPr>
          </a:p>
          <a:p>
            <a:pPr lvl="0"/>
            <a:endParaRPr lang="es-ES" sz="1200" dirty="0">
              <a:solidFill>
                <a:schemeClr val="bg1"/>
              </a:solidFill>
            </a:endParaRPr>
          </a:p>
          <a:p>
            <a:pPr lvl="0"/>
            <a:r>
              <a:rPr lang="es-ES" sz="1200" b="1" dirty="0">
                <a:solidFill>
                  <a:schemeClr val="bg1"/>
                </a:solidFill>
              </a:rPr>
              <a:t>Implementar una Estrategia de Modelos Escalonados (</a:t>
            </a:r>
            <a:r>
              <a:rPr lang="es-ES" sz="1200" b="1" dirty="0" err="1">
                <a:solidFill>
                  <a:schemeClr val="bg1"/>
                </a:solidFill>
              </a:rPr>
              <a:t>Cascading</a:t>
            </a:r>
            <a:r>
              <a:rPr lang="es-ES" sz="1200" b="1" dirty="0">
                <a:solidFill>
                  <a:schemeClr val="bg1"/>
                </a:solidFill>
              </a:rPr>
              <a:t> </a:t>
            </a:r>
            <a:r>
              <a:rPr lang="es-ES" sz="1200" b="1" dirty="0" err="1">
                <a:solidFill>
                  <a:schemeClr val="bg1"/>
                </a:solidFill>
              </a:rPr>
              <a:t>LLMs</a:t>
            </a:r>
            <a:r>
              <a:rPr lang="es-ES" sz="1200" b="1" dirty="0">
                <a:solidFill>
                  <a:schemeClr val="bg1"/>
                </a:solidFill>
              </a:rPr>
              <a:t>):</a:t>
            </a:r>
            <a:r>
              <a:rPr lang="es-ES" sz="1200" dirty="0">
                <a:solidFill>
                  <a:schemeClr val="bg1"/>
                </a:solidFill>
              </a:rPr>
              <a:t> Para el </a:t>
            </a:r>
            <a:r>
              <a:rPr lang="es-ES" sz="1200" dirty="0" err="1">
                <a:solidFill>
                  <a:schemeClr val="bg1"/>
                </a:solidFill>
              </a:rPr>
              <a:t>subbloque</a:t>
            </a:r>
            <a:r>
              <a:rPr lang="es-ES" sz="1200" dirty="0">
                <a:solidFill>
                  <a:schemeClr val="bg1"/>
                </a:solidFill>
              </a:rPr>
              <a:t> del </a:t>
            </a:r>
            <a:r>
              <a:rPr lang="es-ES" sz="1200" b="1" dirty="0">
                <a:solidFill>
                  <a:schemeClr val="bg1"/>
                </a:solidFill>
              </a:rPr>
              <a:t>4,4% (4.578 informes)</a:t>
            </a:r>
            <a:r>
              <a:rPr lang="es-ES" sz="1200" dirty="0">
                <a:solidFill>
                  <a:schemeClr val="bg1"/>
                </a:solidFill>
              </a:rPr>
              <a:t> marcado con problemas estructurales o JSON corrupto, se recomienda configurar un re-enrutamiento automático hacia el modelo </a:t>
            </a:r>
            <a:r>
              <a:rPr lang="es-ES" sz="1200" b="1" dirty="0">
                <a:solidFill>
                  <a:schemeClr val="bg1"/>
                </a:solidFill>
              </a:rPr>
              <a:t>Llama 3.1 (8B)</a:t>
            </a:r>
            <a:r>
              <a:rPr lang="es-ES" sz="1200" dirty="0">
                <a:solidFill>
                  <a:schemeClr val="bg1"/>
                </a:solidFill>
              </a:rPr>
              <a:t>. Al ser un volumen acotado de documentos, el hardware local del ordenador no se verá desbordado y se aprovechará la mayor capacidad del modelo de 8B para interpretar textos largos y seguir instrucciones complejas</a:t>
            </a:r>
            <a:r>
              <a:rPr lang="es-ES" sz="1200" dirty="0" smtClean="0">
                <a:solidFill>
                  <a:schemeClr val="bg1"/>
                </a:solidFill>
              </a:rPr>
              <a:t>.</a:t>
            </a:r>
          </a:p>
          <a:p>
            <a:pPr lvl="0"/>
            <a:endParaRPr lang="es-ES" sz="1200" dirty="0">
              <a:solidFill>
                <a:schemeClr val="bg1"/>
              </a:solidFill>
            </a:endParaRPr>
          </a:p>
          <a:p>
            <a:pPr lvl="0"/>
            <a:r>
              <a:rPr lang="es-ES" sz="1200" b="1" dirty="0">
                <a:solidFill>
                  <a:schemeClr val="bg1"/>
                </a:solidFill>
              </a:rPr>
              <a:t>Procesar por Temporalidad y Validar en Origen:</a:t>
            </a:r>
            <a:r>
              <a:rPr lang="es-ES" sz="1200" dirty="0">
                <a:solidFill>
                  <a:schemeClr val="bg1"/>
                </a:solidFill>
              </a:rPr>
              <a:t> Priorizar el procesamiento del 74,7% de informes pendientes siguiendo un orden cronológico vinculado a su fecha de creación y última actualización, cruzándolo con el </a:t>
            </a:r>
            <a:r>
              <a:rPr lang="es-ES" sz="1200" i="1" dirty="0">
                <a:solidFill>
                  <a:schemeClr val="bg1"/>
                </a:solidFill>
              </a:rPr>
              <a:t>Status</a:t>
            </a:r>
            <a:r>
              <a:rPr lang="es-ES" sz="1200" dirty="0">
                <a:solidFill>
                  <a:schemeClr val="bg1"/>
                </a:solidFill>
              </a:rPr>
              <a:t> administrativo (</a:t>
            </a:r>
            <a:r>
              <a:rPr lang="es-ES" sz="1200" dirty="0" err="1">
                <a:solidFill>
                  <a:schemeClr val="bg1"/>
                </a:solidFill>
              </a:rPr>
              <a:t>Draft</a:t>
            </a:r>
            <a:r>
              <a:rPr lang="es-ES" sz="1200" dirty="0">
                <a:solidFill>
                  <a:schemeClr val="bg1"/>
                </a:solidFill>
              </a:rPr>
              <a:t> vs. </a:t>
            </a:r>
            <a:r>
              <a:rPr lang="es-ES" sz="1200" dirty="0" err="1">
                <a:solidFill>
                  <a:schemeClr val="bg1"/>
                </a:solidFill>
              </a:rPr>
              <a:t>Completed</a:t>
            </a:r>
            <a:r>
              <a:rPr lang="es-ES" sz="1200" dirty="0">
                <a:solidFill>
                  <a:schemeClr val="bg1"/>
                </a:solidFill>
              </a:rPr>
              <a:t>). Asimismo, se sugiere implementar validaciones obligatorias en el software de admisión hospitalaria (RIS) para impedir la inserción de formatos de edad anómalos antes de su almacenamiento centralizado.</a:t>
            </a:r>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Visor radiológico">
  <a:themeElements>
    <a:clrScheme name="Visor radiológico">
      <a:dk1>
        <a:srgbClr val="0A0F14"/>
      </a:dk1>
      <a:lt1>
        <a:srgbClr val="F8FAFC"/>
      </a:lt1>
      <a:dk2>
        <a:srgbClr val="111A22"/>
      </a:dk2>
      <a:lt2>
        <a:srgbClr val="E2E8F0"/>
      </a:lt2>
      <a:accent1>
        <a:srgbClr val="22D3EE"/>
      </a:accent1>
      <a:accent2>
        <a:srgbClr val="F59E0B"/>
      </a:accent2>
      <a:accent3>
        <a:srgbClr val="EF4444"/>
      </a:accent3>
      <a:accent4>
        <a:srgbClr val="818CF8"/>
      </a:accent4>
      <a:accent5>
        <a:srgbClr val="34D399"/>
      </a:accent5>
      <a:accent6>
        <a:srgbClr val="94A3B8"/>
      </a:accent6>
      <a:hlink>
        <a:srgbClr val="22D3EE"/>
      </a:hlink>
      <a:folHlink>
        <a:srgbClr val="94A3B8"/>
      </a:folHlink>
    </a:clrScheme>
    <a:fontScheme name="Visor radiológic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4070</TotalTime>
  <Words>3776</Words>
  <Application>Microsoft Office PowerPoint</Application>
  <PresentationFormat>Presentación en pantalla (16:9)</PresentationFormat>
  <Paragraphs>277</Paragraphs>
  <Slides>36</Slides>
  <Notes>27</Notes>
  <HiddenSlides>0</HiddenSlides>
  <MMClips>0</MMClips>
  <ScaleCrop>false</ScaleCrop>
  <HeadingPairs>
    <vt:vector size="6" baseType="variant">
      <vt:variant>
        <vt:lpstr>Fuentes usadas</vt:lpstr>
      </vt:variant>
      <vt:variant>
        <vt:i4>8</vt:i4>
      </vt:variant>
      <vt:variant>
        <vt:lpstr>Tema</vt:lpstr>
      </vt:variant>
      <vt:variant>
        <vt:i4>1</vt:i4>
      </vt:variant>
      <vt:variant>
        <vt:lpstr>Títulos de diapositiva</vt:lpstr>
      </vt:variant>
      <vt:variant>
        <vt:i4>36</vt:i4>
      </vt:variant>
    </vt:vector>
  </HeadingPairs>
  <TitlesOfParts>
    <vt:vector size="45" baseType="lpstr">
      <vt:lpstr>Arial</vt:lpstr>
      <vt:lpstr>Arial Unicode MS</vt:lpstr>
      <vt:lpstr>Calibri</vt:lpstr>
      <vt:lpstr>Consolas</vt:lpstr>
      <vt:lpstr>Courier New</vt:lpstr>
      <vt:lpstr>Plus Jakarta Sans</vt:lpstr>
      <vt:lpstr>Symbol</vt:lpstr>
      <vt:lpstr>Times New Roman</vt:lpstr>
      <vt:lpstr>Visor radiológico</vt:lpstr>
      <vt:lpstr>“Los datos son el nuevo petróleo.”</vt:lpstr>
      <vt:lpstr>Presentación de PowerPoint</vt:lpstr>
      <vt:lpstr>Procesamiento Local de Informes Médicos con Llama 3.2 3B</vt:lpstr>
      <vt:lpstr>Explicación con un ejemplo del procedimiento</vt:lpstr>
      <vt:lpstr>Presentación de PowerPoint</vt:lpstr>
      <vt:lpstr>&lt;figure class="table" style="width:100%;"&gt;&lt;table&gt;&lt;tbody&gt;&lt;tr&gt;&lt;td&gt;&lt;strong&gt;Nombre:&lt;/strong&gt; CRISOSTOMO PENA NELFI&lt;/td&gt;&lt;td&gt;&lt;strong&gt;Sexo:&lt;/strong&gt; M&lt;/td&gt;&lt;/tr&gt;&lt;tr&gt;&lt;td&gt;&lt;strong&gt;Médico Referidor:&lt;/strong&gt; Test Ref&lt;/td&gt;&lt;td&gt;&lt;strong&gt;Edad:&lt;/strong&gt; -&lt;/td&gt;&lt;/tr&gt;&lt;tr&gt;&lt;td&gt;&lt;strong&gt;Fecha Estudio:&lt;/strong&gt; 2025-06-18&lt;/td&gt;&lt;td&gt;&lt;strong&gt;Modalidad:&lt;/strong&gt; DX&lt;/td&gt;&lt;/tr&gt;&lt;tr&gt;&lt;td&gt;&lt;strong&gt;ID Estudio:&lt;/strong&gt; -&lt;/td&gt;&lt;td&gt;&lt;strong&gt;Autorización:&lt;/strong&gt;&lt;/td&gt;&lt;/tr&gt;&lt;tr&gt;&lt;td&gt;&lt;strong&gt;ID Paciente:&lt;/strong&gt; NELFI CRISOSTOMO PENA&lt;/td&gt;&lt;td&gt;&lt;strong&gt;Póliza:&lt;/strong&gt;&lt;/td&gt;&lt;/tr&gt;&lt;tr&gt;&lt;td&gt;&lt;strong&gt;Seguro:&lt;/strong&gt;&lt;/td&gt;&lt;td&gt;&amp;nbsp;&lt;/td&gt;&lt;/tr&gt;&lt;/tbody&gt;&lt;/table&gt;&lt;/figure&gt;&lt;p&gt;&lt;br&gt;&amp;nbsp;&lt;/p&gt;&lt;p&gt;&lt;strong&gt;Descripción:&lt;/strong&gt; PRE&lt;/p&gt;&lt;p&gt;&amp;nbsp;&lt;/p&gt;&lt;p&gt;&lt;strong&gt;ESTUDIO: COLUMNA CERVICAL EN AP Y LATERAL&amp;nbsp;&amp;nbsp;&amp;nbsp;&amp;nbsp;&amp;nbsp;&amp;nbsp;&amp;nbsp;&amp;nbsp;&amp;nbsp;&amp;nbsp;&amp;nbsp;&amp;nbsp;&amp;nbsp;&amp;nbsp;&amp;nbsp;&amp;nbsp;&amp;nbsp;&amp;nbsp;&amp;nbsp;&amp;nbsp;&amp;nbsp;&amp;nbsp;&amp;nbsp;&amp;nbsp;&amp;nbsp;&amp;nbsp;&amp;nbsp;&amp;nbsp;&amp;nbsp;&amp;nbsp;&amp;nbsp;&amp;nbsp;&amp;nbsp;&amp;nbsp;&amp;nbsp;&amp;nbsp;&amp;nbsp;&amp;nbsp;&amp;nbsp;&amp;nbsp;&amp;nbsp;&amp;nbsp;&amp;nbsp;&amp;nbsp;&amp;nbsp;&amp;nbsp;&amp;nbsp;&amp;nbsp;&amp;nbsp;&amp;nbsp;&amp;nbsp;&amp;nbsp;&amp;nbsp;&amp;nbsp;&lt;/strong&gt;&lt;/p&gt;&lt;p&gt;&lt;strong&gt;RESULTADOS:&lt;/strong&gt;&lt;/p&gt;&lt;p&gt;·&amp;nbsp;&amp;nbsp;&amp;nbsp;&amp;nbsp;&amp;nbsp;&amp;nbsp;&amp;nbsp;&amp;nbsp; Lordosis de la columna cervical luce rectificada.&lt;/p&gt;&lt;p&gt;·&amp;nbsp;&amp;nbsp;&amp;nbsp;&amp;nbsp;&amp;nbsp;&amp;nbsp;&amp;nbsp;&amp;nbsp; Las vertebras cervicales son normales en forma, numero y tamaño.&lt;/p&gt;&lt;p&gt;·&amp;nbsp;&amp;nbsp;&amp;nbsp;&amp;nbsp;&amp;nbsp;&amp;nbsp;&amp;nbsp;&amp;nbsp; La línea grasa prevertebral y los espacios retrofaringeo y retrotraqueal están dentro de la normalidad.&lt;/p&gt;&lt;p&gt;·&amp;nbsp;&amp;nbsp;&amp;nbsp;&amp;nbsp;&amp;nbsp;&amp;nbsp;&amp;nbsp;&amp;nbsp; Imagen de la traquea y de las partes blandas sin alteraciones.&lt;/p&gt;&lt;p&gt;&lt;strong&gt;IMPRESIÓN DIAGNÓSTICA:&lt;/strong&gt;&lt;/p&gt;&lt;p&gt;&lt;strong&gt;DATOS DE ESPASMO DE LA MUSCULATURA PARAVERTEBRAL CERVICAL.&lt;/strong&gt;&lt;/p&gt;&lt;p&gt;&amp;nbsp;&lt;/p&gt;&lt;p&gt;&amp;nbsp;&lt;/p&gt;&lt;p style="text-align:justify;"&gt;&lt;strong&gt;&lt;u&gt;RX COLUMNA DORSAL AP Y LATERAL&lt;/u&gt;&lt;/strong&gt;&lt;/p&gt;&lt;p style="text-align:justify;"&gt;&lt;strong&gt;&lt;u&gt;RESULTADOS:&lt;/u&gt;&lt;/strong&gt;&lt;/p&gt;&lt;p style="text-align:justify;"&gt;Se observa desviación del eje longitudinal de la columna dorsal, manteniendo la alineación de las apófisis espinosas.&lt;/p&gt;&lt;p style="text-align:justify;"&gt;Los cuerpos y espacios intervertebrales lucen conservados.&amp;nbsp;&lt;/p&gt;&lt;p style="text-align:justify;"&gt;No hay evidencias de líneas de discontinuidad ósea.&amp;nbsp;&lt;/p&gt;&lt;p style="text-align:justify;"&gt;No hay lesiones líticas o blásticas. &amp;nbsp;&lt;/p&gt;&lt;p style="text-align:justify;"&gt;No hay alteraciones de los tejidos blandos paravertebrales.&lt;/p&gt;&lt;p style="text-align:justify;"&gt;&lt;strong&gt;&lt;u&gt;CONCLUSION:&lt;/u&gt;&lt;/strong&gt;&lt;/p&gt;&lt;p style="text-align:justify;"&gt;&lt;strong&gt;ACTITUD ESCOLIÓTICA DORSAL COMO FUE DESCRITA.&lt;/strong&gt;&lt;/p&gt;&lt;p style="text-align:justify;"&gt;&amp;nbsp;&lt;/p&gt;&lt;p style="text-align:justify;"&gt;&amp;nbsp;&lt;/p&gt;&lt;p style="text-align:justify;"&gt;&lt;strong&gt;&lt;u&gt;RX COLUMNA LUMBAR AP Y LATERAL&lt;/u&gt;&lt;/strong&gt;&lt;/p&gt;&lt;p style="text-align:justify;"&gt;&lt;strong&gt;&lt;u&gt;RESULTADOS:&lt;/u&gt;&lt;/strong&gt;&lt;/p&gt;&lt;p style="text-align:justify;"&gt;Existe actitud escoliotica lumbar consistente con desviación sutil de la lordosis a la izquierda, manteniendo la alineación de las apófisis espinosas.&lt;/p&gt;&lt;p style="text-align:justify;"&gt;Se distingue rectificación de la lordosis lumbar.&lt;/p&gt;&lt;p style="text-align:justify;"&gt;No hay alteraciones de los cuerpos vertebrales.&lt;/p&gt;&lt;p style="text-align:justify;"&gt;Espacios intervertebrales conservados.&amp;nbsp;&lt;/p&gt;&lt;p style="text-align:justify;"&gt;No se observan fracturas, ni lesiones líticas o blásticas.&lt;/p&gt;&lt;p style="text-align:justify;"&gt;&lt;strong&gt;&lt;u&gt;CONCLUSION:&lt;/u&gt;&lt;/strong&gt;&lt;/p&gt;&lt;p style="text-align:justify;"&gt;¯&amp;nbsp; &lt;strong&gt;ACTITUD ESCOLIOTICA LUMBAR.&lt;/strong&gt;&lt;/p&gt;&lt;p style="text-align:justify;"&gt;¯&amp;nbsp; &lt;strong&gt;DATOS DE ESPASMO DE LA MUSCULATURA PARAVERTEBRAL LUMBAR.&lt;/strong&gt;&lt;/p&gt;</vt:lpstr>
      <vt:lpstr>Presentación de PowerPoint</vt:lpstr>
      <vt:lpstr>Cuando este texto entra a Ollama, los parámetros configurados actúan de la siguiente manera:   num_ctx: 1024 (Ventana de Contexto): Métricas: El Prompt del Sistema (~180 tokens) + el Texto Médico de arriba (~320 tokens) suman un Total de Entrada de ~500 tokens. Impacto: Al haber bajado el límite de 2048 a 1024, el documento ocupa exactamente el 48% de la memoria asignada. Esto es perfecto: el modelo tiene una visión completa de los 3 estudios (Cervical, Dorsal y Lumbar) a la vez, y le quedan libres más de 500 tokens de memoria para redactar la salida sin sufrir "amnesia". temperature: 0.0 (Creatividad Cero): Impacto: Obliga al modelo a ser estrictamente literal y matemático. En medicina esto es vital: evita que invente diagnósticos (alucinaciones) o que redacte de forma poética. Si procesas el mismo informe 100 veces, las 100 veces obtendrás exactamente el mismo JSON. num_predict: 512 (Límite de Salida): Impacto: Le permite al modelo generar una respuesta de hasta 512 tokens. Como el JSON resultante de este informe consume aproximadamente 340 tokens, el límite de 512 es más que suficiente para garantizar que la respuesta no se corte por la mitad. format: json + model: llama3.2:3b: Impacto: El parámetro fuerza a los circuitos de Llama 3.2 a estructurar los caracteres exclusivamente bajo la sintaxis de llaves {}, descalificando cualquier palabra que intente salirse del formato.</vt:lpstr>
      <vt:lpstr>Presentación de PowerPoint</vt:lpstr>
      <vt:lpstr>Con la configuración de 1024, el mapa de memoria de tu tarjeta gráfica para esta petición específica se distribuye así:  Tokens de Entrada (Prompt + Informe): ~500 tokens.  Tokens de Salida (JSON Generado): ~340 tokens.  Contexto Total Utilizado: ~840 tokens de los 1024 permitidos. Memoria VRAM Libre de Seguridad: ~184 tokens (Margen ideal para evitar desbordamientos).</vt:lpstr>
      <vt:lpstr>Resumen</vt:lpstr>
      <vt:lpstr>Introducción: el problema y el objetivo</vt:lpstr>
      <vt:lpstr>Metodología: datos, herramientas y flujo</vt:lpstr>
      <vt:lpstr>Modelo y parámetros utilizados</vt:lpstr>
      <vt:lpstr>Estado y avance del procesamiento</vt:lpstr>
      <vt:lpstr>Fallos de la IA y tamaño del HTML</vt:lpstr>
      <vt:lpstr>Completitud de campos y Status × Modalidad</vt:lpstr>
      <vt:lpstr>Perfil demográfico: sexo y edad</vt:lpstr>
      <vt:lpstr>Distribución de la edad por sexo</vt:lpstr>
      <vt:lpstr>Edad media por modalidad</vt:lpstr>
      <vt:lpstr>Perfil clínico: volumen y modalidades</vt:lpstr>
      <vt:lpstr>Concentración de los estudios (Pareto)</vt:lpstr>
      <vt:lpstr>Hallazgos y conclusiones más frecuentes</vt:lpstr>
      <vt:lpstr>Clasificación clínica por palabras clave</vt:lpstr>
      <vt:lpstr>Clasificación según el tipo de estudio</vt:lpstr>
      <vt:lpstr>Relación entre estudio y sexo</vt:lpstr>
      <vt:lpstr>Estudios que se solicitan juntos</vt:lpstr>
      <vt:lpstr>Inferencia: asociación entre estudio y clasificación</vt:lpstr>
      <vt:lpstr>Residuos ajustados estudio × clasificación (1/2)</vt:lpstr>
      <vt:lpstr>Residuos ajustados estudio × clasificación (1/2)</vt:lpstr>
      <vt:lpstr>Tasa de RELEVANTES por estudio: contraste</vt:lpstr>
      <vt:lpstr>Estudios por encima y por debajo de la media</vt:lpstr>
      <vt:lpstr>Estudios  Edad(ANOVA)</vt:lpstr>
      <vt:lpstr>Estudios  Edad(ANOVA)</vt:lpstr>
      <vt:lpstr>Conclusiones</vt:lpstr>
      <vt:lpstr>Recomendaciones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osley sorio</cp:lastModifiedBy>
  <cp:revision>59</cp:revision>
  <dcterms:created xsi:type="dcterms:W3CDTF">2026-10-06T20:42:37Z</dcterms:created>
  <dcterms:modified xsi:type="dcterms:W3CDTF">2026-10-10T09:45:04Z</dcterms:modified>
</cp:coreProperties>
</file>
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83" r:id="rId2"/>
    <p:sldId id="256" r:id="rId3"/>
    <p:sldId id="258" r:id="rId4"/>
    <p:sldId id="295" r:id="rId5"/>
    <p:sldId id="296" r:id="rId6"/>
    <p:sldId id="302" r:id="rId7"/>
    <p:sldId id="301" r:id="rId8"/>
    <p:sldId id="297" r:id="rId9"/>
    <p:sldId id="304" r:id="rId10"/>
    <p:sldId id="305" r:id="rId11"/>
    <p:sldId id="306" r:id="rId12"/>
    <p:sldId id="298" r:id="rId13"/>
    <p:sldId id="316" r:id="rId14"/>
    <p:sldId id="299" r:id="rId15"/>
    <p:sldId id="321" r:id="rId16"/>
    <p:sldId id="261" r:id="rId17"/>
    <p:sldId id="307" r:id="rId18"/>
    <p:sldId id="308" r:id="rId19"/>
    <p:sldId id="262" r:id="rId20"/>
    <p:sldId id="263" r:id="rId21"/>
    <p:sldId id="309" r:id="rId22"/>
    <p:sldId id="322" r:id="rId23"/>
    <p:sldId id="264" r:id="rId24"/>
    <p:sldId id="310" r:id="rId25"/>
    <p:sldId id="265" r:id="rId26"/>
    <p:sldId id="266" r:id="rId27"/>
    <p:sldId id="323" r:id="rId28"/>
    <p:sldId id="313" r:id="rId29"/>
    <p:sldId id="312" r:id="rId30"/>
    <p:sldId id="311" r:id="rId31"/>
    <p:sldId id="268" r:id="rId32"/>
    <p:sldId id="314" r:id="rId33"/>
    <p:sldId id="269" r:id="rId34"/>
    <p:sldId id="270" r:id="rId35"/>
    <p:sldId id="315" r:id="rId36"/>
    <p:sldId id="271" r:id="rId37"/>
    <p:sldId id="272" r:id="rId38"/>
    <p:sldId id="273" r:id="rId39"/>
    <p:sldId id="324" r:id="rId40"/>
    <p:sldId id="274" r:id="rId41"/>
    <p:sldId id="325" r:id="rId42"/>
    <p:sldId id="319" r:id="rId43"/>
    <p:sldId id="277" r:id="rId44"/>
    <p:sldId id="317" r:id="rId45"/>
    <p:sldId id="281" r:id="rId46"/>
    <p:sldId id="282" r:id="rId47"/>
    <p:sldId id="326" r:id="rId4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0F012978-4B0F-1F32-2904-B6435E0EE497}">
          <p14:sldIdLst>
            <p14:sldId id="283"/>
            <p14:sldId id="256"/>
            <p14:sldId id="258"/>
            <p14:sldId id="295"/>
            <p14:sldId id="296"/>
            <p14:sldId id="302"/>
            <p14:sldId id="301"/>
            <p14:sldId id="297"/>
            <p14:sldId id="304"/>
            <p14:sldId id="305"/>
            <p14:sldId id="306"/>
            <p14:sldId id="298"/>
            <p14:sldId id="316"/>
            <p14:sldId id="299"/>
          </p14:sldIdLst>
        </p14:section>
        <p14:section name="Resumen e introducción" id="{2C9DDE80-BB2D-55F3-D116-EFCA4B5F75A0}">
          <p14:sldIdLst/>
        </p14:section>
        <p14:section name="Metodología" id="{0D76A3DC-B458-CADF-F271-2574F1A731CD}">
          <p14:sldIdLst/>
        </p14:section>
        <p14:section name="Resultados" id="{5756319F-F9AC-5B3A-2700-BD89148067A1}">
          <p14:sldIdLst>
            <p14:sldId id="321"/>
            <p14:sldId id="261"/>
            <p14:sldId id="307"/>
            <p14:sldId id="308"/>
            <p14:sldId id="262"/>
            <p14:sldId id="263"/>
            <p14:sldId id="309"/>
            <p14:sldId id="322"/>
            <p14:sldId id="264"/>
            <p14:sldId id="310"/>
            <p14:sldId id="265"/>
            <p14:sldId id="266"/>
            <p14:sldId id="323"/>
            <p14:sldId id="313"/>
            <p14:sldId id="312"/>
            <p14:sldId id="311"/>
            <p14:sldId id="268"/>
            <p14:sldId id="314"/>
            <p14:sldId id="269"/>
            <p14:sldId id="270"/>
            <p14:sldId id="315"/>
            <p14:sldId id="271"/>
            <p14:sldId id="272"/>
            <p14:sldId id="273"/>
            <p14:sldId id="324"/>
          </p14:sldIdLst>
        </p14:section>
        <p14:section name="Resultados inferenciales" id="{5AB08013-4F28-F432-F4DA-97647691B5EB}">
          <p14:sldIdLst>
            <p14:sldId id="274"/>
            <p14:sldId id="325"/>
            <p14:sldId id="319"/>
            <p14:sldId id="277"/>
            <p14:sldId id="317"/>
          </p14:sldIdLst>
        </p14:section>
        <p14:section name="Discusión y conclusiones" id="{DE6EE979-A7F8-B5A8-9090-94AF7C8DEBDF}">
          <p14:sldIdLst>
            <p14:sldId id="281"/>
            <p14:sldId id="282"/>
            <p14:sldId id="3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sley sorio" initials="os" lastIdx="1" clrIdx="0">
    <p:extLst>
      <p:ext uri="{19B8F6BF-5375-455C-9EA6-DF929625EA0E}">
        <p15:presenceInfo xmlns:p15="http://schemas.microsoft.com/office/powerpoint/2012/main" userId="osley so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94610"/>
  </p:normalViewPr>
  <p:slideViewPr>
    <p:cSldViewPr snapToGrid="0" snapToObjects="1">
      <p:cViewPr>
        <p:scale>
          <a:sx n="131" d="100"/>
          <a:sy n="131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5T10:15:27.668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15T10:15:27.668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95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94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2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7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48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82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55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86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18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89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971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429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747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05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2860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22860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1490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0" y="491490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464058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>
            <a:spLocks noGrp="1"/>
          </p:cNvSpPr>
          <p:nvPr>
            <p:ph type="title" idx="108" hasCustomPrompt="1"/>
          </p:nvPr>
        </p:nvSpPr>
        <p:spPr>
          <a:xfrm>
            <a:off x="640080" y="1005840"/>
            <a:ext cx="4297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F8FAFC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1" name="Text 8"/>
          <p:cNvSpPr>
            <a:spLocks noGrp="1"/>
          </p:cNvSpPr>
          <p:nvPr>
            <p:ph type="body" idx="109" hasCustomPrompt="1"/>
          </p:nvPr>
        </p:nvSpPr>
        <p:spPr>
          <a:xfrm>
            <a:off x="640080" y="3063240"/>
            <a:ext cx="4297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BD5E1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0A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22860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22860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491490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64058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0" y="491490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15400" y="464058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27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B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INFORME · LLAMA 3.2 3B + OLLAMA</a:t>
            </a:r>
            <a:endParaRPr lang="en-US" sz="900" dirty="0"/>
          </a:p>
        </p:txBody>
      </p:sp>
      <p:sp>
        <p:nvSpPr>
          <p:cNvPr id="11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F8FAFC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5316"/>
          <a:stretch/>
        </p:blipFill>
        <p:spPr>
          <a:xfrm>
            <a:off x="0" y="-71283"/>
            <a:ext cx="9457656" cy="609554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0" y="-51756"/>
            <a:ext cx="4754880" cy="36607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 idx="108"/>
          </p:nvPr>
        </p:nvSpPr>
        <p:spPr>
          <a:xfrm>
            <a:off x="154039" y="2133905"/>
            <a:ext cx="6382043" cy="752622"/>
          </a:xfrm>
        </p:spPr>
        <p:txBody>
          <a:bodyPr/>
          <a:lstStyle/>
          <a:p>
            <a:r>
              <a:rPr lang="es-ES" i="1" dirty="0">
                <a:solidFill>
                  <a:schemeClr val="tx1"/>
                </a:solidFill>
                <a:latin typeface="Plus Jakarta Sans"/>
              </a:rPr>
              <a:t>“Los datos son el </a:t>
            </a:r>
            <a:r>
              <a:rPr lang="es-ES" i="1" dirty="0" smtClean="0">
                <a:solidFill>
                  <a:schemeClr val="tx1"/>
                </a:solidFill>
                <a:latin typeface="Plus Jakarta Sans"/>
              </a:rPr>
              <a:t>nuevo petróleo.”</a:t>
            </a:r>
            <a:endParaRPr lang="es-E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96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>
            <a:spLocks noGrp="1"/>
          </p:cNvSpPr>
          <p:nvPr>
            <p:ph type="title" idx="108" hasCustomPrompt="1"/>
          </p:nvPr>
        </p:nvSpPr>
        <p:spPr>
          <a:xfrm>
            <a:off x="640080" y="100584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4140"/>
              </a:lnSpc>
            </a:pPr>
            <a:r>
              <a:rPr lang="es-ES" dirty="0">
                <a:solidFill>
                  <a:srgbClr val="FFFFFF"/>
                </a:solidFill>
                <a:latin typeface="Plus Jakarta Sans"/>
              </a:rPr>
              <a:t>Procesamiento Local de Informes Médicos con Llama 3.2 3B</a:t>
            </a:r>
            <a:endParaRPr lang="es-ES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3" name="Text 8"/>
          <p:cNvSpPr>
            <a:spLocks noGrp="1"/>
          </p:cNvSpPr>
          <p:nvPr>
            <p:ph type="body" idx="109" hasCustomPrompt="1"/>
          </p:nvPr>
        </p:nvSpPr>
        <p:spPr>
          <a:xfrm>
            <a:off x="640080" y="306324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</a:rPr>
              <a:t>Extracción, estructuración y análisis de informes radiológicos de la plataforma DiconLine</a:t>
            </a:r>
            <a:endParaRPr lang="en-US" sz="1400" dirty="0"/>
          </a:p>
        </p:txBody>
      </p:sp>
      <p:sp>
        <p:nvSpPr>
          <p:cNvPr id="4" name="Campo de visión"/>
          <p:cNvSpPr/>
          <p:nvPr/>
        </p:nvSpPr>
        <p:spPr>
          <a:xfrm>
            <a:off x="5257800" y="731520"/>
            <a:ext cx="3657600" cy="3657600"/>
          </a:xfrm>
          <a:prstGeom prst="ellipse">
            <a:avLst/>
          </a:prstGeom>
          <a:solidFill>
            <a:srgbClr val="151E27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5" name="Torso"/>
          <p:cNvSpPr/>
          <p:nvPr/>
        </p:nvSpPr>
        <p:spPr>
          <a:xfrm>
            <a:off x="5623560" y="1417320"/>
            <a:ext cx="2926080" cy="2286000"/>
          </a:xfrm>
          <a:prstGeom prst="ellipse">
            <a:avLst/>
          </a:prstGeom>
          <a:solidFill>
            <a:srgbClr val="3B4654"/>
          </a:solidFill>
          <a:ln w="12700">
            <a:solidFill>
              <a:srgbClr val="3B4654"/>
            </a:solidFill>
            <a:prstDash val="solid"/>
          </a:ln>
        </p:spPr>
      </p:sp>
      <p:sp>
        <p:nvSpPr>
          <p:cNvPr id="6" name="Pulmón izquierdo"/>
          <p:cNvSpPr/>
          <p:nvPr/>
        </p:nvSpPr>
        <p:spPr>
          <a:xfrm>
            <a:off x="5943600" y="1691640"/>
            <a:ext cx="1051560" cy="1463040"/>
          </a:xfrm>
          <a:prstGeom prst="ellipse">
            <a:avLst/>
          </a:prstGeom>
          <a:solidFill>
            <a:srgbClr val="0B1218"/>
          </a:solidFill>
          <a:ln w="12700">
            <a:solidFill>
              <a:srgbClr val="0B1218"/>
            </a:solidFill>
            <a:prstDash val="solid"/>
          </a:ln>
        </p:spPr>
      </p:sp>
      <p:sp>
        <p:nvSpPr>
          <p:cNvPr id="7" name="Pulmón derecho"/>
          <p:cNvSpPr/>
          <p:nvPr/>
        </p:nvSpPr>
        <p:spPr>
          <a:xfrm>
            <a:off x="7178040" y="1691640"/>
            <a:ext cx="1051560" cy="1463040"/>
          </a:xfrm>
          <a:prstGeom prst="ellipse">
            <a:avLst/>
          </a:prstGeom>
          <a:solidFill>
            <a:srgbClr val="0B1218"/>
          </a:solidFill>
          <a:ln w="12700">
            <a:solidFill>
              <a:srgbClr val="0B1218"/>
            </a:solidFill>
            <a:prstDash val="solid"/>
          </a:ln>
        </p:spPr>
      </p:sp>
      <p:sp>
        <p:nvSpPr>
          <p:cNvPr id="8" name="Corazón"/>
          <p:cNvSpPr/>
          <p:nvPr/>
        </p:nvSpPr>
        <p:spPr>
          <a:xfrm>
            <a:off x="6675120" y="2240280"/>
            <a:ext cx="822960" cy="777240"/>
          </a:xfrm>
          <a:prstGeom prst="ellipse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9" name="Columna"/>
          <p:cNvSpPr/>
          <p:nvPr/>
        </p:nvSpPr>
        <p:spPr>
          <a:xfrm>
            <a:off x="6903720" y="3246120"/>
            <a:ext cx="365760" cy="36576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Cruz horizontal"/>
          <p:cNvSpPr/>
          <p:nvPr/>
        </p:nvSpPr>
        <p:spPr>
          <a:xfrm>
            <a:off x="5257800" y="2560320"/>
            <a:ext cx="3657600" cy="0"/>
          </a:xfrm>
          <a:prstGeom prst="line">
            <a:avLst/>
          </a:prstGeom>
          <a:noFill/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1" name="Cruz vertical"/>
          <p:cNvSpPr/>
          <p:nvPr/>
        </p:nvSpPr>
        <p:spPr>
          <a:xfrm>
            <a:off x="7086600" y="731520"/>
            <a:ext cx="0" cy="3657600"/>
          </a:xfrm>
          <a:prstGeom prst="line">
            <a:avLst/>
          </a:prstGeom>
          <a:noFill/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2" name="Regla 0"/>
          <p:cNvSpPr/>
          <p:nvPr/>
        </p:nvSpPr>
        <p:spPr>
          <a:xfrm>
            <a:off x="8732520" y="6858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3" name="Regla 1"/>
          <p:cNvSpPr/>
          <p:nvPr/>
        </p:nvSpPr>
        <p:spPr>
          <a:xfrm>
            <a:off x="8732520" y="1143000"/>
            <a:ext cx="9144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4" name="Regla 2"/>
          <p:cNvSpPr/>
          <p:nvPr/>
        </p:nvSpPr>
        <p:spPr>
          <a:xfrm>
            <a:off x="8732520" y="16002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5" name="Regla 3"/>
          <p:cNvSpPr/>
          <p:nvPr/>
        </p:nvSpPr>
        <p:spPr>
          <a:xfrm>
            <a:off x="8732520" y="2057400"/>
            <a:ext cx="9144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6" name="Regla 4"/>
          <p:cNvSpPr/>
          <p:nvPr/>
        </p:nvSpPr>
        <p:spPr>
          <a:xfrm>
            <a:off x="8732520" y="25146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7" name="Regla 5"/>
          <p:cNvSpPr/>
          <p:nvPr/>
        </p:nvSpPr>
        <p:spPr>
          <a:xfrm>
            <a:off x="8732520" y="2971800"/>
            <a:ext cx="9144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8" name="Regla 6"/>
          <p:cNvSpPr/>
          <p:nvPr/>
        </p:nvSpPr>
        <p:spPr>
          <a:xfrm>
            <a:off x="8732520" y="34290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9" name="Regla 7"/>
          <p:cNvSpPr/>
          <p:nvPr/>
        </p:nvSpPr>
        <p:spPr>
          <a:xfrm>
            <a:off x="8732520" y="3886200"/>
            <a:ext cx="9144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20" name="Regla 8"/>
          <p:cNvSpPr/>
          <p:nvPr/>
        </p:nvSpPr>
        <p:spPr>
          <a:xfrm>
            <a:off x="8732520" y="43434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0" y="365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 · CT · US · RX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W: 400   L: 40</a:t>
            </a:r>
            <a:endParaRPr lang="en-US" sz="1000" dirty="0"/>
          </a:p>
        </p:txBody>
      </p:sp>
      <p:sp>
        <p:nvSpPr>
          <p:cNvPr id="23" name="CuadroTexto 22"/>
          <p:cNvSpPr txBox="1"/>
          <p:nvPr/>
        </p:nvSpPr>
        <p:spPr>
          <a:xfrm>
            <a:off x="548641" y="4021826"/>
            <a:ext cx="195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>
                <a:solidFill>
                  <a:schemeClr val="bg1"/>
                </a:solidFill>
              </a:rPr>
              <a:t>Autor: Osley Sorio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548640" y="4368442"/>
            <a:ext cx="241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>
                <a:solidFill>
                  <a:schemeClr val="bg1"/>
                </a:solidFill>
              </a:rPr>
              <a:t>Tutor: Alana Oliveri</a:t>
            </a:r>
            <a:endParaRPr lang="es-E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Introducción: el problema y el objetivo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La plataforma de imágenes médicas DiconLine guarda en HTML los </a:t>
            </a:r>
            <a:r>
              <a:rPr lang="en-US" sz="1300">
                <a:solidFill>
                  <a:srgbClr val="CBD5E1"/>
                </a:solidFill>
              </a:rPr>
              <a:t>reportes </a:t>
            </a:r>
            <a:r>
              <a:rPr lang="en-US" sz="1300" smtClean="0">
                <a:solidFill>
                  <a:srgbClr val="CBD5E1"/>
                </a:solidFill>
              </a:rPr>
              <a:t>relizados por los </a:t>
            </a:r>
            <a:r>
              <a:rPr lang="en-US" sz="1300" dirty="0">
                <a:solidFill>
                  <a:srgbClr val="CBD5E1"/>
                </a:solidFill>
              </a:rPr>
              <a:t>especialistas: datos demográficos, modalidad, estudios, hallazgos y conclusiones. Esa forma de almacenarlos dificulta el análisis de datos.</a:t>
            </a:r>
            <a:endParaRPr lang="en-US" sz="1300" dirty="0"/>
          </a:p>
        </p:txBody>
      </p:sp>
      <p:sp>
        <p:nvSpPr>
          <p:cNvPr id="4" name="Tarjeta 1"/>
          <p:cNvSpPr/>
          <p:nvPr/>
        </p:nvSpPr>
        <p:spPr>
          <a:xfrm>
            <a:off x="457200" y="1920240"/>
            <a:ext cx="4023360" cy="210312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5" name="Etiqueta 1"/>
          <p:cNvSpPr/>
          <p:nvPr/>
        </p:nvSpPr>
        <p:spPr>
          <a:xfrm>
            <a:off x="621792" y="2057400"/>
            <a:ext cx="457200" cy="256032"/>
          </a:xfrm>
          <a:prstGeom prst="rect">
            <a:avLst/>
          </a:prstGeom>
          <a:solidFill>
            <a:srgbClr val="0A0F1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057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Desafíos del reporte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688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Formato HTML; omisión de términos; sinónimos distintos para </a:t>
            </a:r>
            <a:r>
              <a:rPr lang="en-US" sz="1250">
                <a:solidFill>
                  <a:srgbClr val="CBD5E1"/>
                </a:solidFill>
              </a:rPr>
              <a:t>lo </a:t>
            </a:r>
            <a:r>
              <a:rPr lang="en-US" sz="1250" smtClean="0">
                <a:solidFill>
                  <a:srgbClr val="CBD5E1"/>
                </a:solidFill>
              </a:rPr>
              <a:t>mismos terminus médicos; </a:t>
            </a:r>
            <a:r>
              <a:rPr lang="en-US" sz="1250" dirty="0">
                <a:solidFill>
                  <a:srgbClr val="CBD5E1"/>
                </a:solidFill>
              </a:rPr>
              <a:t>cantidad variable de estudios, resultados y conclusiones; palabras incompletas o mal escritas.</a:t>
            </a:r>
            <a:endParaRPr lang="en-US" sz="1250" dirty="0"/>
          </a:p>
        </p:txBody>
      </p:sp>
      <p:sp>
        <p:nvSpPr>
          <p:cNvPr id="9" name="Tarjeta 2"/>
          <p:cNvSpPr/>
          <p:nvPr/>
        </p:nvSpPr>
        <p:spPr>
          <a:xfrm>
            <a:off x="4663440" y="1920240"/>
            <a:ext cx="4023360" cy="210312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10" name="Etiqueta 2"/>
          <p:cNvSpPr/>
          <p:nvPr/>
        </p:nvSpPr>
        <p:spPr>
          <a:xfrm>
            <a:off x="4828032" y="2057400"/>
            <a:ext cx="457200" cy="256032"/>
          </a:xfrm>
          <a:prstGeom prst="rect">
            <a:avLst/>
          </a:prstGeom>
          <a:solidFill>
            <a:srgbClr val="0A0F1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20574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011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Objetivo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4688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Resolver estos problemas con un modelo de IA ligero, </a:t>
            </a:r>
            <a:r>
              <a:rPr lang="en-US" sz="1250">
                <a:solidFill>
                  <a:srgbClr val="CBD5E1"/>
                </a:solidFill>
              </a:rPr>
              <a:t>Llama </a:t>
            </a:r>
            <a:r>
              <a:rPr lang="en-US" sz="1250" smtClean="0">
                <a:solidFill>
                  <a:srgbClr val="CBD5E1"/>
                </a:solidFill>
              </a:rPr>
              <a:t>3.2: 3B, </a:t>
            </a:r>
            <a:r>
              <a:rPr lang="en-US" sz="1250" dirty="0">
                <a:solidFill>
                  <a:srgbClr val="CBD5E1"/>
                </a:solidFill>
              </a:rPr>
              <a:t>ejecutado de forma local con la plataforma de código abierto Ollama, para habilitar el análisis de datos.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6128" r="1395"/>
          <a:stretch/>
        </p:blipFill>
        <p:spPr>
          <a:xfrm>
            <a:off x="314506" y="1858098"/>
            <a:ext cx="8608173" cy="1798522"/>
          </a:xfrm>
          <a:prstGeom prst="rect">
            <a:avLst/>
          </a:prstGeom>
        </p:spPr>
      </p:pic>
      <p:sp>
        <p:nvSpPr>
          <p:cNvPr id="6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mtClean="0"/>
              <a:t>Fragmento de tabla original de la BD de Dicomline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019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109"/>
          </p:nvPr>
        </p:nvSpPr>
        <p:spPr>
          <a:xfrm>
            <a:off x="457200" y="320039"/>
            <a:ext cx="8264106" cy="4407235"/>
          </a:xfrm>
        </p:spPr>
        <p:txBody>
          <a:bodyPr/>
          <a:lstStyle/>
          <a:p>
            <a:r>
              <a:rPr lang="es-ES" sz="1200" b="0" dirty="0"/>
              <a:t>&lt;figure class="table" style="width:100%;"&gt;&lt;table&gt;&lt;tbody&gt;&lt;tr&gt;&lt;td&gt;&lt;strong&gt;Nombre:&lt;/strong&gt; CRISOSTOMO PENA NELFI&lt;/td&gt;&lt;td&gt;&lt;strong&gt;Sexo:&lt;/strong&gt; M&lt;/td&gt;&lt;/tr&gt;&lt;tr&gt;&lt;td&gt;&lt;strong&gt;Médico Referidor:&lt;/strong&gt; Test Ref&lt;/td&gt;&lt;td&gt;&lt;strong&gt;Edad:&lt;/strong&gt; -&lt;/td&gt;&lt;/tr&gt;&lt;tr&gt;&lt;td&gt;&lt;strong&gt;Fecha Estudio:&lt;/strong&gt; 2025-06-18&lt;/td&gt;&lt;td&gt;&lt;strong&gt;Modalidad:&lt;/strong&gt; DX&lt;/td&gt;&lt;/tr&gt;&lt;tr&gt;&lt;td&gt;&lt;strong&gt;ID Estudio:&lt;/strong&gt; -&lt;/td&gt;&lt;td&gt;&lt;strong&gt;Autorización:&lt;/strong&gt;&lt;/td&gt;&lt;/tr&gt;&lt;tr&gt;&lt;td&gt;&lt;strong&gt;ID Paciente:&lt;/strong&gt; NELFI CRISOSTOMO </a:t>
            </a:r>
            <a:r>
              <a:rPr lang="es-ES" sz="1000" b="0" dirty="0"/>
              <a:t>PENA&lt;/td&gt;&lt;td&gt;&lt;strong&gt;Póliza:&lt;/strong&gt;&lt;/td&gt;&lt;/tr&gt;&lt;tr&gt;&lt;td&gt;&lt;strong&gt;Seguro:&lt;/strong&gt;&lt;/td&gt;&lt;td&gt;&amp;nbsp;&lt;/td&gt;&lt;/tr&gt;&lt;/tbody&gt;&lt;/table&gt;&lt;/figure&gt;&lt;p&gt;&lt;br&gt;&amp;nbsp;&lt;/p&gt;&lt;p&gt;&lt;strong&gt;Descripción:&lt;/strong&gt; PRE&lt;/p&gt;&lt;p&gt;&amp;nbsp;&lt;/p&gt;&lt;p&gt;&lt;strong&gt;ESTUDIO: COLUMNA CERVICAL EN AP Y LATERAL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lt;/strong&gt;&lt;/p&gt;&lt;p&gt;&lt;strong&gt;RESULTADOS:&lt;/strong&gt;&lt;/p&gt;&lt;p&gt;·&amp;nbsp;&amp;nbsp;&amp;nbsp;&amp;nbsp;&amp;nbsp;&amp;nbsp;&amp;nbsp;&amp;nbsp; Lordosis de la columna cervical luce rectificada.&lt;/p&gt;&lt;p&gt;·&amp;nbsp;&amp;nbsp;&amp;nbsp;&amp;nbsp;&amp;nbsp;&amp;nbsp;&amp;nbsp;&amp;nbsp; Las vertebras cervicales son normales en forma, numero y tamaño.&lt;/p&gt;&lt;p&gt;·&amp;nbsp;&amp;nbsp;&amp;nbsp;&amp;nbsp;&amp;nbsp;&amp;nbsp;&amp;nbsp;&amp;nbsp; La línea grasa prevertebral y los espacios retrofaringeo y retrotraqueal están dentro de la normalidad.&lt;/p&gt;&lt;p&gt;·&amp;nbsp;&amp;nbsp;&amp;nbsp;&amp;nbsp;&amp;nbsp;&amp;nbsp;&amp;nbsp;&amp;nbsp; Imagen de la traquea y de las partes blandas sin alteraciones.&lt;/p&gt;&lt;p&gt;&lt;strong&gt;IMPRESIÓN DIAGNÓSTICA:&lt;/strong&gt;&lt;/p&gt;&lt;p&gt;&lt;strong&gt;DATOS DE ESPASMO DE LA MUSCULATURA PARAVERTEBRAL CERVICAL.&lt;/strong&gt;&lt;/p&gt;&lt;p&gt;&amp;nbsp;&lt;/p&gt;&lt;p&gt;&amp;nbsp;&lt;/p&gt;&lt;p style="text-align:justify;"&gt;&lt;strong&gt;&lt;u&gt;RX COLUMNA DORSAL AP Y LATERAL&lt;/u&gt;&lt;/strong&gt;&lt;/p&gt;&lt;p style="text-align:justify;"&gt;&lt;strong&gt;&lt;u&gt;RESULTADOS:&lt;/u&gt;&lt;/strong&gt;&lt;/p&gt;&lt;p style="text-align:justify;"&gt;Se observa desviación del eje longitudinal de la columna dorsal, manteniendo la alineación de las apófisis espinosas.&lt;/p&gt;&lt;p style="text-align:justify;"&gt;Los cuerpos y espacios intervertebrales lucen conservados.&amp;nbsp;&lt;/p&gt;&lt;p style="text-align:justify;"&gt;No hay evidencias de líneas de discontinuidad ósea.&amp;nbsp;&lt;/p&gt;&lt;p style="text-align:justify;"&gt;No hay lesiones líticas o blásticas. &amp;nbsp;&lt;/p&gt;&lt;p style="text-align:justify;"&gt;No hay alteraciones de los tejidos blandos paravertebrales.&lt;/p&gt;&lt;p style="text-align:justify;"&gt;&lt;strong&gt;&lt;u&gt;CONCLUSION:&lt;/u&gt;&lt;/strong&gt;&lt;/p&gt;&lt;p style="text-align:justify;"&gt;&lt;strong&gt;ACTITUD ESCOLIÓTICA DORSAL COMO FUE DESCRITA.&lt;/strong&gt;&lt;/p&gt;&lt;p style="text-align:justify;"&gt;&amp;nbsp;&lt;/p&gt;&lt;p style="text-align:justify;"&gt;&amp;nbsp;&lt;/p&gt;&lt;p style="text-align:justify;"&gt;&lt;strong&gt;&lt;u&gt;RX COLUMNA LUMBAR AP Y LATERAL&lt;/u&gt;&lt;/strong&gt;&lt;/p&gt;&lt;p style="text-align:justify;"&gt;&lt;strong&gt;&lt;u&gt;RESULTADOS:&lt;/u&gt;&lt;/strong&gt;&lt;/p&gt;&lt;p style="text-align:justify;"&gt;Existe actitud escoliotica lumbar consistente con desviación sutil de la lordosis a la izquierda, manteniendo la alineación de las apófisis espinosas.&lt;/p&gt;&lt;p style="text-align:justify;"&gt;Se distingue rectificación de la lordosis lumbar.&lt;/p&gt;&lt;p style="text-align:justify;"&gt;No hay alteraciones de los cuerpos vertebrales.&lt;/p&gt;&lt;p style="text-align:justify;"&gt;Espacios intervertebrales conservados.&amp;nbsp;&lt;/p&gt;&lt;p style="text-align:justify;"&gt;No se observan fracturas, ni lesiones líticas o blásticas.&lt;/p&gt;&lt;p style="text-align:justify;"&gt;&lt;strong&gt;&lt;u&gt;CONCLUSION:&lt;/u&gt;&lt;/strong&gt;&lt;/p&gt;&lt;p style="text-align:justify;"&gt;¯&amp;nbsp; &lt;strong&gt;ACTITUD ESCOLIOTICA LUMBAR.&lt;/strong&gt;&lt;/p&gt;&lt;p style="text-align:justify;"&gt;¯&amp;nbsp; &lt;strong&gt;DATOS DE ESPASMO DE LA MUSCULATURA PARAVERTEBRAL LUMBAR.&lt;/strong&gt;&lt;/p&gt;</a:t>
            </a:r>
          </a:p>
        </p:txBody>
      </p:sp>
    </p:spTree>
    <p:extLst>
      <p:ext uri="{BB962C8B-B14F-4D97-AF65-F5344CB8AC3E}">
        <p14:creationId xmlns:p14="http://schemas.microsoft.com/office/powerpoint/2010/main" val="427499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71" y="298111"/>
            <a:ext cx="3775103" cy="446244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570" y="2858405"/>
            <a:ext cx="4610293" cy="190215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 flipH="1">
            <a:off x="5532994" y="298111"/>
            <a:ext cx="2489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Reporte (Informe) 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0434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7336" t="1148" r="45908" b="80585"/>
          <a:stretch/>
        </p:blipFill>
        <p:spPr>
          <a:xfrm>
            <a:off x="3974230" y="366925"/>
            <a:ext cx="4855265" cy="2242317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232969" y="2679143"/>
            <a:ext cx="870718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mtClean="0">
                <a:solidFill>
                  <a:schemeClr val="bg1"/>
                </a:solidFill>
              </a:rPr>
              <a:t> </a:t>
            </a:r>
            <a:r>
              <a:rPr lang="es-ES" sz="1600" smtClean="0">
                <a:solidFill>
                  <a:schemeClr val="bg1"/>
                </a:solidFill>
              </a:rPr>
              <a:t>Parsear </a:t>
            </a:r>
            <a:r>
              <a:rPr lang="es-ES" sz="1600">
                <a:solidFill>
                  <a:schemeClr val="bg1"/>
                </a:solidFill>
              </a:rPr>
              <a:t>tablas </a:t>
            </a:r>
            <a:r>
              <a:rPr lang="es-ES" sz="1600">
                <a:solidFill>
                  <a:schemeClr val="bg1"/>
                </a:solidFill>
              </a:rPr>
              <a:t>HTML </a:t>
            </a:r>
            <a:r>
              <a:rPr lang="es-ES" sz="1600" smtClean="0">
                <a:solidFill>
                  <a:schemeClr val="bg1"/>
                </a:solidFill>
              </a:rPr>
              <a:t>  </a:t>
            </a:r>
            <a:r>
              <a:rPr lang="es-ES" sz="1600">
                <a:solidFill>
                  <a:schemeClr val="bg1"/>
                </a:solidFill>
              </a:rPr>
              <a:t>utilizando </a:t>
            </a:r>
            <a:r>
              <a:rPr lang="es-ES" sz="1600" smtClean="0">
                <a:solidFill>
                  <a:schemeClr val="bg1"/>
                </a:solidFill>
              </a:rPr>
              <a:t>BeautifulSoup.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mtClean="0">
                <a:solidFill>
                  <a:schemeClr val="bg1"/>
                </a:solidFill>
              </a:rPr>
              <a:t>Usando  </a:t>
            </a:r>
            <a:r>
              <a:rPr lang="es-ES" sz="1600">
                <a:solidFill>
                  <a:schemeClr val="bg1"/>
                </a:solidFill>
              </a:rPr>
              <a:t>mapeo </a:t>
            </a:r>
            <a:r>
              <a:rPr lang="es-ES" sz="1600" smtClean="0">
                <a:solidFill>
                  <a:schemeClr val="bg1"/>
                </a:solidFill>
              </a:rPr>
              <a:t>con un  diccionario con los nombres de la tabla del reporte y lo adicionamos campos  en el dataframe.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mtClean="0">
                <a:solidFill>
                  <a:schemeClr val="bg1"/>
                </a:solidFill>
              </a:rPr>
              <a:t>Resto_HTML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smtClean="0">
                <a:solidFill>
                  <a:schemeClr val="bg1"/>
                </a:solidFill>
              </a:rPr>
              <a:t>Guardamos los cambios  en un .csv</a:t>
            </a:r>
            <a:endParaRPr lang="es-ES" sz="1600">
              <a:solidFill>
                <a:schemeClr val="bg1"/>
              </a:solidFill>
            </a:endParaRPr>
          </a:p>
          <a:p>
            <a:endParaRPr lang="es-ES"/>
          </a:p>
        </p:txBody>
      </p:sp>
      <p:sp>
        <p:nvSpPr>
          <p:cNvPr id="15" name="CuadroTexto 14"/>
          <p:cNvSpPr txBox="1"/>
          <p:nvPr/>
        </p:nvSpPr>
        <p:spPr>
          <a:xfrm flipH="1">
            <a:off x="602805" y="461188"/>
            <a:ext cx="2775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es-ES" sz="2400" b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Tabla del reporte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54931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6624"/>
          <a:stretch/>
        </p:blipFill>
        <p:spPr>
          <a:xfrm>
            <a:off x="3494192" y="436815"/>
            <a:ext cx="4330461" cy="4243646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 flipH="1">
            <a:off x="521266" y="436815"/>
            <a:ext cx="2670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es-ES" sz="2400" b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Resto_HTML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74973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/>
          <p:cNvSpPr txBox="1"/>
          <p:nvPr/>
        </p:nvSpPr>
        <p:spPr>
          <a:xfrm>
            <a:off x="716378" y="2248155"/>
            <a:ext cx="106000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smtClean="0">
                <a:solidFill>
                  <a:schemeClr val="bg1"/>
                </a:solidFill>
              </a:rPr>
              <a:t>.csv</a:t>
            </a:r>
            <a:endParaRPr lang="es-ES" sz="4000">
              <a:solidFill>
                <a:schemeClr val="bg1"/>
              </a:solidFill>
            </a:endParaRPr>
          </a:p>
          <a:p>
            <a:endParaRPr lang="es-ES"/>
          </a:p>
        </p:txBody>
      </p:sp>
      <p:sp>
        <p:nvSpPr>
          <p:cNvPr id="15" name="CuadroTexto 14"/>
          <p:cNvSpPr txBox="1"/>
          <p:nvPr/>
        </p:nvSpPr>
        <p:spPr>
          <a:xfrm flipH="1">
            <a:off x="602805" y="461188"/>
            <a:ext cx="2775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BD en MongoDB</a:t>
            </a:r>
            <a:endParaRPr lang="es-ES" sz="2400" dirty="0"/>
          </a:p>
        </p:txBody>
      </p:sp>
      <p:sp>
        <p:nvSpPr>
          <p:cNvPr id="2" name="Flecha derecha 1"/>
          <p:cNvSpPr/>
          <p:nvPr/>
        </p:nvSpPr>
        <p:spPr>
          <a:xfrm>
            <a:off x="1916163" y="2510232"/>
            <a:ext cx="1968581" cy="3086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32" b="31267"/>
          <a:stretch/>
        </p:blipFill>
        <p:spPr>
          <a:xfrm>
            <a:off x="4311529" y="1997701"/>
            <a:ext cx="3734971" cy="13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6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 flipH="1">
            <a:off x="795004" y="305001"/>
            <a:ext cx="3551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es-ES" sz="2400" b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Plataforma y Modelos</a:t>
            </a:r>
            <a:endParaRPr lang="es-ES" sz="2400" dirty="0"/>
          </a:p>
        </p:txBody>
      </p:sp>
      <p:sp>
        <p:nvSpPr>
          <p:cNvPr id="2" name="CuadroTexto 1"/>
          <p:cNvSpPr txBox="1"/>
          <p:nvPr/>
        </p:nvSpPr>
        <p:spPr>
          <a:xfrm>
            <a:off x="722200" y="1698957"/>
            <a:ext cx="721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mtClean="0">
                <a:solidFill>
                  <a:schemeClr val="bg1"/>
                </a:solidFill>
              </a:rPr>
              <a:t>  Plataforma:  Ollama (local)(Descargar, gestionar,ejecutar) modelos LLM.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722201" y="2411211"/>
            <a:ext cx="668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mtClean="0">
                <a:solidFill>
                  <a:schemeClr val="bg1"/>
                </a:solidFill>
              </a:rPr>
              <a:t>  Modelo:  Llama 3.1 :8B (Descartado). 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33849" y="3156293"/>
            <a:ext cx="6680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mtClean="0">
                <a:solidFill>
                  <a:schemeClr val="bg1"/>
                </a:solidFill>
              </a:rPr>
              <a:t>  Modelo:  Llama 3.2 :3B (ligero).</a:t>
            </a:r>
            <a:endParaRPr lang="es-E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17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 flipH="1">
            <a:off x="795004" y="305001"/>
            <a:ext cx="3551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¿Qué es un Token?</a:t>
            </a:r>
            <a:endParaRPr lang="es-ES" sz="2400" dirty="0"/>
          </a:p>
        </p:txBody>
      </p:sp>
      <p:sp>
        <p:nvSpPr>
          <p:cNvPr id="2" name="CuadroTexto 1"/>
          <p:cNvSpPr txBox="1"/>
          <p:nvPr/>
        </p:nvSpPr>
        <p:spPr>
          <a:xfrm>
            <a:off x="1006319" y="1157610"/>
            <a:ext cx="66803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>
                <a:solidFill>
                  <a:schemeClr val="bg1"/>
                </a:solidFill>
              </a:rPr>
              <a:t>Un </a:t>
            </a:r>
            <a:r>
              <a:rPr lang="es-ES" b="1">
                <a:solidFill>
                  <a:schemeClr val="bg1"/>
                </a:solidFill>
              </a:rPr>
              <a:t>token</a:t>
            </a:r>
            <a:r>
              <a:rPr lang="es-ES">
                <a:solidFill>
                  <a:schemeClr val="bg1"/>
                </a:solidFill>
              </a:rPr>
              <a:t> es la unidad básica de información que utilizan los modelos </a:t>
            </a:r>
            <a:r>
              <a:rPr lang="es-ES">
                <a:solidFill>
                  <a:schemeClr val="bg1"/>
                </a:solidFill>
              </a:rPr>
              <a:t>de </a:t>
            </a:r>
            <a:r>
              <a:rPr lang="es-ES" smtClean="0">
                <a:solidFill>
                  <a:schemeClr val="bg1"/>
                </a:solidFill>
              </a:rPr>
              <a:t>IA </a:t>
            </a:r>
            <a:r>
              <a:rPr lang="es-ES">
                <a:solidFill>
                  <a:schemeClr val="bg1"/>
                </a:solidFill>
              </a:rPr>
              <a:t>para leer, procesar y </a:t>
            </a:r>
            <a:r>
              <a:rPr lang="es-ES">
                <a:solidFill>
                  <a:schemeClr val="bg1"/>
                </a:solidFill>
              </a:rPr>
              <a:t>generar </a:t>
            </a:r>
            <a:r>
              <a:rPr lang="es-ES" smtClean="0">
                <a:solidFill>
                  <a:schemeClr val="bg1"/>
                </a:solidFill>
              </a:rPr>
              <a:t>texto:</a:t>
            </a:r>
          </a:p>
          <a:p>
            <a:endParaRPr lang="es-ES">
              <a:solidFill>
                <a:schemeClr val="bg1"/>
              </a:solidFill>
            </a:endParaRPr>
          </a:p>
          <a:p>
            <a:r>
              <a:rPr lang="es-ES" smtClean="0">
                <a:solidFill>
                  <a:schemeClr val="bg1"/>
                </a:solidFill>
              </a:rPr>
              <a:t>"</a:t>
            </a:r>
            <a:r>
              <a:rPr lang="es-ES">
                <a:solidFill>
                  <a:schemeClr val="bg1"/>
                </a:solidFill>
              </a:rPr>
              <a:t>Rectificación de la lordosis“</a:t>
            </a:r>
          </a:p>
          <a:p>
            <a:endParaRPr lang="es-ES">
              <a:solidFill>
                <a:schemeClr val="bg1"/>
              </a:solidFill>
            </a:endParaRPr>
          </a:p>
          <a:p>
            <a:pPr lvl="0"/>
            <a:r>
              <a:rPr lang="es-ES">
                <a:solidFill>
                  <a:schemeClr val="bg1"/>
                </a:solidFill>
              </a:rPr>
              <a:t>Recti (Token </a:t>
            </a:r>
            <a:r>
              <a:rPr lang="es-ES">
                <a:solidFill>
                  <a:schemeClr val="bg1"/>
                </a:solidFill>
              </a:rPr>
              <a:t>1</a:t>
            </a:r>
            <a:r>
              <a:rPr lang="es-ES" smtClean="0">
                <a:solidFill>
                  <a:schemeClr val="bg1"/>
                </a:solidFill>
              </a:rPr>
              <a:t>)</a:t>
            </a:r>
            <a:endParaRPr lang="es-ES">
              <a:solidFill>
                <a:schemeClr val="bg1"/>
              </a:solidFill>
            </a:endParaRPr>
          </a:p>
          <a:p>
            <a:pPr lvl="0"/>
            <a:r>
              <a:rPr lang="es-ES">
                <a:solidFill>
                  <a:schemeClr val="bg1"/>
                </a:solidFill>
              </a:rPr>
              <a:t>ficación (Token 2)</a:t>
            </a:r>
          </a:p>
          <a:p>
            <a:pPr lvl="0"/>
            <a:r>
              <a:rPr lang="es-ES">
                <a:solidFill>
                  <a:schemeClr val="bg1"/>
                </a:solidFill>
              </a:rPr>
              <a:t>de (Token 3)</a:t>
            </a:r>
          </a:p>
          <a:p>
            <a:pPr lvl="0"/>
            <a:r>
              <a:rPr lang="es-ES">
                <a:solidFill>
                  <a:schemeClr val="bg1"/>
                </a:solidFill>
              </a:rPr>
              <a:t>la (Token 4)</a:t>
            </a:r>
          </a:p>
          <a:p>
            <a:pPr lvl="0"/>
            <a:r>
              <a:rPr lang="es-ES">
                <a:solidFill>
                  <a:schemeClr val="bg1"/>
                </a:solidFill>
              </a:rPr>
              <a:t>lord (Token 5)</a:t>
            </a:r>
          </a:p>
          <a:p>
            <a:pPr lvl="0"/>
            <a:r>
              <a:rPr lang="es-ES">
                <a:solidFill>
                  <a:schemeClr val="bg1"/>
                </a:solidFill>
              </a:rPr>
              <a:t>osis (Token 6)</a:t>
            </a:r>
          </a:p>
        </p:txBody>
      </p:sp>
    </p:spTree>
    <p:extLst>
      <p:ext uri="{BB962C8B-B14F-4D97-AF65-F5344CB8AC3E}">
        <p14:creationId xmlns:p14="http://schemas.microsoft.com/office/powerpoint/2010/main" val="290961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 flipH="1">
            <a:off x="795004" y="305001"/>
            <a:ext cx="4982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es-ES" sz="2400" b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Prompt utilizado</a:t>
            </a:r>
            <a:endParaRPr lang="es-E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15413" r="6873"/>
          <a:stretch/>
        </p:blipFill>
        <p:spPr>
          <a:xfrm>
            <a:off x="310200" y="1374512"/>
            <a:ext cx="8592162" cy="265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62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2"/>
          <p:cNvSpPr>
            <a:spLocks noGrp="1" noChangeArrowheads="1"/>
          </p:cNvSpPr>
          <p:nvPr>
            <p:ph type="title" idx="109"/>
          </p:nvPr>
        </p:nvSpPr>
        <p:spPr bwMode="auto">
          <a:xfrm>
            <a:off x="856160" y="2766606"/>
            <a:ext cx="804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ES" altLang="es-ES" sz="1200" i="1">
                <a:solidFill>
                  <a:schemeClr val="bg1"/>
                </a:solidFill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temperature: 0.0</a:t>
            </a:r>
            <a:r>
              <a:rPr lang="es-ES" altLang="es-ES" sz="1200" i="1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(Creatividad </a:t>
            </a:r>
            <a:r>
              <a:rPr lang="es-ES" altLang="es-ES" sz="1200" i="1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Cero</a:t>
            </a:r>
            <a:r>
              <a:rPr lang="es-ES" altLang="es-ES" sz="1200" i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br>
              <a:rPr lang="es-ES" altLang="es-ES" sz="1200" i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es-ES" altLang="es-E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kumimoji="0" lang="es-ES" altLang="es-ES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s-ES" altLang="es-ES" sz="12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s-ES" altLang="es-ES" sz="12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num_ctx</a:t>
            </a:r>
            <a:r>
              <a:rPr kumimoji="0" lang="es-ES" altLang="es-ES" sz="12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: </a:t>
            </a:r>
            <a:r>
              <a:rPr kumimoji="0" lang="es-ES" altLang="es-ES" sz="12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(Ventana </a:t>
            </a:r>
            <a:r>
              <a:rPr kumimoji="0" lang="es-ES" altLang="es-E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de </a:t>
            </a:r>
            <a:r>
              <a:rPr kumimoji="0" lang="es-ES" altLang="es-ES" sz="12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Contexto):</a:t>
            </a:r>
            <a:r>
              <a:rPr lang="es-ES" altLang="es-ES" sz="1200">
                <a:solidFill>
                  <a:schemeClr val="bg1"/>
                </a:solidFill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s-ES" altLang="es-ES" sz="1200" smtClean="0">
                <a:solidFill>
                  <a:schemeClr val="bg1"/>
                </a:solidFill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/>
            </a:r>
            <a:br>
              <a:rPr lang="es-ES" altLang="es-ES" sz="1200" smtClean="0">
                <a:solidFill>
                  <a:schemeClr val="bg1"/>
                </a:solidFill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s-ES" altLang="es-ES" sz="1200" smtClean="0">
                <a:solidFill>
                  <a:schemeClr val="bg1"/>
                </a:solidFill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    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Prompt 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(~180 </a:t>
            </a:r>
            <a:r>
              <a:rPr kumimoji="0" lang="es-ES" altLang="es-ES" sz="1200" b="1" i="1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tokens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) + el 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Texto M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é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dico 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(~320 </a:t>
            </a:r>
            <a:r>
              <a:rPr kumimoji="0" lang="es-ES" altLang="es-ES" sz="1200" b="1" i="1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tokens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) = 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Total de 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Entrada ( 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~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500 tokens).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s-ES" altLang="es-ES" sz="1200" b="1" i="1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 Unicode MS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num_predict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: 512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 (L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í</a:t>
            </a:r>
            <a:r>
              <a:rPr kumimoji="0" lang="es-ES" altLang="es-ES" sz="1200" b="1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mite de </a:t>
            </a:r>
            <a: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Salida)</a:t>
            </a:r>
            <a:br>
              <a:rPr kumimoji="0" lang="es-ES" altLang="es-ES" sz="1200" b="1" i="1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</a:br>
            <a:endParaRPr kumimoji="0" lang="es-ES" altLang="es-ES" sz="1200" b="1" i="1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Unicode MS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15" name="CuadroTexto 14"/>
          <p:cNvSpPr txBox="1"/>
          <p:nvPr/>
        </p:nvSpPr>
        <p:spPr>
          <a:xfrm flipH="1">
            <a:off x="795004" y="305001"/>
            <a:ext cx="4982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altLang="es-ES" sz="2400" b="1" smtClean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Principales parametros usados</a:t>
            </a:r>
            <a:endParaRPr lang="es-ES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l="9242" t="13820" r="20503" b="3033"/>
          <a:stretch/>
        </p:blipFill>
        <p:spPr>
          <a:xfrm>
            <a:off x="2778144" y="766666"/>
            <a:ext cx="2846717" cy="172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4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824" y="158335"/>
            <a:ext cx="3643976" cy="473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6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109"/>
          </p:nvPr>
        </p:nvSpPr>
        <p:spPr>
          <a:xfrm>
            <a:off x="0" y="1979938"/>
            <a:ext cx="9091582" cy="685800"/>
          </a:xfrm>
        </p:spPr>
        <p:txBody>
          <a:bodyPr/>
          <a:lstStyle/>
          <a:p>
            <a:pPr algn="ctr"/>
            <a:r>
              <a:rPr lang="es-ES" smtClean="0"/>
              <a:t>Estado global de la base de datos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003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Estado y avance del procesamiento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l="2054" r="1180"/>
          <a:stretch/>
        </p:blipFill>
        <p:spPr>
          <a:xfrm>
            <a:off x="343190" y="1390299"/>
            <a:ext cx="8503338" cy="26533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Estado y avance del procesamiento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21366" t="14883" r="18471"/>
          <a:stretch/>
        </p:blipFill>
        <p:spPr>
          <a:xfrm>
            <a:off x="2125834" y="902753"/>
            <a:ext cx="5007101" cy="382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71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mtClean="0"/>
              <a:t>Informe por Status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4753" t="18983" r="5095"/>
          <a:stretch/>
        </p:blipFill>
        <p:spPr>
          <a:xfrm>
            <a:off x="675611" y="950447"/>
            <a:ext cx="7755761" cy="335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2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8FAFC"/>
                </a:solidFill>
              </a:rPr>
              <a:t>Fallos </a:t>
            </a:r>
            <a:r>
              <a:rPr lang="en-US" sz="2400" b="1" smtClean="0">
                <a:solidFill>
                  <a:srgbClr val="F8FAFC"/>
                </a:solidFill>
              </a:rPr>
              <a:t> </a:t>
            </a:r>
            <a:r>
              <a:rPr lang="en-US" smtClean="0"/>
              <a:t>por</a:t>
            </a:r>
            <a:r>
              <a:rPr lang="en-US" sz="2400" b="1" smtClean="0">
                <a:solidFill>
                  <a:srgbClr val="F8FAFC"/>
                </a:solidFill>
              </a:rPr>
              <a:t> </a:t>
            </a:r>
            <a:r>
              <a:rPr lang="en-US" sz="2400" b="1" dirty="0">
                <a:solidFill>
                  <a:srgbClr val="F8FAFC"/>
                </a:solidFill>
              </a:rPr>
              <a:t>tamaño </a:t>
            </a:r>
            <a:r>
              <a:rPr lang="en-US" sz="2400" b="1">
                <a:solidFill>
                  <a:srgbClr val="F8FAFC"/>
                </a:solidFill>
              </a:rPr>
              <a:t>del </a:t>
            </a:r>
            <a:r>
              <a:rPr lang="en-US" sz="2400" b="1" smtClean="0">
                <a:solidFill>
                  <a:srgbClr val="F8FAFC"/>
                </a:solidFill>
              </a:rPr>
              <a:t>HTML(4.578 informes)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41" y="1391985"/>
            <a:ext cx="8435627" cy="2795617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1019236" y="3203312"/>
            <a:ext cx="629014" cy="2562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/>
          <p:cNvSpPr/>
          <p:nvPr/>
        </p:nvSpPr>
        <p:spPr>
          <a:xfrm>
            <a:off x="1019236" y="3567324"/>
            <a:ext cx="629014" cy="2562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Completitud de </a:t>
            </a:r>
            <a:r>
              <a:rPr lang="en-US" sz="2400" b="1">
                <a:solidFill>
                  <a:srgbClr val="F8FAFC"/>
                </a:solidFill>
              </a:rPr>
              <a:t>campos 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3"/>
          <a:srcRect l="6128" t="34359" r="1812"/>
          <a:stretch/>
        </p:blipFill>
        <p:spPr>
          <a:xfrm>
            <a:off x="509736" y="1322094"/>
            <a:ext cx="8268504" cy="26791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smtClean="0">
                <a:solidFill>
                  <a:srgbClr val="F8FAFC"/>
                </a:solidFill>
              </a:rPr>
              <a:t>Cruce Status </a:t>
            </a:r>
            <a:r>
              <a:rPr lang="en-US" sz="2400" b="1" dirty="0">
                <a:solidFill>
                  <a:srgbClr val="F8FAFC"/>
                </a:solidFill>
              </a:rPr>
              <a:t>× Modalidad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3012" t="14507" r="6644"/>
          <a:stretch/>
        </p:blipFill>
        <p:spPr>
          <a:xfrm>
            <a:off x="768796" y="955170"/>
            <a:ext cx="7708359" cy="351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6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109"/>
          </p:nvPr>
        </p:nvSpPr>
        <p:spPr>
          <a:xfrm>
            <a:off x="0" y="1979938"/>
            <a:ext cx="9091582" cy="685800"/>
          </a:xfrm>
        </p:spPr>
        <p:txBody>
          <a:bodyPr/>
          <a:lstStyle/>
          <a:p>
            <a:pPr algn="ctr"/>
            <a:r>
              <a:rPr lang="es-ES" smtClean="0"/>
              <a:t>Demografía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812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Perfil demográfico: </a:t>
            </a:r>
            <a:r>
              <a:rPr lang="en-US" sz="2400" b="1">
                <a:solidFill>
                  <a:srgbClr val="F8FAFC"/>
                </a:solidFill>
              </a:rPr>
              <a:t>sexo 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l="19608" t="19844" r="16807" b="15825"/>
          <a:stretch/>
        </p:blipFill>
        <p:spPr>
          <a:xfrm>
            <a:off x="1654074" y="874507"/>
            <a:ext cx="5125300" cy="37306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Perfil demográfico</a:t>
            </a:r>
            <a:r>
              <a:rPr lang="en-US" sz="2400" b="1">
                <a:solidFill>
                  <a:srgbClr val="F8FAFC"/>
                </a:solidFill>
              </a:rPr>
              <a:t>: </a:t>
            </a:r>
            <a:r>
              <a:rPr lang="en-US" sz="2400" b="1" smtClean="0">
                <a:solidFill>
                  <a:srgbClr val="F8FAFC"/>
                </a:solidFill>
              </a:rPr>
              <a:t> edad ( edad media 46.9 del 79.1 % 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t="21971"/>
          <a:stretch/>
        </p:blipFill>
        <p:spPr>
          <a:xfrm>
            <a:off x="642062" y="1065830"/>
            <a:ext cx="7945305" cy="323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8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Distribución de la edad por sexo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3"/>
          <a:srcRect r="13397"/>
          <a:stretch/>
        </p:blipFill>
        <p:spPr>
          <a:xfrm>
            <a:off x="326155" y="1470604"/>
            <a:ext cx="8583829" cy="272864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3"/>
          <a:srcRect l="86236" t="10891" b="59455"/>
          <a:stretch/>
        </p:blipFill>
        <p:spPr>
          <a:xfrm>
            <a:off x="6715307" y="596616"/>
            <a:ext cx="1129268" cy="669784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7239485" y="768795"/>
            <a:ext cx="350035" cy="1514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/>
          <p:cNvSpPr/>
          <p:nvPr/>
        </p:nvSpPr>
        <p:spPr>
          <a:xfrm>
            <a:off x="7435402" y="880798"/>
            <a:ext cx="350035" cy="1514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/>
          <p:cNvSpPr/>
          <p:nvPr/>
        </p:nvSpPr>
        <p:spPr>
          <a:xfrm>
            <a:off x="7272032" y="1007146"/>
            <a:ext cx="350035" cy="1504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Edad media por modalidad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t="13087"/>
          <a:stretch/>
        </p:blipFill>
        <p:spPr>
          <a:xfrm>
            <a:off x="587227" y="1147368"/>
            <a:ext cx="8191013" cy="3317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109"/>
          </p:nvPr>
        </p:nvSpPr>
        <p:spPr>
          <a:xfrm>
            <a:off x="0" y="1979938"/>
            <a:ext cx="9091582" cy="685800"/>
          </a:xfrm>
        </p:spPr>
        <p:txBody>
          <a:bodyPr/>
          <a:lstStyle/>
          <a:p>
            <a:pPr algn="ctr"/>
            <a:r>
              <a:rPr lang="es-ES" smtClean="0"/>
              <a:t>Clínica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605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arjeta 2"/>
          <p:cNvSpPr/>
          <p:nvPr/>
        </p:nvSpPr>
        <p:spPr>
          <a:xfrm>
            <a:off x="6248273" y="1143482"/>
            <a:ext cx="2438528" cy="169164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/>
              <a:t>Perfil clínico</a:t>
            </a:r>
            <a:r>
              <a:rPr lang="en-US"/>
              <a:t>: </a:t>
            </a:r>
            <a:r>
              <a:rPr lang="en-US" smtClean="0"/>
              <a:t>volumen (respecto a los procesados ) </a:t>
            </a:r>
            <a:endParaRPr lang="en-US" sz="2400" dirty="0"/>
          </a:p>
        </p:txBody>
      </p:sp>
      <p:sp>
        <p:nvSpPr>
          <p:cNvPr id="3" name="Tarjeta 1"/>
          <p:cNvSpPr/>
          <p:nvPr/>
        </p:nvSpPr>
        <p:spPr>
          <a:xfrm>
            <a:off x="457200" y="1143000"/>
            <a:ext cx="2780690" cy="169164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4" name="Etiqueta 1"/>
          <p:cNvSpPr/>
          <p:nvPr/>
        </p:nvSpPr>
        <p:spPr>
          <a:xfrm>
            <a:off x="621792" y="1280160"/>
            <a:ext cx="457200" cy="256032"/>
          </a:xfrm>
          <a:prstGeom prst="rect">
            <a:avLst/>
          </a:prstGeom>
          <a:solidFill>
            <a:srgbClr val="0A0F14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80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F8FAFC"/>
                </a:solidFill>
              </a:rPr>
              <a:t>Informes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1701250" cy="59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smtClean="0">
                <a:solidFill>
                  <a:schemeClr val="bg1"/>
                </a:solidFill>
              </a:rPr>
              <a:t>99.133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8" name="Tarjeta 2"/>
          <p:cNvSpPr/>
          <p:nvPr/>
        </p:nvSpPr>
        <p:spPr>
          <a:xfrm>
            <a:off x="3411816" y="1143872"/>
            <a:ext cx="2703598" cy="169164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9" name="Etiqueta 2"/>
          <p:cNvSpPr/>
          <p:nvPr/>
        </p:nvSpPr>
        <p:spPr>
          <a:xfrm>
            <a:off x="3715613" y="1280160"/>
            <a:ext cx="457200" cy="256032"/>
          </a:xfrm>
          <a:prstGeom prst="rect">
            <a:avLst/>
          </a:prstGeom>
          <a:solidFill>
            <a:srgbClr val="0A0F14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4838" y="1280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94191" y="1234440"/>
            <a:ext cx="102913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8FAFC"/>
                </a:solidFill>
              </a:rPr>
              <a:t>E</a:t>
            </a:r>
            <a:r>
              <a:rPr lang="en-US" sz="1400" b="1" smtClean="0">
                <a:solidFill>
                  <a:srgbClr val="F8FAFC"/>
                </a:solidFill>
              </a:rPr>
              <a:t>studios</a:t>
            </a:r>
            <a:endParaRPr lang="en-US" sz="1400" dirty="0"/>
          </a:p>
        </p:txBody>
      </p:sp>
      <p:sp>
        <p:nvSpPr>
          <p:cNvPr id="13" name="Tarjeta 3"/>
          <p:cNvSpPr/>
          <p:nvPr/>
        </p:nvSpPr>
        <p:spPr>
          <a:xfrm>
            <a:off x="457200" y="3017520"/>
            <a:ext cx="4023360" cy="169164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14" name="Etiqueta 3"/>
          <p:cNvSpPr/>
          <p:nvPr/>
        </p:nvSpPr>
        <p:spPr>
          <a:xfrm>
            <a:off x="621792" y="3154680"/>
            <a:ext cx="457200" cy="256032"/>
          </a:xfrm>
          <a:prstGeom prst="rect">
            <a:avLst/>
          </a:prstGeom>
          <a:solidFill>
            <a:srgbClr val="0A0F1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089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F8FAFC"/>
                </a:solidFill>
              </a:rPr>
              <a:t>Hallazgos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661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Tarjeta 4"/>
          <p:cNvSpPr/>
          <p:nvPr/>
        </p:nvSpPr>
        <p:spPr>
          <a:xfrm>
            <a:off x="4663440" y="3017520"/>
            <a:ext cx="4023360" cy="169164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19" name="Etiqueta 4"/>
          <p:cNvSpPr/>
          <p:nvPr/>
        </p:nvSpPr>
        <p:spPr>
          <a:xfrm>
            <a:off x="4828032" y="3154680"/>
            <a:ext cx="457200" cy="256032"/>
          </a:xfrm>
          <a:prstGeom prst="rect">
            <a:avLst/>
          </a:prstGeom>
          <a:solidFill>
            <a:srgbClr val="0A0F1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1089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F8FAFC"/>
                </a:solidFill>
              </a:rPr>
              <a:t>Conclusiones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661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24" name="Text 5"/>
          <p:cNvSpPr txBox="1"/>
          <p:nvPr/>
        </p:nvSpPr>
        <p:spPr>
          <a:xfrm>
            <a:off x="3664647" y="1692611"/>
            <a:ext cx="1701250" cy="59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smtClean="0">
                <a:solidFill>
                  <a:schemeClr val="bg1"/>
                </a:solidFill>
              </a:rPr>
              <a:t>99.471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6" name="Text 5"/>
          <p:cNvSpPr txBox="1"/>
          <p:nvPr/>
        </p:nvSpPr>
        <p:spPr>
          <a:xfrm>
            <a:off x="640080" y="3514208"/>
            <a:ext cx="1701250" cy="59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smtClean="0">
                <a:solidFill>
                  <a:schemeClr val="bg1"/>
                </a:solidFill>
              </a:rPr>
              <a:t>695.364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7" name="Text 5"/>
          <p:cNvSpPr txBox="1"/>
          <p:nvPr/>
        </p:nvSpPr>
        <p:spPr>
          <a:xfrm>
            <a:off x="4846320" y="3563539"/>
            <a:ext cx="1701250" cy="59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smtClean="0">
                <a:solidFill>
                  <a:schemeClr val="bg1"/>
                </a:solidFill>
              </a:rPr>
              <a:t>254.926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9" name="Etiqueta 2"/>
          <p:cNvSpPr/>
          <p:nvPr/>
        </p:nvSpPr>
        <p:spPr>
          <a:xfrm>
            <a:off x="6442311" y="1228711"/>
            <a:ext cx="457200" cy="256032"/>
          </a:xfrm>
          <a:prstGeom prst="rect">
            <a:avLst/>
          </a:prstGeom>
          <a:solidFill>
            <a:srgbClr val="0A0F14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8"/>
          <p:cNvSpPr txBox="1"/>
          <p:nvPr/>
        </p:nvSpPr>
        <p:spPr>
          <a:xfrm>
            <a:off x="6436482" y="1228711"/>
            <a:ext cx="457200" cy="256032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smtClean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Text 9"/>
          <p:cNvSpPr txBox="1"/>
          <p:nvPr/>
        </p:nvSpPr>
        <p:spPr>
          <a:xfrm>
            <a:off x="6953212" y="1292763"/>
            <a:ext cx="17045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mtClean="0">
                <a:solidFill>
                  <a:srgbClr val="F8FAFC"/>
                </a:solidFill>
              </a:rPr>
              <a:t>Informes  con varios Estudios</a:t>
            </a:r>
            <a:endParaRPr lang="en-US" sz="1400" dirty="0"/>
          </a:p>
        </p:txBody>
      </p:sp>
      <p:sp>
        <p:nvSpPr>
          <p:cNvPr id="32" name="Text 5"/>
          <p:cNvSpPr txBox="1"/>
          <p:nvPr/>
        </p:nvSpPr>
        <p:spPr>
          <a:xfrm>
            <a:off x="6507827" y="1641162"/>
            <a:ext cx="1701250" cy="59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smtClean="0">
                <a:solidFill>
                  <a:schemeClr val="bg1"/>
                </a:solidFill>
              </a:rPr>
              <a:t>5.0 %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15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Perfil clínico</a:t>
            </a:r>
            <a:r>
              <a:rPr lang="en-US" sz="2400" b="1">
                <a:solidFill>
                  <a:srgbClr val="F8FAFC"/>
                </a:solidFill>
              </a:rPr>
              <a:t>: </a:t>
            </a:r>
            <a:r>
              <a:rPr lang="en-US" sz="2400" b="1" smtClean="0">
                <a:solidFill>
                  <a:srgbClr val="F8FAFC"/>
                </a:solidFill>
              </a:rPr>
              <a:t> </a:t>
            </a:r>
            <a:r>
              <a:rPr lang="en-US" sz="2400" b="1" dirty="0">
                <a:solidFill>
                  <a:srgbClr val="F8FAFC"/>
                </a:solidFill>
              </a:rPr>
              <a:t>modalidades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3"/>
          <a:srcRect t="13127"/>
          <a:stretch/>
        </p:blipFill>
        <p:spPr>
          <a:xfrm>
            <a:off x="680510" y="1050363"/>
            <a:ext cx="8006290" cy="33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3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Perfil clínico</a:t>
            </a:r>
            <a:r>
              <a:rPr lang="en-US" sz="2400" b="1">
                <a:solidFill>
                  <a:srgbClr val="F8FAFC"/>
                </a:solidFill>
              </a:rPr>
              <a:t>: </a:t>
            </a:r>
            <a:r>
              <a:rPr lang="en-US" smtClean="0"/>
              <a:t>estudios por informe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t="8883"/>
          <a:stretch/>
        </p:blipFill>
        <p:spPr>
          <a:xfrm>
            <a:off x="515803" y="920530"/>
            <a:ext cx="8170997" cy="35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5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Concentración de los estudios (Pareto)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1401" t="8736" r="1801"/>
          <a:stretch/>
        </p:blipFill>
        <p:spPr>
          <a:xfrm>
            <a:off x="337804" y="1391985"/>
            <a:ext cx="8504276" cy="25582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8FAFC"/>
                </a:solidFill>
              </a:rPr>
              <a:t>Hallazgos </a:t>
            </a:r>
            <a:r>
              <a:rPr lang="en-US" sz="2400" b="1" smtClean="0">
                <a:solidFill>
                  <a:srgbClr val="F8FAFC"/>
                </a:solidFill>
              </a:rPr>
              <a:t>más </a:t>
            </a:r>
            <a:r>
              <a:rPr lang="en-US" sz="2400" b="1" dirty="0">
                <a:solidFill>
                  <a:srgbClr val="F8FAFC"/>
                </a:solidFill>
              </a:rPr>
              <a:t>frecuentes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t="11354" b="2842"/>
          <a:stretch/>
        </p:blipFill>
        <p:spPr>
          <a:xfrm>
            <a:off x="934453" y="856158"/>
            <a:ext cx="6925642" cy="380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smtClean="0">
                <a:solidFill>
                  <a:srgbClr val="F8FAFC"/>
                </a:solidFill>
              </a:rPr>
              <a:t>Conclusiones </a:t>
            </a:r>
            <a:r>
              <a:rPr lang="en-US" sz="2400" b="1" dirty="0">
                <a:solidFill>
                  <a:srgbClr val="F8FAFC"/>
                </a:solidFill>
              </a:rPr>
              <a:t>más frecuentes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t="11129"/>
          <a:stretch/>
        </p:blipFill>
        <p:spPr>
          <a:xfrm>
            <a:off x="880547" y="920224"/>
            <a:ext cx="7382905" cy="37758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Clasificación clínica por </a:t>
            </a:r>
            <a:r>
              <a:rPr lang="en-US" sz="2400" b="1">
                <a:solidFill>
                  <a:srgbClr val="F8FAFC"/>
                </a:solidFill>
              </a:rPr>
              <a:t>palabras </a:t>
            </a:r>
            <a:r>
              <a:rPr lang="en-US" sz="2400" b="1" smtClean="0">
                <a:solidFill>
                  <a:srgbClr val="F8FAFC"/>
                </a:solidFill>
              </a:rPr>
              <a:t>clave(heurística)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7125"/>
            <a:ext cx="8247180" cy="17410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Clasificación clínica por palabras clave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25024" t="9392" r="10012"/>
          <a:stretch/>
        </p:blipFill>
        <p:spPr>
          <a:xfrm>
            <a:off x="512532" y="857741"/>
            <a:ext cx="5314586" cy="3736365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316274" y="4338747"/>
            <a:ext cx="535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smtClean="0">
                <a:solidFill>
                  <a:schemeClr val="accent6"/>
                </a:solidFill>
              </a:rPr>
              <a:t>4%</a:t>
            </a:r>
            <a:endParaRPr lang="es-ES" sz="1400">
              <a:solidFill>
                <a:schemeClr val="accent6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6039700" y="1899826"/>
            <a:ext cx="24228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>
                <a:solidFill>
                  <a:schemeClr val="bg1"/>
                </a:solidFill>
              </a:rPr>
              <a:t>Relevantes: 18.035</a:t>
            </a:r>
          </a:p>
          <a:p>
            <a:endParaRPr lang="es-ES">
              <a:solidFill>
                <a:schemeClr val="bg1"/>
              </a:solidFill>
            </a:endParaRPr>
          </a:p>
          <a:p>
            <a:r>
              <a:rPr lang="es-ES" smtClean="0">
                <a:solidFill>
                  <a:schemeClr val="bg1"/>
                </a:solidFill>
              </a:rPr>
              <a:t>Normal: 24.124</a:t>
            </a:r>
          </a:p>
          <a:p>
            <a:endParaRPr lang="es-ES">
              <a:solidFill>
                <a:schemeClr val="bg1"/>
              </a:solidFill>
            </a:endParaRPr>
          </a:p>
          <a:p>
            <a:r>
              <a:rPr lang="es-ES" smtClean="0">
                <a:solidFill>
                  <a:schemeClr val="bg1"/>
                </a:solidFill>
              </a:rPr>
              <a:t>Otros Hallazgos: 53.341</a:t>
            </a:r>
          </a:p>
          <a:p>
            <a:endParaRPr lang="es-ES">
              <a:solidFill>
                <a:schemeClr val="bg1"/>
              </a:solidFill>
            </a:endParaRPr>
          </a:p>
          <a:p>
            <a:r>
              <a:rPr lang="es-ES" smtClean="0">
                <a:solidFill>
                  <a:schemeClr val="bg1"/>
                </a:solidFill>
              </a:rPr>
              <a:t>Sin conclusiones: 3.971 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6126286" y="1005840"/>
            <a:ext cx="24228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smtClean="0">
                <a:solidFill>
                  <a:schemeClr val="accent1"/>
                </a:solidFill>
              </a:rPr>
              <a:t>Cantidad de estudios por clasificación</a:t>
            </a:r>
          </a:p>
        </p:txBody>
      </p:sp>
    </p:spTree>
    <p:extLst>
      <p:ext uri="{BB962C8B-B14F-4D97-AF65-F5344CB8AC3E}">
        <p14:creationId xmlns:p14="http://schemas.microsoft.com/office/powerpoint/2010/main" val="321607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mtClean="0"/>
              <a:t>Desglose de clasificacion  según grupos de edad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t="24846" r="11631"/>
          <a:stretch/>
        </p:blipFill>
        <p:spPr>
          <a:xfrm>
            <a:off x="387310" y="1186238"/>
            <a:ext cx="8488777" cy="233877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3"/>
          <a:srcRect l="88975" t="24846" b="45483"/>
          <a:stretch/>
        </p:blipFill>
        <p:spPr>
          <a:xfrm>
            <a:off x="7894125" y="3664354"/>
            <a:ext cx="936273" cy="8162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Relación entre estudio </a:t>
            </a:r>
            <a:r>
              <a:rPr lang="en-US" sz="2400" b="1">
                <a:solidFill>
                  <a:srgbClr val="F8FAFC"/>
                </a:solidFill>
              </a:rPr>
              <a:t>y </a:t>
            </a:r>
            <a:r>
              <a:rPr lang="en-US" smtClean="0"/>
              <a:t>grupos de edad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l="1351" r="2573"/>
          <a:stretch/>
        </p:blipFill>
        <p:spPr>
          <a:xfrm>
            <a:off x="477584" y="1461875"/>
            <a:ext cx="8310997" cy="2591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Estudios que se solicitan juntos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83" y="1166274"/>
            <a:ext cx="8569574" cy="29456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109"/>
          </p:nvPr>
        </p:nvSpPr>
        <p:spPr>
          <a:xfrm>
            <a:off x="0" y="1979938"/>
            <a:ext cx="9091582" cy="685800"/>
          </a:xfrm>
        </p:spPr>
        <p:txBody>
          <a:bodyPr/>
          <a:lstStyle/>
          <a:p>
            <a:pPr algn="ctr"/>
            <a:r>
              <a:rPr lang="es-ES" smtClean="0"/>
              <a:t>Análisis Inferencial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168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Inferencia: asociación entre estudio </a:t>
            </a:r>
            <a:r>
              <a:rPr lang="en-US" sz="2400" b="1">
                <a:solidFill>
                  <a:srgbClr val="F8FAFC"/>
                </a:solidFill>
              </a:rPr>
              <a:t>y </a:t>
            </a:r>
            <a:r>
              <a:rPr lang="en-US" smtClean="0"/>
              <a:t>grupo de edad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69601" y="3351043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s-ES" sz="1000" smtClean="0">
                <a:solidFill>
                  <a:schemeClr val="bg1"/>
                </a:solidFill>
              </a:rPr>
              <a:t>Al ser: el  p-valor mucho </a:t>
            </a:r>
            <a:r>
              <a:rPr lang="es-ES" sz="1000" dirty="0" smtClean="0">
                <a:solidFill>
                  <a:schemeClr val="bg1"/>
                </a:solidFill>
              </a:rPr>
              <a:t>menor que el nivel de significación configurado (</a:t>
            </a:r>
            <a:r>
              <a:rPr lang="es-ES" sz="1000" dirty="0" err="1" smtClean="0">
                <a:solidFill>
                  <a:schemeClr val="bg1"/>
                </a:solidFill>
              </a:rPr>
              <a:t>alpha</a:t>
            </a:r>
            <a:r>
              <a:rPr lang="es-ES" sz="1000" dirty="0" smtClean="0">
                <a:solidFill>
                  <a:schemeClr val="bg1"/>
                </a:solidFill>
              </a:rPr>
              <a:t> </a:t>
            </a:r>
            <a:r>
              <a:rPr lang="es-ES" sz="1000" smtClean="0">
                <a:solidFill>
                  <a:schemeClr val="bg1"/>
                </a:solidFill>
              </a:rPr>
              <a:t>= 0,05), </a:t>
            </a:r>
            <a:r>
              <a:rPr lang="es-ES" sz="1000" b="1" dirty="0" smtClean="0">
                <a:solidFill>
                  <a:schemeClr val="bg1"/>
                </a:solidFill>
              </a:rPr>
              <a:t>se rechaza formalmente la hipótesis nula </a:t>
            </a:r>
            <a:r>
              <a:rPr lang="es-ES" sz="1000" dirty="0" smtClean="0">
                <a:solidFill>
                  <a:schemeClr val="bg1"/>
                </a:solidFill>
              </a:rPr>
              <a:t> de independencia</a:t>
            </a:r>
            <a:r>
              <a:rPr lang="es-ES" sz="1000" smtClean="0">
                <a:solidFill>
                  <a:schemeClr val="bg1"/>
                </a:solidFill>
              </a:rPr>
              <a:t>. </a:t>
            </a: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endParaRPr lang="es-ES" sz="1000" smtClean="0">
              <a:solidFill>
                <a:schemeClr val="bg1"/>
              </a:solidFill>
            </a:endParaRP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s-ES" sz="1000" smtClean="0">
                <a:solidFill>
                  <a:schemeClr val="bg1"/>
                </a:solidFill>
              </a:rPr>
              <a:t>Al ser: V de Cramer (0.227 ) significa:exite la asociación pero tiene fuerza pequeña</a:t>
            </a: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endParaRPr lang="es-ES" sz="1000">
              <a:solidFill>
                <a:schemeClr val="bg1"/>
              </a:solidFill>
            </a:endParaRPr>
          </a:p>
          <a:p>
            <a:pPr marL="152400" indent="-152400">
              <a:spcAft>
                <a:spcPts val="300"/>
              </a:spcAft>
              <a:buSzPct val="100000"/>
              <a:buFontTx/>
              <a:buChar char="•"/>
            </a:pPr>
            <a:r>
              <a:rPr lang="es-ES" sz="1050" smtClean="0">
                <a:solidFill>
                  <a:schemeClr val="bg1"/>
                </a:solidFill>
              </a:rPr>
              <a:t>Al ser: Celdas con E&lt;5  (0%)  significa : </a:t>
            </a:r>
            <a:r>
              <a:rPr lang="es-ES" sz="1050">
                <a:solidFill>
                  <a:schemeClr val="bg1"/>
                </a:solidFill>
              </a:rPr>
              <a:t>Q</a:t>
            </a:r>
            <a:r>
              <a:rPr lang="es-ES" sz="1050" smtClean="0">
                <a:solidFill>
                  <a:schemeClr val="bg1"/>
                </a:solidFill>
              </a:rPr>
              <a:t>ue </a:t>
            </a:r>
            <a:r>
              <a:rPr lang="es-ES" sz="1050" b="1">
                <a:solidFill>
                  <a:schemeClr val="bg1"/>
                </a:solidFill>
              </a:rPr>
              <a:t>no hay ni una sola celda vacía o con datos "fantasma</a:t>
            </a:r>
            <a:r>
              <a:rPr lang="es-ES" sz="1050" b="1">
                <a:solidFill>
                  <a:schemeClr val="bg1"/>
                </a:solidFill>
              </a:rPr>
              <a:t>"</a:t>
            </a:r>
            <a:r>
              <a:rPr lang="es-ES" sz="1050">
                <a:solidFill>
                  <a:schemeClr val="bg1"/>
                </a:solidFill>
              </a:rPr>
              <a:t> </a:t>
            </a:r>
            <a:r>
              <a:rPr lang="es-ES" sz="1050" smtClean="0">
                <a:solidFill>
                  <a:schemeClr val="bg1"/>
                </a:solidFill>
              </a:rPr>
              <a:t>, </a:t>
            </a:r>
            <a:r>
              <a:rPr lang="es-ES" sz="1050">
                <a:solidFill>
                  <a:schemeClr val="bg1"/>
                </a:solidFill>
              </a:rPr>
              <a:t>todas las combinaciones posibles entre los diferentes tipos de </a:t>
            </a:r>
            <a:r>
              <a:rPr lang="es-ES" sz="1050" i="1">
                <a:solidFill>
                  <a:schemeClr val="bg1"/>
                </a:solidFill>
              </a:rPr>
              <a:t>Estudio</a:t>
            </a:r>
            <a:r>
              <a:rPr lang="es-ES" sz="1050">
                <a:solidFill>
                  <a:schemeClr val="bg1"/>
                </a:solidFill>
              </a:rPr>
              <a:t> y los </a:t>
            </a:r>
            <a:r>
              <a:rPr lang="es-ES" sz="1050" i="1">
                <a:solidFill>
                  <a:schemeClr val="bg1"/>
                </a:solidFill>
              </a:rPr>
              <a:t>Grupos de edad</a:t>
            </a:r>
            <a:r>
              <a:rPr lang="es-ES" sz="1050">
                <a:solidFill>
                  <a:schemeClr val="bg1"/>
                </a:solidFill>
              </a:rPr>
              <a:t> tienen una cantidad abundante y suficiente de pacientes reales.</a:t>
            </a: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endParaRPr lang="es-ES" sz="1000" dirty="0">
              <a:solidFill>
                <a:schemeClr val="bg1"/>
              </a:solidFill>
            </a:endParaRP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01" y="908330"/>
            <a:ext cx="8561011" cy="1887288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308845" y="2879648"/>
            <a:ext cx="8206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smtClean="0">
                <a:solidFill>
                  <a:schemeClr val="bg1"/>
                </a:solidFill>
              </a:rPr>
              <a:t>Hipotesis nula: </a:t>
            </a:r>
            <a:r>
              <a:rPr lang="es-ES" sz="1200" i="1" smtClean="0">
                <a:solidFill>
                  <a:schemeClr val="bg1"/>
                </a:solidFill>
              </a:rPr>
              <a:t>Son independientes los estudios de </a:t>
            </a:r>
            <a:r>
              <a:rPr lang="es-ES" sz="1200" i="1">
                <a:solidFill>
                  <a:schemeClr val="bg1"/>
                </a:solidFill>
              </a:rPr>
              <a:t>cada grupo de </a:t>
            </a:r>
            <a:r>
              <a:rPr lang="es-ES" sz="1200" i="1">
                <a:solidFill>
                  <a:schemeClr val="bg1"/>
                </a:solidFill>
              </a:rPr>
              <a:t>edad </a:t>
            </a:r>
            <a:r>
              <a:rPr lang="es-ES" sz="1200" i="1" smtClean="0">
                <a:solidFill>
                  <a:schemeClr val="bg1"/>
                </a:solidFill>
              </a:rPr>
              <a:t>"</a:t>
            </a:r>
            <a:endParaRPr lang="es-E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Inferencia: asociación entre estudio </a:t>
            </a:r>
            <a:r>
              <a:rPr lang="en-US" sz="2400" b="1">
                <a:solidFill>
                  <a:srgbClr val="F8FAFC"/>
                </a:solidFill>
              </a:rPr>
              <a:t>y </a:t>
            </a:r>
            <a:r>
              <a:rPr lang="en-US" smtClean="0"/>
              <a:t>grupo de edad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72749" y="2786589"/>
            <a:ext cx="8405491" cy="1861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200" i="1">
                <a:solidFill>
                  <a:schemeClr val="accent1"/>
                </a:solidFill>
              </a:rPr>
              <a:t>¿La distribución de los tipos de estudios de imagen  cambia en función de la edad del paciente?</a:t>
            </a:r>
            <a:endParaRPr lang="es-ES" sz="1200">
              <a:solidFill>
                <a:schemeClr val="accent1"/>
              </a:solidFill>
            </a:endParaRPr>
          </a:p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r>
              <a:rPr lang="es-ES" sz="1200" b="1">
                <a:solidFill>
                  <a:schemeClr val="bg1"/>
                </a:solidFill>
              </a:rPr>
              <a:t>Sí, de forma absoluta.</a:t>
            </a:r>
            <a:r>
              <a:rPr lang="es-ES" sz="1200">
                <a:solidFill>
                  <a:schemeClr val="bg1"/>
                </a:solidFill>
              </a:rPr>
              <a:t> El (p-valor &lt;0.0001) confirma que no todos los grupos de edad piden los mismos estudios. Los jóvenes, adultos y ancianos tienen perfiles de solicitud de pruebas (radiografías, resonancias, etc.) marcadamente diferentes debido a sus distintas necesidades médicas.</a:t>
            </a:r>
          </a:p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r>
              <a:rPr lang="es-ES" sz="1200" i="1">
                <a:solidFill>
                  <a:schemeClr val="accent1"/>
                </a:solidFill>
              </a:rPr>
              <a:t>¿Qué tan fuerte es la influencia de la edad sobre el tipo de estudio que se prescribe?</a:t>
            </a:r>
            <a:endParaRPr lang="es-ES" sz="1200">
              <a:solidFill>
                <a:schemeClr val="accent1"/>
              </a:solidFill>
            </a:endParaRPr>
          </a:p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r>
              <a:rPr lang="es-ES" sz="1200">
                <a:solidFill>
                  <a:schemeClr val="bg1"/>
                </a:solidFill>
              </a:rPr>
              <a:t> </a:t>
            </a:r>
            <a:r>
              <a:rPr lang="es-ES" sz="1200" b="1">
                <a:solidFill>
                  <a:schemeClr val="bg1"/>
                </a:solidFill>
              </a:rPr>
              <a:t>Es una influencia real, pero pequeña.</a:t>
            </a:r>
            <a:r>
              <a:rPr lang="es-ES" sz="1200">
                <a:solidFill>
                  <a:schemeClr val="bg1"/>
                </a:solidFill>
              </a:rPr>
              <a:t> Aquí responde la </a:t>
            </a:r>
            <a:r>
              <a:rPr lang="es-ES" sz="1200" b="1">
                <a:solidFill>
                  <a:schemeClr val="bg1"/>
                </a:solidFill>
              </a:rPr>
              <a:t>V de Cramér (0.227</a:t>
            </a:r>
            <a:r>
              <a:rPr lang="es-ES" sz="1200" b="1">
                <a:solidFill>
                  <a:schemeClr val="bg1"/>
                </a:solidFill>
              </a:rPr>
              <a:t>)</a:t>
            </a:r>
            <a:r>
              <a:rPr lang="es-ES" sz="1200">
                <a:solidFill>
                  <a:schemeClr val="bg1"/>
                </a:solidFill>
              </a:rPr>
              <a:t>. </a:t>
            </a:r>
            <a:r>
              <a:rPr lang="es-ES" sz="1200" smtClean="0">
                <a:solidFill>
                  <a:schemeClr val="bg1"/>
                </a:solidFill>
              </a:rPr>
              <a:t>Dice </a:t>
            </a:r>
            <a:r>
              <a:rPr lang="es-ES" sz="1200">
                <a:solidFill>
                  <a:schemeClr val="bg1"/>
                </a:solidFill>
              </a:rPr>
              <a:t>que, aunque hay un patrón demográfico claro, la edad por sí sola no dicta rígidamente el tipo de estudio</a:t>
            </a:r>
            <a:r>
              <a:rPr lang="es-ES" sz="1200">
                <a:solidFill>
                  <a:schemeClr val="bg1"/>
                </a:solidFill>
              </a:rPr>
              <a:t>. </a:t>
            </a:r>
            <a:endParaRPr lang="es-ES" sz="1000" dirty="0">
              <a:solidFill>
                <a:schemeClr val="bg1"/>
              </a:solidFill>
            </a:endParaRPr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01" y="855914"/>
            <a:ext cx="8561011" cy="188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4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114300"/>
            <a:ext cx="7040880" cy="567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</a:rPr>
              <a:t>Tasa de </a:t>
            </a:r>
            <a:r>
              <a:rPr lang="en-US" sz="2000" b="1">
                <a:solidFill>
                  <a:srgbClr val="F8FAFC"/>
                </a:solidFill>
              </a:rPr>
              <a:t>RELEVANTES </a:t>
            </a:r>
            <a:r>
              <a:rPr lang="en-US" sz="2000" smtClean="0"/>
              <a:t>segmentado por grupo de edad.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t="36430"/>
          <a:stretch/>
        </p:blipFill>
        <p:spPr>
          <a:xfrm>
            <a:off x="331980" y="690167"/>
            <a:ext cx="8365111" cy="2685114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331980" y="3375281"/>
            <a:ext cx="8365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smtClean="0">
                <a:solidFill>
                  <a:schemeClr val="bg1"/>
                </a:solidFill>
              </a:rPr>
              <a:t>Se rechaza la Hipotesis nula: </a:t>
            </a:r>
            <a:r>
              <a:rPr lang="es-ES" sz="1200" i="1">
                <a:solidFill>
                  <a:schemeClr val="bg1"/>
                </a:solidFill>
              </a:rPr>
              <a:t>La tasa de estudios relevantes de cada grupo de edad es exactamente igual a la tasa </a:t>
            </a:r>
            <a:r>
              <a:rPr lang="es-ES" sz="1200" i="1">
                <a:solidFill>
                  <a:schemeClr val="bg1"/>
                </a:solidFill>
              </a:rPr>
              <a:t>global </a:t>
            </a:r>
            <a:r>
              <a:rPr lang="es-ES" sz="1200" i="1" smtClean="0">
                <a:solidFill>
                  <a:schemeClr val="bg1"/>
                </a:solidFill>
              </a:rPr>
              <a:t> </a:t>
            </a:r>
            <a:r>
              <a:rPr lang="es-ES" sz="1200" i="1">
                <a:solidFill>
                  <a:schemeClr val="bg1"/>
                </a:solidFill>
              </a:rPr>
              <a:t>(</a:t>
            </a:r>
            <a:r>
              <a:rPr lang="es-ES" sz="1200" i="1">
                <a:solidFill>
                  <a:schemeClr val="bg1"/>
                </a:solidFill>
              </a:rPr>
              <a:t>18.13</a:t>
            </a:r>
            <a:r>
              <a:rPr lang="es-ES" sz="1200" i="1" smtClean="0">
                <a:solidFill>
                  <a:schemeClr val="bg1"/>
                </a:solidFill>
              </a:rPr>
              <a:t>%)"</a:t>
            </a:r>
            <a:endParaRPr lang="es-ES" sz="1200">
              <a:solidFill>
                <a:schemeClr val="bg1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31980" y="3758977"/>
            <a:ext cx="85324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>
                <a:solidFill>
                  <a:schemeClr val="bg1"/>
                </a:solidFill>
              </a:rPr>
              <a:t>1. La distancia real en los </a:t>
            </a:r>
            <a:r>
              <a:rPr lang="es-ES" sz="1000" b="1">
                <a:solidFill>
                  <a:schemeClr val="bg1"/>
                </a:solidFill>
              </a:rPr>
              <a:t>datos </a:t>
            </a:r>
            <a:endParaRPr lang="es-ES" sz="1000">
              <a:solidFill>
                <a:schemeClr val="bg1"/>
              </a:solidFill>
            </a:endParaRPr>
          </a:p>
          <a:p>
            <a:r>
              <a:rPr lang="es-ES" sz="1000">
                <a:solidFill>
                  <a:schemeClr val="bg1"/>
                </a:solidFill>
              </a:rPr>
              <a:t>Los porcentajes de la mayoría de los grupos de edad están físicamente lejos de la línea del 18.13%:</a:t>
            </a:r>
          </a:p>
          <a:p>
            <a:pPr lvl="0"/>
            <a:r>
              <a:rPr lang="es-ES" sz="1000">
                <a:solidFill>
                  <a:schemeClr val="bg1"/>
                </a:solidFill>
              </a:rPr>
              <a:t>El grupo de </a:t>
            </a:r>
            <a:r>
              <a:rPr lang="es-ES" sz="1000" b="1">
                <a:solidFill>
                  <a:schemeClr val="bg1"/>
                </a:solidFill>
              </a:rPr>
              <a:t>00-17 años</a:t>
            </a:r>
            <a:r>
              <a:rPr lang="es-ES" sz="1000">
                <a:solidFill>
                  <a:schemeClr val="bg1"/>
                </a:solidFill>
              </a:rPr>
              <a:t> tiene un </a:t>
            </a:r>
            <a:r>
              <a:rPr lang="es-ES" sz="1000" b="1">
                <a:solidFill>
                  <a:schemeClr val="bg1"/>
                </a:solidFill>
              </a:rPr>
              <a:t>22.2%</a:t>
            </a:r>
            <a:r>
              <a:rPr lang="es-ES" sz="1000">
                <a:solidFill>
                  <a:schemeClr val="bg1"/>
                </a:solidFill>
              </a:rPr>
              <a:t> de relevantes (está muy por encima).</a:t>
            </a:r>
          </a:p>
          <a:p>
            <a:pPr lvl="0"/>
            <a:r>
              <a:rPr lang="es-ES" sz="1000">
                <a:solidFill>
                  <a:schemeClr val="bg1"/>
                </a:solidFill>
              </a:rPr>
              <a:t>El grupo </a:t>
            </a:r>
            <a:r>
              <a:rPr lang="es-ES" sz="1000" b="1">
                <a:solidFill>
                  <a:schemeClr val="bg1"/>
                </a:solidFill>
              </a:rPr>
              <a:t>Sin Dato</a:t>
            </a:r>
            <a:r>
              <a:rPr lang="es-ES" sz="1000">
                <a:solidFill>
                  <a:schemeClr val="bg1"/>
                </a:solidFill>
              </a:rPr>
              <a:t> tiene un </a:t>
            </a:r>
            <a:r>
              <a:rPr lang="es-ES" sz="1000" b="1">
                <a:solidFill>
                  <a:schemeClr val="bg1"/>
                </a:solidFill>
              </a:rPr>
              <a:t>12.8%</a:t>
            </a:r>
            <a:r>
              <a:rPr lang="es-ES" sz="1000">
                <a:solidFill>
                  <a:schemeClr val="bg1"/>
                </a:solidFill>
              </a:rPr>
              <a:t> de relevantes (está muy por debajo).</a:t>
            </a:r>
          </a:p>
          <a:p>
            <a:pPr lvl="0"/>
            <a:r>
              <a:rPr lang="es-ES" sz="1000">
                <a:solidFill>
                  <a:schemeClr val="bg1"/>
                </a:solidFill>
              </a:rPr>
              <a:t>El grupo de </a:t>
            </a:r>
            <a:r>
              <a:rPr lang="es-ES" sz="1000" b="1">
                <a:solidFill>
                  <a:schemeClr val="bg1"/>
                </a:solidFill>
              </a:rPr>
              <a:t>75+ años</a:t>
            </a:r>
            <a:r>
              <a:rPr lang="es-ES" sz="1000">
                <a:solidFill>
                  <a:schemeClr val="bg1"/>
                </a:solidFill>
              </a:rPr>
              <a:t> tiene un </a:t>
            </a:r>
            <a:r>
              <a:rPr lang="es-ES" sz="1000" b="1">
                <a:solidFill>
                  <a:schemeClr val="bg1"/>
                </a:solidFill>
              </a:rPr>
              <a:t>21.6%</a:t>
            </a:r>
            <a:r>
              <a:rPr lang="es-ES" sz="1000">
                <a:solidFill>
                  <a:schemeClr val="bg1"/>
                </a:solidFill>
              </a:rPr>
              <a:t> (muy por </a:t>
            </a:r>
            <a:r>
              <a:rPr lang="es-ES" sz="1000">
                <a:solidFill>
                  <a:schemeClr val="bg1"/>
                </a:solidFill>
              </a:rPr>
              <a:t>encima</a:t>
            </a:r>
            <a:r>
              <a:rPr lang="es-ES" sz="1000" smtClean="0">
                <a:solidFill>
                  <a:schemeClr val="bg1"/>
                </a:solidFill>
              </a:rPr>
              <a:t>).</a:t>
            </a:r>
            <a:endParaRPr lang="es-E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68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114300"/>
            <a:ext cx="7040880" cy="567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8FAFC"/>
                </a:solidFill>
              </a:rPr>
              <a:t>Tasa de </a:t>
            </a:r>
            <a:r>
              <a:rPr lang="en-US" sz="2000" b="1">
                <a:solidFill>
                  <a:srgbClr val="F8FAFC"/>
                </a:solidFill>
              </a:rPr>
              <a:t>RELEVANTES </a:t>
            </a:r>
            <a:r>
              <a:rPr lang="en-US" sz="2000" smtClean="0"/>
              <a:t>segmentado por grupo de edad.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t="36430"/>
          <a:stretch/>
        </p:blipFill>
        <p:spPr>
          <a:xfrm>
            <a:off x="699637" y="690167"/>
            <a:ext cx="7617810" cy="2445238"/>
          </a:xfrm>
          <a:prstGeom prst="rect">
            <a:avLst/>
          </a:prstGeom>
        </p:spPr>
      </p:pic>
      <p:sp>
        <p:nvSpPr>
          <p:cNvPr id="10" name="CuadroTexto 9"/>
          <p:cNvSpPr txBox="1"/>
          <p:nvPr/>
        </p:nvSpPr>
        <p:spPr>
          <a:xfrm>
            <a:off x="426491" y="3135405"/>
            <a:ext cx="8206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smtClean="0">
                <a:solidFill>
                  <a:schemeClr val="bg1"/>
                </a:solidFill>
              </a:rPr>
              <a:t>Se rechaza la Hipotesis nula </a:t>
            </a:r>
            <a:r>
              <a:rPr lang="es-ES" sz="1200" i="1">
                <a:solidFill>
                  <a:schemeClr val="bg1"/>
                </a:solidFill>
              </a:rPr>
              <a:t>La tasa de estudios relevantes de cada grupo de edad es exactamente igual a la tasa </a:t>
            </a:r>
            <a:r>
              <a:rPr lang="es-ES" sz="1200" i="1">
                <a:solidFill>
                  <a:schemeClr val="bg1"/>
                </a:solidFill>
              </a:rPr>
              <a:t>global </a:t>
            </a:r>
            <a:r>
              <a:rPr lang="es-ES" sz="1200" i="1" smtClean="0">
                <a:solidFill>
                  <a:schemeClr val="bg1"/>
                </a:solidFill>
              </a:rPr>
              <a:t> </a:t>
            </a:r>
            <a:r>
              <a:rPr lang="es-ES" sz="1200" i="1">
                <a:solidFill>
                  <a:schemeClr val="bg1"/>
                </a:solidFill>
              </a:rPr>
              <a:t>(</a:t>
            </a:r>
            <a:r>
              <a:rPr lang="es-ES" sz="1200" i="1">
                <a:solidFill>
                  <a:schemeClr val="bg1"/>
                </a:solidFill>
              </a:rPr>
              <a:t>18.13</a:t>
            </a:r>
            <a:r>
              <a:rPr lang="es-ES" sz="1200" i="1" smtClean="0">
                <a:solidFill>
                  <a:schemeClr val="bg1"/>
                </a:solidFill>
              </a:rPr>
              <a:t>%)"</a:t>
            </a:r>
            <a:endParaRPr lang="es-ES" sz="1200">
              <a:solidFill>
                <a:schemeClr val="bg1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31980" y="3399642"/>
            <a:ext cx="85324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smtClean="0">
                <a:solidFill>
                  <a:schemeClr val="bg1"/>
                </a:solidFill>
              </a:rPr>
              <a:t>2</a:t>
            </a:r>
            <a:r>
              <a:rPr lang="es-ES" sz="1000" b="1">
                <a:solidFill>
                  <a:schemeClr val="bg1"/>
                </a:solidFill>
              </a:rPr>
              <a:t>. El tamaño de muestra </a:t>
            </a:r>
            <a:r>
              <a:rPr lang="es-ES" sz="1000" b="1">
                <a:solidFill>
                  <a:schemeClr val="bg1"/>
                </a:solidFill>
              </a:rPr>
              <a:t>masivo </a:t>
            </a:r>
            <a:endParaRPr lang="es-ES" sz="1000" b="1" smtClean="0">
              <a:solidFill>
                <a:schemeClr val="bg1"/>
              </a:solidFill>
            </a:endParaRPr>
          </a:p>
          <a:p>
            <a:r>
              <a:rPr lang="es-ES" sz="1000" smtClean="0">
                <a:solidFill>
                  <a:schemeClr val="bg1"/>
                </a:solidFill>
              </a:rPr>
              <a:t>Al </a:t>
            </a:r>
            <a:r>
              <a:rPr lang="es-ES" sz="1000">
                <a:solidFill>
                  <a:schemeClr val="bg1"/>
                </a:solidFill>
              </a:rPr>
              <a:t>tener </a:t>
            </a:r>
            <a:r>
              <a:rPr lang="es-ES" sz="1000" b="1">
                <a:solidFill>
                  <a:schemeClr val="bg1"/>
                </a:solidFill>
              </a:rPr>
              <a:t>99,471 reportes médicos</a:t>
            </a:r>
            <a:r>
              <a:rPr lang="es-ES" sz="1000">
                <a:solidFill>
                  <a:schemeClr val="bg1"/>
                </a:solidFill>
              </a:rPr>
              <a:t>, los intervalos de confianza de cada grupo de edad se vuelven sumamente estrechos. En el gráfico puedes ver que las barras horizontales de los puntos rojos son cortas y </a:t>
            </a:r>
            <a:r>
              <a:rPr lang="es-ES" sz="1000" b="1">
                <a:solidFill>
                  <a:schemeClr val="bg1"/>
                </a:solidFill>
              </a:rPr>
              <a:t>no tocan ni cruzan la </a:t>
            </a:r>
            <a:r>
              <a:rPr lang="es-ES" sz="1000" b="1">
                <a:solidFill>
                  <a:schemeClr val="bg1"/>
                </a:solidFill>
              </a:rPr>
              <a:t>línea </a:t>
            </a:r>
            <a:r>
              <a:rPr lang="es-ES" sz="1000" b="1" smtClean="0">
                <a:solidFill>
                  <a:schemeClr val="bg1"/>
                </a:solidFill>
              </a:rPr>
              <a:t> </a:t>
            </a:r>
            <a:r>
              <a:rPr lang="es-ES" sz="1000" b="1">
                <a:solidFill>
                  <a:schemeClr val="bg1"/>
                </a:solidFill>
              </a:rPr>
              <a:t>del 18.13%</a:t>
            </a:r>
            <a:r>
              <a:rPr lang="es-ES" sz="1000">
                <a:solidFill>
                  <a:schemeClr val="bg1"/>
                </a:solidFill>
              </a:rPr>
              <a:t>.</a:t>
            </a:r>
          </a:p>
          <a:p>
            <a:r>
              <a:rPr lang="es-ES" sz="1000">
                <a:solidFill>
                  <a:schemeClr val="bg1"/>
                </a:solidFill>
              </a:rPr>
              <a:t>Cuando la barra de un grupo no toca la línea global, el software aplica el filtro (en este caso, la </a:t>
            </a:r>
            <a:r>
              <a:rPr lang="es-ES" sz="1000" i="1">
                <a:solidFill>
                  <a:schemeClr val="bg1"/>
                </a:solidFill>
              </a:rPr>
              <a:t>corrección de Holm</a:t>
            </a:r>
            <a:r>
              <a:rPr lang="es-ES" sz="1000">
                <a:solidFill>
                  <a:schemeClr val="bg1"/>
                </a:solidFill>
              </a:rPr>
              <a:t>) y determina matemáticamente que </a:t>
            </a:r>
            <a:r>
              <a:rPr lang="es-ES" sz="1000" b="1">
                <a:solidFill>
                  <a:schemeClr val="bg1"/>
                </a:solidFill>
              </a:rPr>
              <a:t>la hipótesis nula es falsa</a:t>
            </a:r>
            <a:r>
              <a:rPr lang="es-ES" sz="1000">
                <a:solidFill>
                  <a:schemeClr val="bg1"/>
                </a:solidFill>
              </a:rPr>
              <a:t> para ese segmento, marcándolo en rojo como </a:t>
            </a:r>
            <a:r>
              <a:rPr lang="es-ES" sz="1000" b="1">
                <a:solidFill>
                  <a:schemeClr val="bg1"/>
                </a:solidFill>
              </a:rPr>
              <a:t>Significativo = </a:t>
            </a:r>
            <a:r>
              <a:rPr lang="es-ES" sz="1000" b="1">
                <a:solidFill>
                  <a:schemeClr val="bg1"/>
                </a:solidFill>
              </a:rPr>
              <a:t>True</a:t>
            </a:r>
            <a:r>
              <a:rPr lang="es-ES" sz="1000" smtClean="0">
                <a:solidFill>
                  <a:schemeClr val="bg1"/>
                </a:solidFill>
              </a:rPr>
              <a:t>.</a:t>
            </a:r>
          </a:p>
          <a:p>
            <a:endParaRPr lang="es-ES" sz="800">
              <a:solidFill>
                <a:schemeClr val="bg1"/>
              </a:solidFill>
            </a:endParaRPr>
          </a:p>
          <a:p>
            <a:r>
              <a:rPr lang="es-ES" sz="1000" b="1">
                <a:solidFill>
                  <a:schemeClr val="bg1"/>
                </a:solidFill>
              </a:rPr>
              <a:t>El único que NO se rechaza</a:t>
            </a:r>
            <a:endParaRPr lang="es-ES" sz="1000">
              <a:solidFill>
                <a:schemeClr val="bg1"/>
              </a:solidFill>
            </a:endParaRPr>
          </a:p>
          <a:p>
            <a:r>
              <a:rPr lang="es-ES" sz="1000">
                <a:solidFill>
                  <a:schemeClr val="bg1"/>
                </a:solidFill>
              </a:rPr>
              <a:t>El grupo de </a:t>
            </a:r>
            <a:r>
              <a:rPr lang="es-ES" sz="1000" b="1">
                <a:solidFill>
                  <a:schemeClr val="bg1"/>
                </a:solidFill>
              </a:rPr>
              <a:t>18-29 años</a:t>
            </a:r>
            <a:r>
              <a:rPr lang="es-ES" sz="1000">
                <a:solidFill>
                  <a:schemeClr val="bg1"/>
                </a:solidFill>
              </a:rPr>
              <a:t> quedó en gris (</a:t>
            </a:r>
            <a:r>
              <a:rPr lang="es-ES" sz="1000" b="1">
                <a:solidFill>
                  <a:schemeClr val="bg1"/>
                </a:solidFill>
              </a:rPr>
              <a:t>Significativo = False</a:t>
            </a:r>
            <a:r>
              <a:rPr lang="es-ES" sz="1000">
                <a:solidFill>
                  <a:schemeClr val="bg1"/>
                </a:solidFill>
              </a:rPr>
              <a:t>) porque su tasa está tan cerca de la media que su barra horizontal sí cruza la línea del 18.13%. Para ese grupo específico, la hipótesis nula </a:t>
            </a:r>
            <a:r>
              <a:rPr lang="es-ES" sz="1000" b="1">
                <a:solidFill>
                  <a:schemeClr val="bg1"/>
                </a:solidFill>
              </a:rPr>
              <a:t>no se pudo rechazar</a:t>
            </a:r>
            <a:r>
              <a:rPr lang="es-ES" sz="100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1143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Tasa de </a:t>
            </a:r>
            <a:r>
              <a:rPr lang="en-US" sz="2400" b="1">
                <a:solidFill>
                  <a:srgbClr val="F8FAFC"/>
                </a:solidFill>
              </a:rPr>
              <a:t>RELEVANTES </a:t>
            </a:r>
            <a:r>
              <a:rPr lang="en-US" smtClean="0"/>
              <a:t>sepmentado por grupo de edad.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457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 17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  <p:sp>
        <p:nvSpPr>
          <p:cNvPr id="4" name="CuadroTexto 3"/>
          <p:cNvSpPr txBox="1"/>
          <p:nvPr/>
        </p:nvSpPr>
        <p:spPr>
          <a:xfrm>
            <a:off x="821211" y="1030884"/>
            <a:ext cx="771124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pPr lvl="0"/>
            <a:r>
              <a:rPr lang="es-ES" sz="1200" b="1">
                <a:solidFill>
                  <a:schemeClr val="accent1"/>
                </a:solidFill>
              </a:rPr>
              <a:t>¿Existe un perfil de edad donde los estudios o tengan más hallazgos relevantes?</a:t>
            </a:r>
            <a:endParaRPr lang="es-ES" sz="1200">
              <a:solidFill>
                <a:schemeClr val="accent1"/>
              </a:solidFill>
            </a:endParaRPr>
          </a:p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pPr lvl="1"/>
            <a:r>
              <a:rPr lang="es-ES" sz="1200" i="1">
                <a:solidFill>
                  <a:schemeClr val="bg1"/>
                </a:solidFill>
              </a:rPr>
              <a:t>Respuesta:</a:t>
            </a:r>
            <a:r>
              <a:rPr lang="es-ES" sz="1200">
                <a:solidFill>
                  <a:schemeClr val="bg1"/>
                </a:solidFill>
              </a:rPr>
              <a:t> Sí, en los menores de 17 años (22.2%) y en los adultos mayores de 75 años (21.6%), donde las tasas superan significativamente la media.</a:t>
            </a:r>
          </a:p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pPr lvl="0"/>
            <a:r>
              <a:rPr lang="es-ES" sz="1200" b="1">
                <a:solidFill>
                  <a:schemeClr val="accent1"/>
                </a:solidFill>
              </a:rPr>
              <a:t>¿Hay algún grupo de edad que se comporte exactamente igual que el promedio de toda la institución?</a:t>
            </a:r>
            <a:endParaRPr lang="es-ES" sz="1200">
              <a:solidFill>
                <a:schemeClr val="accent1"/>
              </a:solidFill>
            </a:endParaRPr>
          </a:p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pPr lvl="1"/>
            <a:r>
              <a:rPr lang="es-ES" sz="1200" i="1">
                <a:solidFill>
                  <a:schemeClr val="bg1"/>
                </a:solidFill>
              </a:rPr>
              <a:t>Respuesta:</a:t>
            </a:r>
            <a:r>
              <a:rPr lang="es-ES" sz="1200">
                <a:solidFill>
                  <a:schemeClr val="bg1"/>
                </a:solidFill>
              </a:rPr>
              <a:t> Sí, el grupo de jóvenes de 18 a 29 años, que está en gris porque su tasa no difiere del 18.13% global.</a:t>
            </a:r>
          </a:p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pPr lvl="0"/>
            <a:r>
              <a:rPr lang="es-ES" sz="1200" b="1">
                <a:solidFill>
                  <a:schemeClr val="accent1"/>
                </a:solidFill>
              </a:rPr>
              <a:t>¿Afecta la falta de </a:t>
            </a:r>
            <a:r>
              <a:rPr lang="es-ES" sz="1200" b="1">
                <a:solidFill>
                  <a:schemeClr val="accent1"/>
                </a:solidFill>
              </a:rPr>
              <a:t>datos </a:t>
            </a:r>
            <a:r>
              <a:rPr lang="es-ES" sz="1200" b="1" smtClean="0">
                <a:solidFill>
                  <a:schemeClr val="accent1"/>
                </a:solidFill>
              </a:rPr>
              <a:t>demográficos(grupo edad) </a:t>
            </a:r>
            <a:r>
              <a:rPr lang="es-ES" sz="1200" b="1">
                <a:solidFill>
                  <a:schemeClr val="accent1"/>
                </a:solidFill>
              </a:rPr>
              <a:t>a la relevancia de los reportes?</a:t>
            </a:r>
            <a:endParaRPr lang="es-ES" sz="1200">
              <a:solidFill>
                <a:schemeClr val="accent1"/>
              </a:solidFill>
            </a:endParaRPr>
          </a:p>
          <a:p>
            <a:r>
              <a:rPr lang="es-ES" sz="1200">
                <a:solidFill>
                  <a:schemeClr val="bg1"/>
                </a:solidFill>
              </a:rPr>
              <a:t> </a:t>
            </a:r>
          </a:p>
          <a:p>
            <a:pPr lvl="1"/>
            <a:r>
              <a:rPr lang="es-ES" sz="1200" i="1">
                <a:solidFill>
                  <a:schemeClr val="bg1"/>
                </a:solidFill>
              </a:rPr>
              <a:t>Respuesta:</a:t>
            </a:r>
            <a:r>
              <a:rPr lang="es-ES" sz="1200">
                <a:solidFill>
                  <a:schemeClr val="bg1"/>
                </a:solidFill>
              </a:rPr>
              <a:t> Sí, el grupo "Sin Dato" tiene la tasa más baja de estudios relevantes (12.8%), lo que responde a una pregunta de control de calidad en llenado de los reportes.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897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Conclusiones</a:t>
            </a:r>
            <a:endParaRPr lang="en-US" sz="2400" dirty="0"/>
          </a:p>
        </p:txBody>
      </p:sp>
      <p:sp>
        <p:nvSpPr>
          <p:cNvPr id="3" name="Conclusión 1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887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Viabilidad</a:t>
            </a:r>
            <a:r>
              <a:rPr lang="en-US" sz="1150" b="1">
                <a:solidFill>
                  <a:srgbClr val="F8FAFC"/>
                </a:solidFill>
              </a:rPr>
              <a:t>:</a:t>
            </a:r>
            <a:r>
              <a:rPr lang="en-US" sz="1150">
                <a:solidFill>
                  <a:srgbClr val="CBD5E1"/>
                </a:solidFill>
              </a:rPr>
              <a:t> </a:t>
            </a:r>
            <a:r>
              <a:rPr lang="en-US" sz="1150" smtClean="0">
                <a:solidFill>
                  <a:srgbClr val="CBD5E1"/>
                </a:solidFill>
              </a:rPr>
              <a:t>Estructurar </a:t>
            </a:r>
            <a:r>
              <a:rPr lang="en-US" sz="1150" dirty="0">
                <a:solidFill>
                  <a:srgbClr val="CBD5E1"/>
                </a:solidFill>
              </a:rPr>
              <a:t>informes en HTML con un LLM local (Llama 3.2 3B + Ollama) funciona y protege los datos: 95,6 % correcto en lo procesado.</a:t>
            </a:r>
            <a:endParaRPr lang="en-US" sz="1150" dirty="0"/>
          </a:p>
        </p:txBody>
      </p:sp>
      <p:sp>
        <p:nvSpPr>
          <p:cNvPr id="6" name="Conclusión 2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8745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8FAFC"/>
                </a:solidFill>
              </a:rPr>
              <a:t>Pendiente</a:t>
            </a:r>
            <a:r>
              <a:rPr lang="en-US" sz="1150" b="1">
                <a:solidFill>
                  <a:srgbClr val="F8FAFC"/>
                </a:solidFill>
              </a:rPr>
              <a:t>:</a:t>
            </a:r>
            <a:r>
              <a:rPr lang="en-US" sz="1150">
                <a:solidFill>
                  <a:srgbClr val="CBD5E1"/>
                </a:solidFill>
              </a:rPr>
              <a:t> </a:t>
            </a:r>
            <a:r>
              <a:rPr lang="en-US" sz="1150" dirty="0" err="1">
                <a:solidFill>
                  <a:srgbClr val="CBD5E1"/>
                </a:solidFill>
              </a:rPr>
              <a:t>F</a:t>
            </a:r>
            <a:r>
              <a:rPr lang="en-US" sz="1150" smtClean="0">
                <a:solidFill>
                  <a:srgbClr val="CBD5E1"/>
                </a:solidFill>
              </a:rPr>
              <a:t>altan </a:t>
            </a:r>
            <a:r>
              <a:rPr lang="es-ES" sz="1200" dirty="0">
                <a:solidFill>
                  <a:schemeClr val="bg1"/>
                </a:solidFill>
              </a:rPr>
              <a:t>306,771</a:t>
            </a:r>
            <a:r>
              <a:rPr lang="en-US" sz="1150" dirty="0" smtClean="0">
                <a:solidFill>
                  <a:srgbClr val="CBD5E1"/>
                </a:solidFill>
              </a:rPr>
              <a:t> </a:t>
            </a:r>
            <a:r>
              <a:rPr lang="en-US" sz="1150" dirty="0">
                <a:solidFill>
                  <a:srgbClr val="CBD5E1"/>
                </a:solidFill>
              </a:rPr>
              <a:t>informes (</a:t>
            </a:r>
            <a:r>
              <a:rPr lang="en-US" sz="1150" smtClean="0">
                <a:solidFill>
                  <a:srgbClr val="CBD5E1"/>
                </a:solidFill>
              </a:rPr>
              <a:t>74,7 %) por procesar; </a:t>
            </a:r>
            <a:r>
              <a:rPr lang="en-US" sz="1150" dirty="0">
                <a:solidFill>
                  <a:srgbClr val="CBD5E1"/>
                </a:solidFill>
              </a:rPr>
              <a:t>el hardware y la configuración del contexto condicionan el avance.</a:t>
            </a:r>
            <a:endParaRPr lang="en-US" sz="1150" dirty="0"/>
          </a:p>
        </p:txBody>
      </p:sp>
      <p:sp>
        <p:nvSpPr>
          <p:cNvPr id="9" name="Conclusión 3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603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</a:rPr>
              <a:t>Fallos</a:t>
            </a:r>
            <a:r>
              <a:rPr lang="en-US" sz="1150" b="1">
                <a:solidFill>
                  <a:srgbClr val="F8FAFC"/>
                </a:solidFill>
              </a:rPr>
              <a:t>:</a:t>
            </a:r>
            <a:r>
              <a:rPr lang="en-US" sz="1150">
                <a:solidFill>
                  <a:srgbClr val="CBD5E1"/>
                </a:solidFill>
              </a:rPr>
              <a:t> </a:t>
            </a:r>
            <a:r>
              <a:rPr lang="en-US" sz="1150" smtClean="0">
                <a:solidFill>
                  <a:srgbClr val="CBD5E1"/>
                </a:solidFill>
              </a:rPr>
              <a:t>El </a:t>
            </a:r>
            <a:r>
              <a:rPr lang="en-US" sz="1150" smtClean="0">
                <a:solidFill>
                  <a:srgbClr val="CBD5E1"/>
                </a:solidFill>
              </a:rPr>
              <a:t>4,4 %  de los reportes procesados  falla con la aplicación  del modelo empleado.</a:t>
            </a:r>
            <a:endParaRPr lang="en-US" sz="1150" dirty="0"/>
          </a:p>
        </p:txBody>
      </p:sp>
      <p:sp>
        <p:nvSpPr>
          <p:cNvPr id="12" name="Conclusión 4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461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F8FAFC"/>
                </a:solidFill>
              </a:rPr>
              <a:t>Perfil:</a:t>
            </a:r>
            <a:r>
              <a:rPr lang="en-US" sz="1150" dirty="0">
                <a:solidFill>
                  <a:srgbClr val="CBD5E1"/>
                </a:solidFill>
              </a:rPr>
              <a:t> </a:t>
            </a:r>
            <a:r>
              <a:rPr lang="en-US" sz="1150" dirty="0" err="1">
                <a:solidFill>
                  <a:srgbClr val="CBD5E1"/>
                </a:solidFill>
              </a:rPr>
              <a:t>R</a:t>
            </a:r>
            <a:r>
              <a:rPr lang="en-US" sz="1150" dirty="0" err="1" smtClean="0">
                <a:solidFill>
                  <a:srgbClr val="CBD5E1"/>
                </a:solidFill>
              </a:rPr>
              <a:t>adiografía</a:t>
            </a:r>
            <a:r>
              <a:rPr lang="en-US" sz="1150" dirty="0">
                <a:solidFill>
                  <a:srgbClr val="CBD5E1"/>
                </a:solidFill>
              </a:rPr>
              <a:t>, TC y RM suman el </a:t>
            </a:r>
            <a:r>
              <a:rPr lang="en-US" sz="1150" dirty="0" smtClean="0">
                <a:solidFill>
                  <a:srgbClr val="CBD5E1"/>
                </a:solidFill>
              </a:rPr>
              <a:t>91,4 </a:t>
            </a:r>
            <a:r>
              <a:rPr lang="en-US" sz="1150" dirty="0">
                <a:solidFill>
                  <a:srgbClr val="CBD5E1"/>
                </a:solidFill>
              </a:rPr>
              <a:t>% de </a:t>
            </a:r>
            <a:r>
              <a:rPr lang="en-US" sz="1150">
                <a:solidFill>
                  <a:srgbClr val="CBD5E1"/>
                </a:solidFill>
              </a:rPr>
              <a:t>los </a:t>
            </a:r>
            <a:r>
              <a:rPr lang="en-US" sz="1150" smtClean="0">
                <a:solidFill>
                  <a:srgbClr val="CBD5E1"/>
                </a:solidFill>
              </a:rPr>
              <a:t>estudios</a:t>
            </a:r>
            <a:r>
              <a:rPr lang="en-US" sz="1150">
                <a:solidFill>
                  <a:srgbClr val="CBD5E1"/>
                </a:solidFill>
              </a:rPr>
              <a:t>.</a:t>
            </a:r>
            <a:r>
              <a:rPr lang="en-US" sz="1150" smtClean="0">
                <a:solidFill>
                  <a:srgbClr val="CBD5E1"/>
                </a:solidFill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Conclusión 5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93192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smtClean="0">
                <a:solidFill>
                  <a:srgbClr val="F8FAFC"/>
                </a:solidFill>
              </a:rPr>
              <a:t>Demográfico :</a:t>
            </a:r>
            <a:r>
              <a:rPr lang="en-US" sz="1150" smtClean="0">
                <a:solidFill>
                  <a:srgbClr val="CBD5E1"/>
                </a:solidFill>
              </a:rPr>
              <a:t> El  66,3 </a:t>
            </a:r>
            <a:r>
              <a:rPr lang="en-US" sz="1150">
                <a:solidFill>
                  <a:srgbClr val="CBD5E1"/>
                </a:solidFill>
              </a:rPr>
              <a:t>% de los pacientes </a:t>
            </a:r>
            <a:r>
              <a:rPr lang="en-US" sz="1150">
                <a:solidFill>
                  <a:srgbClr val="CBD5E1"/>
                </a:solidFill>
              </a:rPr>
              <a:t>son </a:t>
            </a:r>
            <a:r>
              <a:rPr lang="en-US" sz="1150" smtClean="0">
                <a:solidFill>
                  <a:srgbClr val="CBD5E1"/>
                </a:solidFill>
              </a:rPr>
              <a:t>hombre, 33,7 % son mujeres, la edad </a:t>
            </a:r>
            <a:r>
              <a:rPr lang="en-US" sz="1150">
                <a:solidFill>
                  <a:srgbClr val="CBD5E1"/>
                </a:solidFill>
              </a:rPr>
              <a:t>media 46,9 años</a:t>
            </a:r>
            <a:r>
              <a:rPr lang="en-US" sz="1150">
                <a:solidFill>
                  <a:srgbClr val="CBD5E1"/>
                </a:solidFill>
              </a:rPr>
              <a:t>,</a:t>
            </a:r>
            <a:r>
              <a:rPr lang="es-ES" sz="1200"/>
              <a:t> </a:t>
            </a:r>
            <a:r>
              <a:rPr lang="es-ES" sz="1200" smtClean="0">
                <a:solidFill>
                  <a:schemeClr val="bg1"/>
                </a:solidFill>
              </a:rPr>
              <a:t> </a:t>
            </a:r>
            <a:r>
              <a:rPr lang="es-ES" sz="1200">
                <a:solidFill>
                  <a:schemeClr val="bg1"/>
                </a:solidFill>
              </a:rPr>
              <a:t>el </a:t>
            </a:r>
            <a:r>
              <a:rPr lang="es-ES" sz="1200" b="1">
                <a:solidFill>
                  <a:schemeClr val="bg1"/>
                </a:solidFill>
              </a:rPr>
              <a:t>20.9%</a:t>
            </a:r>
            <a:r>
              <a:rPr lang="es-ES" sz="1200">
                <a:solidFill>
                  <a:schemeClr val="bg1"/>
                </a:solidFill>
              </a:rPr>
              <a:t> de los registros </a:t>
            </a:r>
            <a:r>
              <a:rPr lang="es-ES" sz="1200">
                <a:solidFill>
                  <a:schemeClr val="bg1"/>
                </a:solidFill>
              </a:rPr>
              <a:t>carece </a:t>
            </a:r>
            <a:r>
              <a:rPr lang="es-ES" sz="1200" smtClean="0">
                <a:solidFill>
                  <a:schemeClr val="bg1"/>
                </a:solidFill>
              </a:rPr>
              <a:t>de la </a:t>
            </a:r>
            <a:r>
              <a:rPr lang="es-ES" sz="1200">
                <a:solidFill>
                  <a:schemeClr val="bg1"/>
                </a:solidFill>
              </a:rPr>
              <a:t>edad del paciente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  <p:sp>
        <p:nvSpPr>
          <p:cNvPr id="19" name="Text 11"/>
          <p:cNvSpPr txBox="1"/>
          <p:nvPr/>
        </p:nvSpPr>
        <p:spPr>
          <a:xfrm>
            <a:off x="578635" y="39235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smtClean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9"/>
          <p:cNvSpPr>
            <a:spLocks noGrp="1"/>
          </p:cNvSpPr>
          <p:nvPr>
            <p:ph type="title" idx="109" hasCustomPrompt="1"/>
          </p:nvPr>
        </p:nvSpPr>
        <p:spPr>
          <a:xfrm>
            <a:off x="457200" y="3200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AFC"/>
                </a:solidFill>
              </a:rPr>
              <a:t>Recomendaciones</a:t>
            </a:r>
            <a:endParaRPr lang="en-US" sz="2400" dirty="0"/>
          </a:p>
        </p:txBody>
      </p:sp>
      <p:sp>
        <p:nvSpPr>
          <p:cNvPr id="18" name="Tarjeta 4"/>
          <p:cNvSpPr/>
          <p:nvPr/>
        </p:nvSpPr>
        <p:spPr>
          <a:xfrm>
            <a:off x="457200" y="1005840"/>
            <a:ext cx="8057786" cy="3474720"/>
          </a:xfrm>
          <a:prstGeom prst="rect">
            <a:avLst/>
          </a:prstGeom>
          <a:solidFill>
            <a:srgbClr val="111A22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C8BA1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  <p:sp>
        <p:nvSpPr>
          <p:cNvPr id="34" name="CuadroTexto 33"/>
          <p:cNvSpPr txBox="1"/>
          <p:nvPr/>
        </p:nvSpPr>
        <p:spPr>
          <a:xfrm>
            <a:off x="652312" y="1357038"/>
            <a:ext cx="765300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ES" sz="1200" b="1" dirty="0">
                <a:solidFill>
                  <a:schemeClr val="bg1"/>
                </a:solidFill>
              </a:rPr>
              <a:t>Revisar la información sin datos:</a:t>
            </a:r>
            <a:r>
              <a:rPr lang="es-ES" sz="1200" dirty="0">
                <a:solidFill>
                  <a:schemeClr val="bg1"/>
                </a:solidFill>
              </a:rPr>
              <a:t> Es imperativo revisar que se puede recuperar ese ~21% de la edad de registros faltantes, el bloque "SIN DATO". </a:t>
            </a:r>
            <a:endParaRPr lang="es-ES" sz="1200" dirty="0" smtClean="0">
              <a:solidFill>
                <a:schemeClr val="bg1"/>
              </a:solidFill>
            </a:endParaRPr>
          </a:p>
          <a:p>
            <a:pPr lvl="0"/>
            <a:endParaRPr lang="es-ES" sz="1200" dirty="0">
              <a:solidFill>
                <a:schemeClr val="bg1"/>
              </a:solidFill>
            </a:endParaRPr>
          </a:p>
          <a:p>
            <a:pPr lvl="0"/>
            <a:r>
              <a:rPr lang="es-ES" sz="1200" b="1" dirty="0">
                <a:solidFill>
                  <a:schemeClr val="bg1"/>
                </a:solidFill>
              </a:rPr>
              <a:t>Implementar una Estrategia de Modelos Escalonados (</a:t>
            </a:r>
            <a:r>
              <a:rPr lang="es-ES" sz="1200" b="1" dirty="0" err="1">
                <a:solidFill>
                  <a:schemeClr val="bg1"/>
                </a:solidFill>
              </a:rPr>
              <a:t>Cascading</a:t>
            </a:r>
            <a:r>
              <a:rPr lang="es-ES" sz="1200" b="1" dirty="0">
                <a:solidFill>
                  <a:schemeClr val="bg1"/>
                </a:solidFill>
              </a:rPr>
              <a:t> </a:t>
            </a:r>
            <a:r>
              <a:rPr lang="es-ES" sz="1200" b="1" dirty="0" err="1">
                <a:solidFill>
                  <a:schemeClr val="bg1"/>
                </a:solidFill>
              </a:rPr>
              <a:t>LLMs</a:t>
            </a:r>
            <a:r>
              <a:rPr lang="es-ES" sz="1200" b="1" dirty="0">
                <a:solidFill>
                  <a:schemeClr val="bg1"/>
                </a:solidFill>
              </a:rPr>
              <a:t>):</a:t>
            </a:r>
            <a:r>
              <a:rPr lang="es-ES" sz="1200" dirty="0">
                <a:solidFill>
                  <a:schemeClr val="bg1"/>
                </a:solidFill>
              </a:rPr>
              <a:t> Para el </a:t>
            </a:r>
            <a:r>
              <a:rPr lang="es-ES" sz="1200" dirty="0" err="1">
                <a:solidFill>
                  <a:schemeClr val="bg1"/>
                </a:solidFill>
              </a:rPr>
              <a:t>subbloque</a:t>
            </a:r>
            <a:r>
              <a:rPr lang="es-ES" sz="1200" dirty="0">
                <a:solidFill>
                  <a:schemeClr val="bg1"/>
                </a:solidFill>
              </a:rPr>
              <a:t> del </a:t>
            </a:r>
            <a:r>
              <a:rPr lang="es-ES" sz="1200" b="1" dirty="0">
                <a:solidFill>
                  <a:schemeClr val="bg1"/>
                </a:solidFill>
              </a:rPr>
              <a:t>4,4% (4.578 informes)</a:t>
            </a:r>
            <a:r>
              <a:rPr lang="es-ES" sz="1200" dirty="0">
                <a:solidFill>
                  <a:schemeClr val="bg1"/>
                </a:solidFill>
              </a:rPr>
              <a:t> marcado con problemas estructurales o JSON corrupto, se recomienda configurar un re-enrutamiento automático hacia el modelo </a:t>
            </a:r>
            <a:r>
              <a:rPr lang="es-ES" sz="1200" b="1" dirty="0">
                <a:solidFill>
                  <a:schemeClr val="bg1"/>
                </a:solidFill>
              </a:rPr>
              <a:t>Llama 3.1 (8B)</a:t>
            </a:r>
            <a:r>
              <a:rPr lang="es-ES" sz="1200" dirty="0">
                <a:solidFill>
                  <a:schemeClr val="bg1"/>
                </a:solidFill>
              </a:rPr>
              <a:t>. Al ser un volumen acotado de documentos, el hardware local del ordenador no se verá desbordado y se aprovechará la mayor capacidad del modelo de 8B para interpretar textos largos y seguir instrucciones complejas</a:t>
            </a:r>
            <a:r>
              <a:rPr lang="es-ES" sz="1200" dirty="0" smtClean="0">
                <a:solidFill>
                  <a:schemeClr val="bg1"/>
                </a:solidFill>
              </a:rPr>
              <a:t>.</a:t>
            </a:r>
          </a:p>
          <a:p>
            <a:pPr lvl="0"/>
            <a:endParaRPr lang="es-ES" sz="1200" dirty="0">
              <a:solidFill>
                <a:schemeClr val="bg1"/>
              </a:solidFill>
            </a:endParaRPr>
          </a:p>
          <a:p>
            <a:pPr lvl="0"/>
            <a:r>
              <a:rPr lang="es-ES" sz="1200" b="1">
                <a:solidFill>
                  <a:schemeClr val="bg1"/>
                </a:solidFill>
              </a:rPr>
              <a:t>Procesar </a:t>
            </a:r>
            <a:r>
              <a:rPr lang="es-ES" sz="1200" b="1" smtClean="0">
                <a:solidFill>
                  <a:schemeClr val="bg1"/>
                </a:solidFill>
              </a:rPr>
              <a:t>la </a:t>
            </a:r>
            <a:r>
              <a:rPr lang="es-ES" sz="1200" b="1" dirty="0">
                <a:solidFill>
                  <a:schemeClr val="bg1"/>
                </a:solidFill>
              </a:rPr>
              <a:t>Temporalidad y Validar en Origen</a:t>
            </a:r>
            <a:r>
              <a:rPr lang="es-ES" sz="1200" b="1">
                <a:solidFill>
                  <a:schemeClr val="bg1"/>
                </a:solidFill>
              </a:rPr>
              <a:t>:</a:t>
            </a:r>
            <a:r>
              <a:rPr lang="es-ES" sz="1200">
                <a:solidFill>
                  <a:schemeClr val="bg1"/>
                </a:solidFill>
              </a:rPr>
              <a:t> </a:t>
            </a:r>
            <a:r>
              <a:rPr lang="es-ES" sz="1200" smtClean="0">
                <a:solidFill>
                  <a:schemeClr val="bg1"/>
                </a:solidFill>
              </a:rPr>
              <a:t>Procesar los </a:t>
            </a:r>
            <a:r>
              <a:rPr lang="es-ES" sz="1200">
                <a:solidFill>
                  <a:schemeClr val="bg1"/>
                </a:solidFill>
              </a:rPr>
              <a:t>informes </a:t>
            </a:r>
            <a:r>
              <a:rPr lang="es-ES" sz="1200" smtClean="0">
                <a:solidFill>
                  <a:schemeClr val="bg1"/>
                </a:solidFill>
              </a:rPr>
              <a:t> </a:t>
            </a:r>
            <a:r>
              <a:rPr lang="es-ES" sz="1200">
                <a:solidFill>
                  <a:schemeClr val="bg1"/>
                </a:solidFill>
              </a:rPr>
              <a:t>siguiendo </a:t>
            </a:r>
            <a:r>
              <a:rPr lang="es-ES" sz="1200" smtClean="0">
                <a:solidFill>
                  <a:schemeClr val="bg1"/>
                </a:solidFill>
              </a:rPr>
              <a:t> </a:t>
            </a:r>
            <a:r>
              <a:rPr lang="es-ES" sz="1200" dirty="0">
                <a:solidFill>
                  <a:schemeClr val="bg1"/>
                </a:solidFill>
              </a:rPr>
              <a:t>fecha de creación y última actualización, cruzándolo con el </a:t>
            </a:r>
            <a:r>
              <a:rPr lang="es-ES" sz="1200" i="1" dirty="0">
                <a:solidFill>
                  <a:schemeClr val="bg1"/>
                </a:solidFill>
              </a:rPr>
              <a:t>Status</a:t>
            </a:r>
            <a:r>
              <a:rPr lang="es-ES" sz="1200" dirty="0">
                <a:solidFill>
                  <a:schemeClr val="bg1"/>
                </a:solidFill>
              </a:rPr>
              <a:t> administrativo (</a:t>
            </a:r>
            <a:r>
              <a:rPr lang="es-ES" sz="1200" dirty="0" err="1">
                <a:solidFill>
                  <a:schemeClr val="bg1"/>
                </a:solidFill>
              </a:rPr>
              <a:t>Draft</a:t>
            </a:r>
            <a:r>
              <a:rPr lang="es-ES" sz="1200" dirty="0">
                <a:solidFill>
                  <a:schemeClr val="bg1"/>
                </a:solidFill>
              </a:rPr>
              <a:t> vs. </a:t>
            </a:r>
            <a:r>
              <a:rPr lang="es-ES" sz="1200" dirty="0" err="1">
                <a:solidFill>
                  <a:schemeClr val="bg1"/>
                </a:solidFill>
              </a:rPr>
              <a:t>Completed</a:t>
            </a:r>
            <a:r>
              <a:rPr lang="es-ES" sz="1200" dirty="0">
                <a:solidFill>
                  <a:schemeClr val="bg1"/>
                </a:solidFill>
              </a:rPr>
              <a:t>). Asimismo, se sugiere implementar validaciones obligatorias en el </a:t>
            </a:r>
            <a:r>
              <a:rPr lang="es-ES" sz="1200">
                <a:solidFill>
                  <a:schemeClr val="bg1"/>
                </a:solidFill>
              </a:rPr>
              <a:t>software </a:t>
            </a:r>
            <a:r>
              <a:rPr lang="es-ES" sz="1200" smtClean="0">
                <a:solidFill>
                  <a:schemeClr val="bg1"/>
                </a:solidFill>
              </a:rPr>
              <a:t> </a:t>
            </a:r>
            <a:r>
              <a:rPr lang="es-ES" sz="1200" dirty="0">
                <a:solidFill>
                  <a:schemeClr val="bg1"/>
                </a:solidFill>
              </a:rPr>
              <a:t>para impedir la inserción de formatos de edad anómalos antes de </a:t>
            </a:r>
            <a:r>
              <a:rPr lang="es-ES" sz="1200">
                <a:solidFill>
                  <a:schemeClr val="bg1"/>
                </a:solidFill>
              </a:rPr>
              <a:t>su </a:t>
            </a:r>
            <a:r>
              <a:rPr lang="es-ES" sz="1200" smtClean="0">
                <a:solidFill>
                  <a:schemeClr val="bg1"/>
                </a:solidFill>
              </a:rPr>
              <a:t>almacenamiento.</a:t>
            </a:r>
            <a:endParaRPr lang="es-E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>
            <a:spLocks noGrp="1"/>
          </p:cNvSpPr>
          <p:nvPr>
            <p:ph type="title" idx="108" hasCustomPrompt="1"/>
          </p:nvPr>
        </p:nvSpPr>
        <p:spPr>
          <a:xfrm>
            <a:off x="1236335" y="2171700"/>
            <a:ext cx="30613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4140"/>
              </a:lnSpc>
            </a:pPr>
            <a:r>
              <a:rPr lang="es-ES" sz="5400" smtClean="0">
                <a:solidFill>
                  <a:schemeClr val="accent1"/>
                </a:solidFill>
                <a:latin typeface="Plus Jakarta Sans"/>
              </a:rPr>
              <a:t>Gracias</a:t>
            </a:r>
            <a:endParaRPr lang="es-ES" sz="5400" dirty="0">
              <a:solidFill>
                <a:schemeClr val="accent1"/>
              </a:solidFill>
              <a:latin typeface="Plus Jakarta Sans"/>
            </a:endParaRPr>
          </a:p>
        </p:txBody>
      </p:sp>
      <p:sp>
        <p:nvSpPr>
          <p:cNvPr id="4" name="Campo de visión"/>
          <p:cNvSpPr/>
          <p:nvPr/>
        </p:nvSpPr>
        <p:spPr>
          <a:xfrm>
            <a:off x="5257800" y="731520"/>
            <a:ext cx="3657600" cy="3657600"/>
          </a:xfrm>
          <a:prstGeom prst="ellipse">
            <a:avLst/>
          </a:prstGeom>
          <a:solidFill>
            <a:srgbClr val="151E27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5" name="Torso"/>
          <p:cNvSpPr/>
          <p:nvPr/>
        </p:nvSpPr>
        <p:spPr>
          <a:xfrm>
            <a:off x="5623560" y="1417320"/>
            <a:ext cx="2926080" cy="2286000"/>
          </a:xfrm>
          <a:prstGeom prst="ellipse">
            <a:avLst/>
          </a:prstGeom>
          <a:solidFill>
            <a:srgbClr val="3B4654"/>
          </a:solidFill>
          <a:ln w="12700">
            <a:solidFill>
              <a:srgbClr val="3B4654"/>
            </a:solidFill>
            <a:prstDash val="solid"/>
          </a:ln>
        </p:spPr>
      </p:sp>
      <p:sp>
        <p:nvSpPr>
          <p:cNvPr id="6" name="Pulmón izquierdo"/>
          <p:cNvSpPr/>
          <p:nvPr/>
        </p:nvSpPr>
        <p:spPr>
          <a:xfrm>
            <a:off x="5943600" y="1691640"/>
            <a:ext cx="1051560" cy="1463040"/>
          </a:xfrm>
          <a:prstGeom prst="ellipse">
            <a:avLst/>
          </a:prstGeom>
          <a:solidFill>
            <a:srgbClr val="0B1218"/>
          </a:solidFill>
          <a:ln w="12700">
            <a:solidFill>
              <a:srgbClr val="0B1218"/>
            </a:solidFill>
            <a:prstDash val="solid"/>
          </a:ln>
        </p:spPr>
      </p:sp>
      <p:sp>
        <p:nvSpPr>
          <p:cNvPr id="7" name="Pulmón derecho"/>
          <p:cNvSpPr/>
          <p:nvPr/>
        </p:nvSpPr>
        <p:spPr>
          <a:xfrm>
            <a:off x="7178040" y="1691640"/>
            <a:ext cx="1051560" cy="1463040"/>
          </a:xfrm>
          <a:prstGeom prst="ellipse">
            <a:avLst/>
          </a:prstGeom>
          <a:solidFill>
            <a:srgbClr val="0B1218"/>
          </a:solidFill>
          <a:ln w="12700">
            <a:solidFill>
              <a:srgbClr val="0B1218"/>
            </a:solidFill>
            <a:prstDash val="solid"/>
          </a:ln>
        </p:spPr>
      </p:sp>
      <p:sp>
        <p:nvSpPr>
          <p:cNvPr id="8" name="Corazón"/>
          <p:cNvSpPr/>
          <p:nvPr/>
        </p:nvSpPr>
        <p:spPr>
          <a:xfrm>
            <a:off x="6675120" y="2240280"/>
            <a:ext cx="822960" cy="777240"/>
          </a:xfrm>
          <a:prstGeom prst="ellipse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9" name="Columna"/>
          <p:cNvSpPr/>
          <p:nvPr/>
        </p:nvSpPr>
        <p:spPr>
          <a:xfrm>
            <a:off x="6903720" y="3246120"/>
            <a:ext cx="365760" cy="36576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Cruz horizontal"/>
          <p:cNvSpPr/>
          <p:nvPr/>
        </p:nvSpPr>
        <p:spPr>
          <a:xfrm>
            <a:off x="5257800" y="2560320"/>
            <a:ext cx="3657600" cy="0"/>
          </a:xfrm>
          <a:prstGeom prst="line">
            <a:avLst/>
          </a:prstGeom>
          <a:noFill/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1" name="Cruz vertical"/>
          <p:cNvSpPr/>
          <p:nvPr/>
        </p:nvSpPr>
        <p:spPr>
          <a:xfrm>
            <a:off x="7086600" y="731520"/>
            <a:ext cx="0" cy="3657600"/>
          </a:xfrm>
          <a:prstGeom prst="line">
            <a:avLst/>
          </a:prstGeom>
          <a:noFill/>
          <a:ln w="12700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2" name="Regla 0"/>
          <p:cNvSpPr/>
          <p:nvPr/>
        </p:nvSpPr>
        <p:spPr>
          <a:xfrm>
            <a:off x="8732520" y="6858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3" name="Regla 1"/>
          <p:cNvSpPr/>
          <p:nvPr/>
        </p:nvSpPr>
        <p:spPr>
          <a:xfrm>
            <a:off x="8732520" y="1143000"/>
            <a:ext cx="9144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4" name="Regla 2"/>
          <p:cNvSpPr/>
          <p:nvPr/>
        </p:nvSpPr>
        <p:spPr>
          <a:xfrm>
            <a:off x="8732520" y="16002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5" name="Regla 3"/>
          <p:cNvSpPr/>
          <p:nvPr/>
        </p:nvSpPr>
        <p:spPr>
          <a:xfrm>
            <a:off x="8732520" y="2057400"/>
            <a:ext cx="9144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6" name="Regla 4"/>
          <p:cNvSpPr/>
          <p:nvPr/>
        </p:nvSpPr>
        <p:spPr>
          <a:xfrm>
            <a:off x="8732520" y="25146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7" name="Regla 5"/>
          <p:cNvSpPr/>
          <p:nvPr/>
        </p:nvSpPr>
        <p:spPr>
          <a:xfrm>
            <a:off x="8732520" y="2971800"/>
            <a:ext cx="9144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8" name="Regla 6"/>
          <p:cNvSpPr/>
          <p:nvPr/>
        </p:nvSpPr>
        <p:spPr>
          <a:xfrm>
            <a:off x="8732520" y="34290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19" name="Regla 7"/>
          <p:cNvSpPr/>
          <p:nvPr/>
        </p:nvSpPr>
        <p:spPr>
          <a:xfrm>
            <a:off x="8732520" y="3886200"/>
            <a:ext cx="9144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20" name="Regla 8"/>
          <p:cNvSpPr/>
          <p:nvPr/>
        </p:nvSpPr>
        <p:spPr>
          <a:xfrm>
            <a:off x="8732520" y="4343400"/>
            <a:ext cx="182880" cy="0"/>
          </a:xfrm>
          <a:prstGeom prst="line">
            <a:avLst/>
          </a:prstGeom>
          <a:noFill/>
          <a:ln w="12700">
            <a:solidFill>
              <a:srgbClr val="7C8BA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0" y="365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 · CT · US · RX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526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W: 400   L: 40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2255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sor radiológico">
  <a:themeElements>
    <a:clrScheme name="Visor radiológico">
      <a:dk1>
        <a:srgbClr val="0A0F14"/>
      </a:dk1>
      <a:lt1>
        <a:srgbClr val="F8FAFC"/>
      </a:lt1>
      <a:dk2>
        <a:srgbClr val="111A22"/>
      </a:dk2>
      <a:lt2>
        <a:srgbClr val="E2E8F0"/>
      </a:lt2>
      <a:accent1>
        <a:srgbClr val="22D3EE"/>
      </a:accent1>
      <a:accent2>
        <a:srgbClr val="F59E0B"/>
      </a:accent2>
      <a:accent3>
        <a:srgbClr val="EF4444"/>
      </a:accent3>
      <a:accent4>
        <a:srgbClr val="818CF8"/>
      </a:accent4>
      <a:accent5>
        <a:srgbClr val="34D399"/>
      </a:accent5>
      <a:accent6>
        <a:srgbClr val="94A3B8"/>
      </a:accent6>
      <a:hlink>
        <a:srgbClr val="22D3EE"/>
      </a:hlink>
      <a:folHlink>
        <a:srgbClr val="94A3B8"/>
      </a:folHlink>
    </a:clrScheme>
    <a:fontScheme name="Visor radiológic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11262</TotalTime>
  <Words>2221</Words>
  <Application>Microsoft Office PowerPoint</Application>
  <PresentationFormat>Presentación en pantalla (16:9)</PresentationFormat>
  <Paragraphs>246</Paragraphs>
  <Slides>47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5" baseType="lpstr">
      <vt:lpstr>Arial</vt:lpstr>
      <vt:lpstr>Arial Unicode MS</vt:lpstr>
      <vt:lpstr>Calibri</vt:lpstr>
      <vt:lpstr>Consolas</vt:lpstr>
      <vt:lpstr>Courier New</vt:lpstr>
      <vt:lpstr>Plus Jakarta Sans</vt:lpstr>
      <vt:lpstr>Times New Roman</vt:lpstr>
      <vt:lpstr>Visor radiológico</vt:lpstr>
      <vt:lpstr>“Los datos son el nuevo petróleo.”</vt:lpstr>
      <vt:lpstr>Procesamiento Local de Informes Médicos con Llama 3.2 3B</vt:lpstr>
      <vt:lpstr>Introducción: el problema y el objetivo</vt:lpstr>
      <vt:lpstr>Fragmento de tabla original de la BD de Dicomline</vt:lpstr>
      <vt:lpstr>&lt;figure class="table" style="width:100%;"&gt;&lt;table&gt;&lt;tbody&gt;&lt;tr&gt;&lt;td&gt;&lt;strong&gt;Nombre:&lt;/strong&gt; CRISOSTOMO PENA NELFI&lt;/td&gt;&lt;td&gt;&lt;strong&gt;Sexo:&lt;/strong&gt; M&lt;/td&gt;&lt;/tr&gt;&lt;tr&gt;&lt;td&gt;&lt;strong&gt;Médico Referidor:&lt;/strong&gt; Test Ref&lt;/td&gt;&lt;td&gt;&lt;strong&gt;Edad:&lt;/strong&gt; -&lt;/td&gt;&lt;/tr&gt;&lt;tr&gt;&lt;td&gt;&lt;strong&gt;Fecha Estudio:&lt;/strong&gt; 2025-06-18&lt;/td&gt;&lt;td&gt;&lt;strong&gt;Modalidad:&lt;/strong&gt; DX&lt;/td&gt;&lt;/tr&gt;&lt;tr&gt;&lt;td&gt;&lt;strong&gt;ID Estudio:&lt;/strong&gt; -&lt;/td&gt;&lt;td&gt;&lt;strong&gt;Autorización:&lt;/strong&gt;&lt;/td&gt;&lt;/tr&gt;&lt;tr&gt;&lt;td&gt;&lt;strong&gt;ID Paciente:&lt;/strong&gt; NELFI CRISOSTOMO PENA&lt;/td&gt;&lt;td&gt;&lt;strong&gt;Póliza:&lt;/strong&gt;&lt;/td&gt;&lt;/tr&gt;&lt;tr&gt;&lt;td&gt;&lt;strong&gt;Seguro:&lt;/strong&gt;&lt;/td&gt;&lt;td&gt;&amp;nbsp;&lt;/td&gt;&lt;/tr&gt;&lt;/tbody&gt;&lt;/table&gt;&lt;/figure&gt;&lt;p&gt;&lt;br&gt;&amp;nbsp;&lt;/p&gt;&lt;p&gt;&lt;strong&gt;Descripción:&lt;/strong&gt; PRE&lt;/p&gt;&lt;p&gt;&amp;nbsp;&lt;/p&gt;&lt;p&gt;&lt;strong&gt;ESTUDIO: COLUMNA CERVICAL EN AP Y LATERAL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amp;nbsp;&lt;/strong&gt;&lt;/p&gt;&lt;p&gt;&lt;strong&gt;RESULTADOS:&lt;/strong&gt;&lt;/p&gt;&lt;p&gt;·&amp;nbsp;&amp;nbsp;&amp;nbsp;&amp;nbsp;&amp;nbsp;&amp;nbsp;&amp;nbsp;&amp;nbsp; Lordosis de la columna cervical luce rectificada.&lt;/p&gt;&lt;p&gt;·&amp;nbsp;&amp;nbsp;&amp;nbsp;&amp;nbsp;&amp;nbsp;&amp;nbsp;&amp;nbsp;&amp;nbsp; Las vertebras cervicales son normales en forma, numero y tamaño.&lt;/p&gt;&lt;p&gt;·&amp;nbsp;&amp;nbsp;&amp;nbsp;&amp;nbsp;&amp;nbsp;&amp;nbsp;&amp;nbsp;&amp;nbsp; La línea grasa prevertebral y los espacios retrofaringeo y retrotraqueal están dentro de la normalidad.&lt;/p&gt;&lt;p&gt;·&amp;nbsp;&amp;nbsp;&amp;nbsp;&amp;nbsp;&amp;nbsp;&amp;nbsp;&amp;nbsp;&amp;nbsp; Imagen de la traquea y de las partes blandas sin alteraciones.&lt;/p&gt;&lt;p&gt;&lt;strong&gt;IMPRESIÓN DIAGNÓSTICA:&lt;/strong&gt;&lt;/p&gt;&lt;p&gt;&lt;strong&gt;DATOS DE ESPASMO DE LA MUSCULATURA PARAVERTEBRAL CERVICAL.&lt;/strong&gt;&lt;/p&gt;&lt;p&gt;&amp;nbsp;&lt;/p&gt;&lt;p&gt;&amp;nbsp;&lt;/p&gt;&lt;p style="text-align:justify;"&gt;&lt;strong&gt;&lt;u&gt;RX COLUMNA DORSAL AP Y LATERAL&lt;/u&gt;&lt;/strong&gt;&lt;/p&gt;&lt;p style="text-align:justify;"&gt;&lt;strong&gt;&lt;u&gt;RESULTADOS:&lt;/u&gt;&lt;/strong&gt;&lt;/p&gt;&lt;p style="text-align:justify;"&gt;Se observa desviación del eje longitudinal de la columna dorsal, manteniendo la alineación de las apófisis espinosas.&lt;/p&gt;&lt;p style="text-align:justify;"&gt;Los cuerpos y espacios intervertebrales lucen conservados.&amp;nbsp;&lt;/p&gt;&lt;p style="text-align:justify;"&gt;No hay evidencias de líneas de discontinuidad ósea.&amp;nbsp;&lt;/p&gt;&lt;p style="text-align:justify;"&gt;No hay lesiones líticas o blásticas. &amp;nbsp;&lt;/p&gt;&lt;p style="text-align:justify;"&gt;No hay alteraciones de los tejidos blandos paravertebrales.&lt;/p&gt;&lt;p style="text-align:justify;"&gt;&lt;strong&gt;&lt;u&gt;CONCLUSION:&lt;/u&gt;&lt;/strong&gt;&lt;/p&gt;&lt;p style="text-align:justify;"&gt;&lt;strong&gt;ACTITUD ESCOLIÓTICA DORSAL COMO FUE DESCRITA.&lt;/strong&gt;&lt;/p&gt;&lt;p style="text-align:justify;"&gt;&amp;nbsp;&lt;/p&gt;&lt;p style="text-align:justify;"&gt;&amp;nbsp;&lt;/p&gt;&lt;p style="text-align:justify;"&gt;&lt;strong&gt;&lt;u&gt;RX COLUMNA LUMBAR AP Y LATERAL&lt;/u&gt;&lt;/strong&gt;&lt;/p&gt;&lt;p style="text-align:justify;"&gt;&lt;strong&gt;&lt;u&gt;RESULTADOS:&lt;/u&gt;&lt;/strong&gt;&lt;/p&gt;&lt;p style="text-align:justify;"&gt;Existe actitud escoliotica lumbar consistente con desviación sutil de la lordosis a la izquierda, manteniendo la alineación de las apófisis espinosas.&lt;/p&gt;&lt;p style="text-align:justify;"&gt;Se distingue rectificación de la lordosis lumbar.&lt;/p&gt;&lt;p style="text-align:justify;"&gt;No hay alteraciones de los cuerpos vertebrales.&lt;/p&gt;&lt;p style="text-align:justify;"&gt;Espacios intervertebrales conservados.&amp;nbsp;&lt;/p&gt;&lt;p style="text-align:justify;"&gt;No se observan fracturas, ni lesiones líticas o blásticas.&lt;/p&gt;&lt;p style="text-align:justify;"&gt;&lt;strong&gt;&lt;u&gt;CONCLUSION:&lt;/u&gt;&lt;/strong&gt;&lt;/p&gt;&lt;p style="text-align:justify;"&gt;¯&amp;nbsp; &lt;strong&gt;ACTITUD ESCOLIOTICA LUMBAR.&lt;/strong&gt;&lt;/p&gt;&lt;p style="text-align:justify;"&gt;¯&amp;nbsp; &lt;strong&gt;DATOS DE ESPASMO DE LA MUSCULATURA PARAVERTEBRAL LUMBAR.&lt;/strong&gt;&lt;/p&gt;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temperature: 0.0 (Creatividad Cero)   num_ctx: (Ventana de Contexto):       Prompt (~180 tokens) + el Texto Médico (~320 tokens) = Total de Entrada ( ~500 tokens).    num_predict: 512 (Límite de Salida) </vt:lpstr>
      <vt:lpstr>Presentación de PowerPoint</vt:lpstr>
      <vt:lpstr>Estado global de la base de datos</vt:lpstr>
      <vt:lpstr>Estado y avance del procesamiento</vt:lpstr>
      <vt:lpstr>Estado y avance del procesamiento</vt:lpstr>
      <vt:lpstr>Informe por Status</vt:lpstr>
      <vt:lpstr>Fallos  por tamaño del HTML(4.578 informes)</vt:lpstr>
      <vt:lpstr>Completitud de campos </vt:lpstr>
      <vt:lpstr>Cruce Status × Modalidad</vt:lpstr>
      <vt:lpstr>Demografía</vt:lpstr>
      <vt:lpstr>Perfil demográfico: sexo </vt:lpstr>
      <vt:lpstr>Perfil demográfico:  edad ( edad media 46.9 del 79.1 % )</vt:lpstr>
      <vt:lpstr>Distribución de la edad por sexo</vt:lpstr>
      <vt:lpstr>Edad media por modalidad</vt:lpstr>
      <vt:lpstr>Clínica</vt:lpstr>
      <vt:lpstr>Perfil clínico: volumen (respecto a los procesados ) </vt:lpstr>
      <vt:lpstr>Perfil clínico:  modalidades</vt:lpstr>
      <vt:lpstr>Perfil clínico: estudios por informe</vt:lpstr>
      <vt:lpstr>Concentración de los estudios (Pareto)</vt:lpstr>
      <vt:lpstr>Hallazgos más frecuentes</vt:lpstr>
      <vt:lpstr>Conclusiones más frecuentes</vt:lpstr>
      <vt:lpstr>Clasificación clínica por palabras clave(heurística)</vt:lpstr>
      <vt:lpstr>Clasificación clínica por palabras clave</vt:lpstr>
      <vt:lpstr>Desglose de clasificacion  según grupos de edad</vt:lpstr>
      <vt:lpstr>Relación entre estudio y grupos de edad</vt:lpstr>
      <vt:lpstr>Estudios que se solicitan juntos</vt:lpstr>
      <vt:lpstr>Análisis Inferencial</vt:lpstr>
      <vt:lpstr>Inferencia: asociación entre estudio y grupo de edad</vt:lpstr>
      <vt:lpstr>Inferencia: asociación entre estudio y grupo de edad</vt:lpstr>
      <vt:lpstr>Tasa de RELEVANTES segmentado por grupo de edad.</vt:lpstr>
      <vt:lpstr>Tasa de RELEVANTES segmentado por grupo de edad.</vt:lpstr>
      <vt:lpstr>Tasa de RELEVANTES sepmentado por grupo de edad.</vt:lpstr>
      <vt:lpstr>Conclusiones</vt:lpstr>
      <vt:lpstr>Recomendaciones</vt:lpstr>
      <vt:lpstr>Gracias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osley sorio</cp:lastModifiedBy>
  <cp:revision>118</cp:revision>
  <dcterms:created xsi:type="dcterms:W3CDTF">2026-10-06T20:42:37Z</dcterms:created>
  <dcterms:modified xsi:type="dcterms:W3CDTF">2026-10-15T09:37:07Z</dcterms:modified>
</cp:coreProperties>
</file>